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73" r:id="rId4"/>
    <p:sldId id="274" r:id="rId5"/>
    <p:sldId id="272" r:id="rId6"/>
    <p:sldId id="275" r:id="rId7"/>
    <p:sldId id="276" r:id="rId8"/>
    <p:sldId id="277" r:id="rId9"/>
    <p:sldId id="278" r:id="rId10"/>
    <p:sldId id="279" r:id="rId11"/>
    <p:sldId id="280" r:id="rId12"/>
    <p:sldId id="284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04" autoAdjust="0"/>
  </p:normalViewPr>
  <p:slideViewPr>
    <p:cSldViewPr snapToGrid="0">
      <p:cViewPr varScale="1">
        <p:scale>
          <a:sx n="101" d="100"/>
          <a:sy n="101" d="100"/>
        </p:scale>
        <p:origin x="4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876094-1879-4412-B559-EACB8823C509}" type="doc">
      <dgm:prSet loTypeId="urn:microsoft.com/office/officeart/2018/2/layout/IconLabel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C2A6BD-BF53-4DAA-8481-99B760FA12E8}">
      <dgm:prSet custT="1"/>
      <dgm:spPr/>
      <dgm:t>
        <a:bodyPr/>
        <a:lstStyle/>
        <a:p>
          <a:r>
            <a:rPr lang="ru-RU" sz="2400" dirty="0"/>
            <a:t>Датчик случайного объекта – это алгоритм (компонент ПО), который может воспроизводить реализации соответствующего случайного объекта</a:t>
          </a:r>
          <a:endParaRPr lang="en-US" sz="2400" dirty="0"/>
        </a:p>
      </dgm:t>
    </dgm:pt>
    <dgm:pt modelId="{A2BB85B4-139A-468D-9601-077A581AA358}" type="parTrans" cxnId="{354995F2-1D1A-40E3-B7D7-DC7EC7A7C262}">
      <dgm:prSet/>
      <dgm:spPr/>
      <dgm:t>
        <a:bodyPr/>
        <a:lstStyle/>
        <a:p>
          <a:endParaRPr lang="en-US"/>
        </a:p>
      </dgm:t>
    </dgm:pt>
    <dgm:pt modelId="{FC0829D7-F06E-482B-AAC1-9DFF7A8E80CD}" type="sibTrans" cxnId="{354995F2-1D1A-40E3-B7D7-DC7EC7A7C262}">
      <dgm:prSet/>
      <dgm:spPr/>
      <dgm:t>
        <a:bodyPr/>
        <a:lstStyle/>
        <a:p>
          <a:endParaRPr lang="en-US"/>
        </a:p>
      </dgm:t>
    </dgm:pt>
    <dgm:pt modelId="{D1359E59-4E62-42D6-85A3-298117EC329A}">
      <dgm:prSet custT="1"/>
      <dgm:spPr/>
      <dgm:t>
        <a:bodyPr/>
        <a:lstStyle/>
        <a:p>
          <a:r>
            <a:rPr lang="ru-RU" sz="2400" dirty="0"/>
            <a:t>Большинство датчиков случайных объектов используют базовый датчик</a:t>
          </a:r>
          <a:endParaRPr lang="en-US" sz="2400" dirty="0">
            <a:solidFill>
              <a:schemeClr val="bg1">
                <a:lumMod val="50000"/>
              </a:schemeClr>
            </a:solidFill>
          </a:endParaRPr>
        </a:p>
      </dgm:t>
    </dgm:pt>
    <dgm:pt modelId="{049188EC-4752-478A-BF6E-538FC2EBC331}" type="parTrans" cxnId="{45DEBB5D-CF4E-40CF-8F63-15B9A4673920}">
      <dgm:prSet/>
      <dgm:spPr/>
      <dgm:t>
        <a:bodyPr/>
        <a:lstStyle/>
        <a:p>
          <a:endParaRPr lang="en-US"/>
        </a:p>
      </dgm:t>
    </dgm:pt>
    <dgm:pt modelId="{F8AE9EAB-229F-47B6-98D6-E76B01852129}" type="sibTrans" cxnId="{45DEBB5D-CF4E-40CF-8F63-15B9A4673920}">
      <dgm:prSet/>
      <dgm:spPr/>
      <dgm:t>
        <a:bodyPr/>
        <a:lstStyle/>
        <a:p>
          <a:endParaRPr lang="en-US"/>
        </a:p>
      </dgm:t>
    </dgm:pt>
    <dgm:pt modelId="{EF1E1FCD-D5C5-42A9-8791-A11966E2DB30}" type="pres">
      <dgm:prSet presAssocID="{A6876094-1879-4412-B559-EACB8823C509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5876DC0-7359-4080-ACAC-60DBA84E5D54}" type="pres">
      <dgm:prSet presAssocID="{0FC2A6BD-BF53-4DAA-8481-99B760FA12E8}" presName="compNode" presStyleCnt="0"/>
      <dgm:spPr/>
    </dgm:pt>
    <dgm:pt modelId="{157E3AD7-4AF0-43BB-A893-3945A12D81AC}" type="pres">
      <dgm:prSet presAssocID="{0FC2A6BD-BF53-4DAA-8481-99B760FA12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8C6E998-B602-421F-AF05-1C7098D09832}" type="pres">
      <dgm:prSet presAssocID="{0FC2A6BD-BF53-4DAA-8481-99B760FA12E8}" presName="spaceRect" presStyleCnt="0"/>
      <dgm:spPr/>
    </dgm:pt>
    <dgm:pt modelId="{972C9FEC-65CF-4143-87F5-C753D7940CA7}" type="pres">
      <dgm:prSet presAssocID="{0FC2A6BD-BF53-4DAA-8481-99B760FA12E8}" presName="textRect" presStyleLbl="revTx" presStyleIdx="0" presStyleCnt="2" custScaleX="195641" custScaleY="161000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  <dgm:pt modelId="{495568DE-B626-4A08-AE70-0F65F5F8C157}" type="pres">
      <dgm:prSet presAssocID="{FC0829D7-F06E-482B-AAC1-9DFF7A8E80CD}" presName="sibTrans" presStyleCnt="0"/>
      <dgm:spPr/>
    </dgm:pt>
    <dgm:pt modelId="{EE72968C-0D25-45F9-BA3D-62EAC5948F61}" type="pres">
      <dgm:prSet presAssocID="{D1359E59-4E62-42D6-85A3-298117EC329A}" presName="compNode" presStyleCnt="0"/>
      <dgm:spPr/>
    </dgm:pt>
    <dgm:pt modelId="{C520CB5C-588F-4B82-BE4A-4C35F9DF0B05}" type="pres">
      <dgm:prSet presAssocID="{D1359E59-4E62-42D6-85A3-298117EC329A}" presName="iconRect" presStyleLbl="node1" presStyleIdx="1" presStyleCnt="2" custLinFactNeighborY="-1584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345A239-9451-4B51-9A58-25E4B43D0F4F}" type="pres">
      <dgm:prSet presAssocID="{D1359E59-4E62-42D6-85A3-298117EC329A}" presName="spaceRect" presStyleCnt="0"/>
      <dgm:spPr/>
    </dgm:pt>
    <dgm:pt modelId="{718CBCD9-1BAD-43F5-90ED-45ADDA86FD2E}" type="pres">
      <dgm:prSet presAssocID="{D1359E59-4E62-42D6-85A3-298117EC329A}" presName="textRect" presStyleLbl="revTx" presStyleIdx="1" presStyleCnt="2" custLinFactNeighborY="-18762">
        <dgm:presLayoutVars>
          <dgm:chMax val="1"/>
          <dgm:chPref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0A73E32-105C-492F-9621-F5C5D730AAB5}" type="presOf" srcId="{0FC2A6BD-BF53-4DAA-8481-99B760FA12E8}" destId="{972C9FEC-65CF-4143-87F5-C753D7940CA7}" srcOrd="0" destOrd="0" presId="urn:microsoft.com/office/officeart/2018/2/layout/IconLabelList"/>
    <dgm:cxn modelId="{354995F2-1D1A-40E3-B7D7-DC7EC7A7C262}" srcId="{A6876094-1879-4412-B559-EACB8823C509}" destId="{0FC2A6BD-BF53-4DAA-8481-99B760FA12E8}" srcOrd="0" destOrd="0" parTransId="{A2BB85B4-139A-468D-9601-077A581AA358}" sibTransId="{FC0829D7-F06E-482B-AAC1-9DFF7A8E80CD}"/>
    <dgm:cxn modelId="{7C32893F-6BE9-421A-AB64-B8AF5CF9A0AA}" type="presOf" srcId="{D1359E59-4E62-42D6-85A3-298117EC329A}" destId="{718CBCD9-1BAD-43F5-90ED-45ADDA86FD2E}" srcOrd="0" destOrd="0" presId="urn:microsoft.com/office/officeart/2018/2/layout/IconLabelList"/>
    <dgm:cxn modelId="{B2C2F7BD-D89D-4B64-92DA-D735DED62B31}" type="presOf" srcId="{A6876094-1879-4412-B559-EACB8823C509}" destId="{EF1E1FCD-D5C5-42A9-8791-A11966E2DB30}" srcOrd="0" destOrd="0" presId="urn:microsoft.com/office/officeart/2018/2/layout/IconLabelList"/>
    <dgm:cxn modelId="{45DEBB5D-CF4E-40CF-8F63-15B9A4673920}" srcId="{A6876094-1879-4412-B559-EACB8823C509}" destId="{D1359E59-4E62-42D6-85A3-298117EC329A}" srcOrd="1" destOrd="0" parTransId="{049188EC-4752-478A-BF6E-538FC2EBC331}" sibTransId="{F8AE9EAB-229F-47B6-98D6-E76B01852129}"/>
    <dgm:cxn modelId="{C9A4BB09-C3BB-4C5B-86A3-739A16CE1A75}" type="presParOf" srcId="{EF1E1FCD-D5C5-42A9-8791-A11966E2DB30}" destId="{A5876DC0-7359-4080-ACAC-60DBA84E5D54}" srcOrd="0" destOrd="0" presId="urn:microsoft.com/office/officeart/2018/2/layout/IconLabelList"/>
    <dgm:cxn modelId="{3ED3CE31-9432-4166-9A38-0563A4048B90}" type="presParOf" srcId="{A5876DC0-7359-4080-ACAC-60DBA84E5D54}" destId="{157E3AD7-4AF0-43BB-A893-3945A12D81AC}" srcOrd="0" destOrd="0" presId="urn:microsoft.com/office/officeart/2018/2/layout/IconLabelList"/>
    <dgm:cxn modelId="{3872B4FA-A2B2-45AA-B474-E5337FACCC25}" type="presParOf" srcId="{A5876DC0-7359-4080-ACAC-60DBA84E5D54}" destId="{98C6E998-B602-421F-AF05-1C7098D09832}" srcOrd="1" destOrd="0" presId="urn:microsoft.com/office/officeart/2018/2/layout/IconLabelList"/>
    <dgm:cxn modelId="{21D9229D-2CA1-47C8-AB32-F142BEDE802B}" type="presParOf" srcId="{A5876DC0-7359-4080-ACAC-60DBA84E5D54}" destId="{972C9FEC-65CF-4143-87F5-C753D7940CA7}" srcOrd="2" destOrd="0" presId="urn:microsoft.com/office/officeart/2018/2/layout/IconLabelList"/>
    <dgm:cxn modelId="{4EF89E78-5B76-47FA-845D-ED83FEA1F356}" type="presParOf" srcId="{EF1E1FCD-D5C5-42A9-8791-A11966E2DB30}" destId="{495568DE-B626-4A08-AE70-0F65F5F8C157}" srcOrd="1" destOrd="0" presId="urn:microsoft.com/office/officeart/2018/2/layout/IconLabelList"/>
    <dgm:cxn modelId="{72529722-D417-40E8-8846-D4049684D622}" type="presParOf" srcId="{EF1E1FCD-D5C5-42A9-8791-A11966E2DB30}" destId="{EE72968C-0D25-45F9-BA3D-62EAC5948F61}" srcOrd="2" destOrd="0" presId="urn:microsoft.com/office/officeart/2018/2/layout/IconLabelList"/>
    <dgm:cxn modelId="{37B4A560-4B05-4779-A7E7-7930F9F7E46B}" type="presParOf" srcId="{EE72968C-0D25-45F9-BA3D-62EAC5948F61}" destId="{C520CB5C-588F-4B82-BE4A-4C35F9DF0B05}" srcOrd="0" destOrd="0" presId="urn:microsoft.com/office/officeart/2018/2/layout/IconLabelList"/>
    <dgm:cxn modelId="{AF2F96F8-832D-493F-9DF7-4A3E84E9C59B}" type="presParOf" srcId="{EE72968C-0D25-45F9-BA3D-62EAC5948F61}" destId="{9345A239-9451-4B51-9A58-25E4B43D0F4F}" srcOrd="1" destOrd="0" presId="urn:microsoft.com/office/officeart/2018/2/layout/IconLabelList"/>
    <dgm:cxn modelId="{43C7CAE1-8B83-49F5-9D58-9A1AC90C7EF8}" type="presParOf" srcId="{EE72968C-0D25-45F9-BA3D-62EAC5948F61}" destId="{718CBCD9-1BAD-43F5-90ED-45ADDA86FD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E3AD7-4AF0-43BB-A893-3945A12D81AC}">
      <dsp:nvSpPr>
        <dsp:cNvPr id="0" name=""/>
        <dsp:cNvSpPr/>
      </dsp:nvSpPr>
      <dsp:spPr>
        <a:xfrm>
          <a:off x="2750463" y="200270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2C9FEC-65CF-4143-87F5-C753D7940CA7}">
      <dsp:nvSpPr>
        <dsp:cNvPr id="0" name=""/>
        <dsp:cNvSpPr/>
      </dsp:nvSpPr>
      <dsp:spPr>
        <a:xfrm>
          <a:off x="30451" y="1922627"/>
          <a:ext cx="7065085" cy="2318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/>
            <a:t>Датчик случайного объекта – это алгоритм (компонент ПО), который может воспроизводить реализации соответствующего случайного объекта</a:t>
          </a:r>
          <a:endParaRPr lang="en-US" sz="2400" kern="1200" dirty="0"/>
        </a:p>
      </dsp:txBody>
      <dsp:txXfrm>
        <a:off x="30451" y="1922627"/>
        <a:ext cx="7065085" cy="2318380"/>
      </dsp:txXfrm>
    </dsp:sp>
    <dsp:sp modelId="{C520CB5C-588F-4B82-BE4A-4C35F9DF0B05}">
      <dsp:nvSpPr>
        <dsp:cNvPr id="0" name=""/>
        <dsp:cNvSpPr/>
      </dsp:nvSpPr>
      <dsp:spPr>
        <a:xfrm>
          <a:off x="8720599" y="160206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8CBCD9-1BAD-43F5-90ED-45ADDA86FD2E}">
      <dsp:nvSpPr>
        <dsp:cNvPr id="0" name=""/>
        <dsp:cNvSpPr/>
      </dsp:nvSpPr>
      <dsp:spPr>
        <a:xfrm>
          <a:off x="7727506" y="2313454"/>
          <a:ext cx="3611250" cy="1439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/>
            <a:t>Большинство датчиков случайных объектов используют базовый датчик</a:t>
          </a:r>
          <a:endParaRPr lang="en-US" sz="2400" kern="1200" dirty="0">
            <a:solidFill>
              <a:schemeClr val="bg1">
                <a:lumMod val="50000"/>
              </a:schemeClr>
            </a:solidFill>
          </a:endParaRPr>
        </a:p>
      </dsp:txBody>
      <dsp:txXfrm>
        <a:off x="7727506" y="2313454"/>
        <a:ext cx="3611250" cy="1439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Стохастическое моделирование</a:t>
            </a:r>
            <a:endParaRPr lang="en-US" dirty="0"/>
          </a:p>
          <a:p>
            <a:r>
              <a:rPr lang="ru-RU" dirty="0"/>
              <a:t>Статистическое моделирование</a:t>
            </a:r>
          </a:p>
          <a:p>
            <a:r>
              <a:rPr lang="ru-RU" dirty="0"/>
              <a:t>Методы Монте-Карло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AD71D-D9E6-D33C-7BF4-2F590F74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A0150D-4B1C-E1FE-9C15-8E0BCD99B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Установить закономерности, используя статистические свойства случайных объектов</a:t>
            </a:r>
          </a:p>
        </p:txBody>
      </p:sp>
      <p:pic>
        <p:nvPicPr>
          <p:cNvPr id="1026" name="Picture 2" descr="Реалистичный белый игровой кубик белые пластиковые игральные кости |  Премиум Фото">
            <a:extLst>
              <a:ext uri="{FF2B5EF4-FFF2-40B4-BE49-F238E27FC236}">
                <a16:creationId xmlns:a16="http://schemas.microsoft.com/office/drawing/2014/main" id="{F834A09D-78D6-9BC6-0556-2451F03D4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28725" y="3579406"/>
            <a:ext cx="953666" cy="95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убик игральный, 20 шт, 1.2 * 1.2 см - купить с доставкой по выгодным ценам  в интернет-магазине OZON (643883299)">
            <a:extLst>
              <a:ext uri="{FF2B5EF4-FFF2-40B4-BE49-F238E27FC236}">
                <a16:creationId xmlns:a16="http://schemas.microsoft.com/office/drawing/2014/main" id="{75BB5154-4E29-3BEF-9A1A-FE26EFBD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502" y="2932678"/>
            <a:ext cx="2247122" cy="224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куча игральных костей видна на черном фоне, 3d куча белых случайных кубиков,  Hd фотография фото, игральная кость фон картинки и Фото для бесплатной  загрузки">
            <a:extLst>
              <a:ext uri="{FF2B5EF4-FFF2-40B4-BE49-F238E27FC236}">
                <a16:creationId xmlns:a16="http://schemas.microsoft.com/office/drawing/2014/main" id="{074865F5-213B-9B58-D1AF-4F45CB011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374" y="2626079"/>
            <a:ext cx="5103919" cy="286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63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объекты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3277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7FA3-7520-42DE-BA9B-3E63D5BB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Датчик (генератор)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406FE55-7954-4549-818C-1BAFE42AD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93984"/>
              </p:ext>
            </p:extLst>
          </p:nvPr>
        </p:nvGraphicFramePr>
        <p:xfrm>
          <a:off x="562380" y="1870745"/>
          <a:ext cx="11369208" cy="4441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F658E9-6308-47FA-B0D8-00FC6B8CFA87}"/>
              </a:ext>
            </a:extLst>
          </p:cNvPr>
          <p:cNvSpPr txBox="1"/>
          <p:nvPr/>
        </p:nvSpPr>
        <p:spPr>
          <a:xfrm>
            <a:off x="562379" y="5164183"/>
            <a:ext cx="752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Например, для случайных величин он называется датчик случайных чисел</a:t>
            </a:r>
          </a:p>
        </p:txBody>
      </p:sp>
    </p:spTree>
    <p:extLst>
      <p:ext uri="{BB962C8B-B14F-4D97-AF65-F5344CB8AC3E}">
        <p14:creationId xmlns:p14="http://schemas.microsoft.com/office/powerpoint/2010/main" val="141604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2CB58A-2269-421C-81AE-25DF18983D81}"/>
              </a:ext>
            </a:extLst>
          </p:cNvPr>
          <p:cNvSpPr/>
          <p:nvPr/>
        </p:nvSpPr>
        <p:spPr>
          <a:xfrm>
            <a:off x="1181083" y="3312577"/>
            <a:ext cx="3166845" cy="23957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607766-0D6F-465E-8C40-FA78E4B2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B0B71E-E5B2-4D9C-BBC7-1CA25B9EB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1261928"/>
          </a:xfrm>
        </p:spPr>
        <p:txBody>
          <a:bodyPr>
            <a:normAutofit/>
          </a:bodyPr>
          <a:lstStyle/>
          <a:p>
            <a:r>
              <a:rPr lang="ru-RU" sz="2800" dirty="0"/>
              <a:t>это алгоритм (компонент ПО или устройство), который генерирует реализации </a:t>
            </a:r>
            <a:r>
              <a:rPr lang="el-GR" sz="2800" dirty="0"/>
              <a:t>α</a:t>
            </a:r>
            <a:r>
              <a:rPr lang="en-US" sz="2800" dirty="0"/>
              <a:t> </a:t>
            </a:r>
            <a:r>
              <a:rPr lang="ru-RU" sz="2800" dirty="0"/>
              <a:t>непрерывной случайной величины, равномерно распределенной в интервале </a:t>
            </a:r>
            <a:r>
              <a:rPr lang="en-US" sz="2800" dirty="0"/>
              <a:t>[0; 1]</a:t>
            </a:r>
            <a:endParaRPr lang="ru-RU" sz="2800" dirty="0"/>
          </a:p>
        </p:txBody>
      </p:sp>
      <p:sp>
        <p:nvSpPr>
          <p:cNvPr id="6" name="Прямоугольник 5" descr="Lightbulb">
            <a:extLst>
              <a:ext uri="{FF2B5EF4-FFF2-40B4-BE49-F238E27FC236}">
                <a16:creationId xmlns:a16="http://schemas.microsoft.com/office/drawing/2014/main" id="{AAD08C32-FA65-4908-99C3-845F7EE98468}"/>
              </a:ext>
            </a:extLst>
          </p:cNvPr>
          <p:cNvSpPr/>
          <p:nvPr/>
        </p:nvSpPr>
        <p:spPr>
          <a:xfrm>
            <a:off x="2327408" y="3391418"/>
            <a:ext cx="737004" cy="75937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2DD5C2D-E106-48A1-983D-702820241957}"/>
              </a:ext>
            </a:extLst>
          </p:cNvPr>
          <p:cNvGrpSpPr/>
          <p:nvPr/>
        </p:nvGrpSpPr>
        <p:grpSpPr>
          <a:xfrm>
            <a:off x="1097280" y="4300892"/>
            <a:ext cx="3250648" cy="1407449"/>
            <a:chOff x="7205904" y="2440942"/>
            <a:chExt cx="3375000" cy="1115617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D40FEA0-E3E5-41AC-A9C4-1D42A42DBA01}"/>
                </a:ext>
              </a:extLst>
            </p:cNvPr>
            <p:cNvSpPr/>
            <p:nvPr/>
          </p:nvSpPr>
          <p:spPr>
            <a:xfrm>
              <a:off x="7205904" y="2440942"/>
              <a:ext cx="3375000" cy="111561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E83A18-16D3-443B-8F4E-CFDCC606525E}"/>
                </a:ext>
              </a:extLst>
            </p:cNvPr>
            <p:cNvSpPr txBox="1"/>
            <p:nvPr/>
          </p:nvSpPr>
          <p:spPr>
            <a:xfrm>
              <a:off x="7205904" y="2440942"/>
              <a:ext cx="3375000" cy="1115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400" kern="1200" dirty="0"/>
                <a:t>Большинство датчиков случайных объектов используют базовый датчик</a:t>
              </a:r>
            </a:p>
          </p:txBody>
        </p:sp>
      </p:grp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1114AA-BD85-4F21-B472-1568947DF47D}"/>
              </a:ext>
            </a:extLst>
          </p:cNvPr>
          <p:cNvSpPr/>
          <p:nvPr/>
        </p:nvSpPr>
        <p:spPr>
          <a:xfrm>
            <a:off x="5494253" y="3561466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06B8C9-DC2C-49A7-9510-B7E4DA2C2FFA}"/>
              </a:ext>
            </a:extLst>
          </p:cNvPr>
          <p:cNvSpPr/>
          <p:nvPr/>
        </p:nvSpPr>
        <p:spPr>
          <a:xfrm>
            <a:off x="7869734" y="3561466"/>
            <a:ext cx="2074762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75442CE-5D15-46AE-8B87-B4CF3A2F5EF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828103" y="4091021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250C50-B4A5-4192-AD30-EFA051B8E861}"/>
              </a:ext>
            </a:extLst>
          </p:cNvPr>
          <p:cNvSpPr txBox="1"/>
          <p:nvPr/>
        </p:nvSpPr>
        <p:spPr>
          <a:xfrm>
            <a:off x="7178916" y="373195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2459451-F06F-4157-9971-51038C1805F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944496" y="4091021"/>
            <a:ext cx="1153603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AF52E0-288E-4B90-9CB0-D8656F113A48}"/>
              </a:ext>
            </a:extLst>
          </p:cNvPr>
          <p:cNvSpPr txBox="1"/>
          <p:nvPr/>
        </p:nvSpPr>
        <p:spPr>
          <a:xfrm>
            <a:off x="10713602" y="37216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225457C5-8456-E3D8-9E22-4B0607741B30}"/>
              </a:ext>
            </a:extLst>
          </p:cNvPr>
          <p:cNvSpPr/>
          <p:nvPr/>
        </p:nvSpPr>
        <p:spPr>
          <a:xfrm rot="16200000">
            <a:off x="7644926" y="2760697"/>
            <a:ext cx="148896" cy="44502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23893-4ACC-5E16-3A58-FDD4AD001C2B}"/>
              </a:ext>
            </a:extLst>
          </p:cNvPr>
          <p:cNvSpPr txBox="1"/>
          <p:nvPr/>
        </p:nvSpPr>
        <p:spPr>
          <a:xfrm>
            <a:off x="6161178" y="5138334"/>
            <a:ext cx="303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датчик случайного объекта Х</a:t>
            </a:r>
          </a:p>
        </p:txBody>
      </p:sp>
    </p:spTree>
    <p:extLst>
      <p:ext uri="{BB962C8B-B14F-4D97-AF65-F5344CB8AC3E}">
        <p14:creationId xmlns:p14="http://schemas.microsoft.com/office/powerpoint/2010/main" val="6788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/>
      <p:bldP spid="20" grpId="0"/>
      <p:bldP spid="13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9DA3-F9FA-46FA-A251-517E1510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базовых датчиков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03114-B409-4B09-B57B-25CDF293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97916"/>
            <a:ext cx="10058400" cy="36711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800" dirty="0"/>
              <a:t>Физические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Табличные (таблицы Брадиса</a:t>
            </a:r>
            <a:r>
              <a:rPr lang="en-US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Псевдослучайные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AFB1422-0231-4CDA-96B8-2AD4A38C1066}"/>
              </a:ext>
            </a:extLst>
          </p:cNvPr>
          <p:cNvCxnSpPr>
            <a:cxnSpLocks/>
          </p:cNvCxnSpPr>
          <p:nvPr/>
        </p:nvCxnSpPr>
        <p:spPr>
          <a:xfrm>
            <a:off x="939567" y="2432807"/>
            <a:ext cx="2700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51D1930-7E97-40E8-AA25-B10677B4DDD1}"/>
              </a:ext>
            </a:extLst>
          </p:cNvPr>
          <p:cNvCxnSpPr>
            <a:cxnSpLocks/>
          </p:cNvCxnSpPr>
          <p:nvPr/>
        </p:nvCxnSpPr>
        <p:spPr>
          <a:xfrm>
            <a:off x="939567" y="2996268"/>
            <a:ext cx="5319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85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4E6A7-94EB-4BC9-B30E-07ECA0CF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Псевдослучайный датчик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833009-2A61-49B4-98D6-94BA9B350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28057E-2A2F-4F9A-913E-C733A965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043" y="1956244"/>
            <a:ext cx="2256195" cy="5949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0B66D0-776F-496B-AC1D-9B799403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695" y="2828902"/>
            <a:ext cx="3532396" cy="663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353517-6D71-40FC-8CCA-99DDDF5A7B16}"/>
              </a:ext>
            </a:extLst>
          </p:cNvPr>
          <p:cNvSpPr txBox="1"/>
          <p:nvPr/>
        </p:nvSpPr>
        <p:spPr>
          <a:xfrm>
            <a:off x="2990088" y="2945892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или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7058D4-A91E-4D8E-9867-26063D533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088" y="4039398"/>
            <a:ext cx="535271" cy="664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BB8C77-5276-4AB6-AC8E-2C135E1483F4}"/>
              </a:ext>
            </a:extLst>
          </p:cNvPr>
          <p:cNvSpPr txBox="1"/>
          <p:nvPr/>
        </p:nvSpPr>
        <p:spPr>
          <a:xfrm>
            <a:off x="2217994" y="4140703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дано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258CE9B-81A0-4595-B301-144DAF96FB7B}"/>
              </a:ext>
            </a:extLst>
          </p:cNvPr>
          <p:cNvSpPr/>
          <p:nvPr/>
        </p:nvSpPr>
        <p:spPr>
          <a:xfrm>
            <a:off x="1359017" y="3967993"/>
            <a:ext cx="2628678" cy="1006679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лачко с текстом: овальное 9">
            <a:extLst>
              <a:ext uri="{FF2B5EF4-FFF2-40B4-BE49-F238E27FC236}">
                <a16:creationId xmlns:a16="http://schemas.microsoft.com/office/drawing/2014/main" id="{DBC0D695-8197-4675-A608-DCCDFA763A5E}"/>
              </a:ext>
            </a:extLst>
          </p:cNvPr>
          <p:cNvSpPr/>
          <p:nvPr/>
        </p:nvSpPr>
        <p:spPr>
          <a:xfrm>
            <a:off x="4177716" y="4602368"/>
            <a:ext cx="3013197" cy="1266725"/>
          </a:xfrm>
          <a:prstGeom prst="wedgeEllipseCallout">
            <a:avLst>
              <a:gd name="adj1" fmla="val -118753"/>
              <a:gd name="adj2" fmla="val -50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зерно (</a:t>
            </a:r>
            <a:r>
              <a:rPr lang="en-US" sz="2800" dirty="0"/>
              <a:t>seed)</a:t>
            </a:r>
            <a:br>
              <a:rPr lang="en-US" sz="2800" dirty="0"/>
            </a:br>
            <a:r>
              <a:rPr lang="en-US" sz="1600" dirty="0"/>
              <a:t>(</a:t>
            </a:r>
            <a:r>
              <a:rPr lang="ru-RU" sz="1600" dirty="0"/>
              <a:t>начальное значение</a:t>
            </a:r>
            <a:r>
              <a:rPr lang="en-US" sz="1600" dirty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8007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99AF5-8BDB-4ABD-AAD8-A5A629E3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Зерно</a:t>
            </a:r>
            <a:r>
              <a:rPr lang="en-US" dirty="0"/>
              <a:t> </a:t>
            </a:r>
            <a:r>
              <a:rPr lang="ru-RU" dirty="0"/>
              <a:t>в языках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F7436-B83D-47C4-8AB8-1C445A69D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(import random):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random.seed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C++: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C#: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ru-RU" dirty="0">
                <a:cs typeface="Courier New" panose="02070309020205020404" pitchFamily="49" charset="0"/>
              </a:rPr>
              <a:t>или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21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1BFC9F47-8B0F-4FAC-A65E-D5702CCE0431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(import random):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random.seed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C++: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C#: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6EEF5-155E-4243-9456-3696CA39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датчики </a:t>
            </a:r>
            <a:br>
              <a:rPr lang="ru-RU" dirty="0"/>
            </a:br>
            <a:r>
              <a:rPr lang="ru-RU" dirty="0"/>
              <a:t>в языках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1124A-8ACD-46FE-B221-725847331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random.random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rand()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rnd.NextDouble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29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16417-5950-4254-9BEE-D1AD75BB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базовым датчикам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67BE44-3C46-40A9-ABE7-CCECCFAD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6450"/>
            <a:ext cx="10058400" cy="3792644"/>
          </a:xfrm>
        </p:spPr>
        <p:txBody>
          <a:bodyPr>
            <a:normAutofit fontScale="92500" lnSpcReduction="20000"/>
          </a:bodyPr>
          <a:lstStyle/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Математические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ru-RU" sz="2400" dirty="0"/>
              <a:t>равномерное распределение</a:t>
            </a:r>
            <a:endParaRPr lang="en-US" sz="2400" dirty="0"/>
          </a:p>
          <a:p>
            <a:pPr lvl="1"/>
            <a:r>
              <a:rPr lang="ru-RU" sz="2400" dirty="0"/>
              <a:t>отсутствие корреляции</a:t>
            </a:r>
            <a:endParaRPr lang="en-US" sz="2400" dirty="0"/>
          </a:p>
          <a:p>
            <a:pPr lvl="1"/>
            <a:r>
              <a:rPr lang="ru-RU" sz="2400" dirty="0" err="1"/>
              <a:t>апериодичность</a:t>
            </a:r>
            <a:endParaRPr lang="en-US" sz="2400" dirty="0"/>
          </a:p>
          <a:p>
            <a:pPr lvl="1"/>
            <a:r>
              <a:rPr lang="ru-RU" sz="2400" dirty="0"/>
              <a:t>воспроизводимость</a:t>
            </a:r>
          </a:p>
          <a:p>
            <a:pPr lvl="1"/>
            <a:endParaRPr lang="en-US" sz="2400" dirty="0"/>
          </a:p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Вычислительные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ru-RU" sz="2400" dirty="0"/>
              <a:t>быстрота</a:t>
            </a:r>
          </a:p>
          <a:p>
            <a:pPr lvl="1"/>
            <a:endParaRPr lang="ru-RU" sz="2400" dirty="0"/>
          </a:p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Общие:</a:t>
            </a:r>
          </a:p>
          <a:p>
            <a:pPr lvl="1"/>
            <a:r>
              <a:rPr lang="ru-RU" sz="2400" dirty="0" err="1"/>
              <a:t>портируемость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2D49E1-5605-43D7-A891-B07566E95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074" y="3131534"/>
            <a:ext cx="2256195" cy="5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7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F1A9C-89E3-4297-A3FF-079F5787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базового датчика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EDC1A3-73F7-4E30-A873-D4119FFE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Мультипликативный </a:t>
            </a:r>
            <a:r>
              <a:rPr lang="ru-RU" sz="2400"/>
              <a:t>конгруэнтный генератор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B16E3F-6EFD-461F-BAA6-AE663E6B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40" y="2418752"/>
            <a:ext cx="2222047" cy="12231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7522C4-B664-42B6-9004-8A92C758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50" y="2418752"/>
            <a:ext cx="3946130" cy="3446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73FD24-FD64-4513-BBE4-316CEC41D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548" y="2815735"/>
            <a:ext cx="2917203" cy="3880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A3289B-0A18-4CC2-89A3-4679884A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548" y="3244149"/>
            <a:ext cx="2431385" cy="401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7A21F-0D40-E9A6-D88B-96E3CA9CB8F0}"/>
              </a:ext>
            </a:extLst>
          </p:cNvPr>
          <p:cNvSpPr txBox="1"/>
          <p:nvPr/>
        </p:nvSpPr>
        <p:spPr>
          <a:xfrm>
            <a:off x="2498852" y="4486275"/>
            <a:ext cx="72552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Другие методы генерации: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метод середины квадрата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метод </a:t>
            </a:r>
            <a:r>
              <a:rPr lang="ru-RU" sz="2400" dirty="0" err="1"/>
              <a:t>Фиббоначи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регистровые сдвиги (в том числе «вихрь </a:t>
            </a:r>
            <a:r>
              <a:rPr lang="ru-RU" sz="2400" dirty="0" err="1"/>
              <a:t>Мерсена</a:t>
            </a:r>
            <a:r>
              <a:rPr lang="ru-RU" sz="2400" dirty="0"/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250204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2434"/>
            <a:ext cx="9627869" cy="2440516"/>
          </a:xfrm>
        </p:spPr>
        <p:txBody>
          <a:bodyPr>
            <a:norm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Реализовать базовый датчик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Вычислить выборочные среднее и дисперсию для реализованного вами датчика и для встроенного в язык программирования (размер выборки 100 тыс. значений). Сравнить их с теоретическими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Сделать вывод</a:t>
            </a:r>
          </a:p>
        </p:txBody>
      </p:sp>
    </p:spTree>
    <p:extLst>
      <p:ext uri="{BB962C8B-B14F-4D97-AF65-F5344CB8AC3E}">
        <p14:creationId xmlns:p14="http://schemas.microsoft.com/office/powerpoint/2010/main" val="276355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F4FCA6F-0D4D-B650-0A38-9D655496A003}"/>
              </a:ext>
            </a:extLst>
          </p:cNvPr>
          <p:cNvSpPr/>
          <p:nvPr/>
        </p:nvSpPr>
        <p:spPr>
          <a:xfrm>
            <a:off x="3622842" y="2705318"/>
            <a:ext cx="1333850" cy="1059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err="1"/>
              <a:t>БазовыйДатчик</a:t>
            </a:r>
            <a:endParaRPr lang="ru-RU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E222B7-599C-03CC-5943-1FB95C383CB5}"/>
              </a:ext>
            </a:extLst>
          </p:cNvPr>
          <p:cNvSpPr/>
          <p:nvPr/>
        </p:nvSpPr>
        <p:spPr>
          <a:xfrm>
            <a:off x="5998323" y="2705318"/>
            <a:ext cx="2074762" cy="1059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ABA7784-E119-A76C-B371-87B57837E1A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956692" y="3234873"/>
            <a:ext cx="1041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8F8520-91A9-E53E-7F8F-3F1B05D5ED8B}"/>
              </a:ext>
            </a:extLst>
          </p:cNvPr>
          <p:cNvSpPr txBox="1"/>
          <p:nvPr/>
        </p:nvSpPr>
        <p:spPr>
          <a:xfrm>
            <a:off x="5307505" y="287580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0AD32FF-5CA1-137E-3D23-A16D189F67E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073085" y="3234873"/>
            <a:ext cx="1153603" cy="10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4986B5-1B3D-0A5D-8210-CF8915D280AB}"/>
              </a:ext>
            </a:extLst>
          </p:cNvPr>
          <p:cNvSpPr txBox="1"/>
          <p:nvPr/>
        </p:nvSpPr>
        <p:spPr>
          <a:xfrm>
            <a:off x="8842191" y="286554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513F4B27-6FC9-384D-4BE5-85A39502CE3E}"/>
              </a:ext>
            </a:extLst>
          </p:cNvPr>
          <p:cNvSpPr/>
          <p:nvPr/>
        </p:nvSpPr>
        <p:spPr>
          <a:xfrm rot="16200000">
            <a:off x="5773515" y="1904549"/>
            <a:ext cx="148896" cy="445024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95DCE-41D0-BEAF-433C-6520F56CB205}"/>
              </a:ext>
            </a:extLst>
          </p:cNvPr>
          <p:cNvSpPr txBox="1"/>
          <p:nvPr/>
        </p:nvSpPr>
        <p:spPr>
          <a:xfrm>
            <a:off x="4289767" y="4282186"/>
            <a:ext cx="303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датчик случайного объекта Х</a:t>
            </a:r>
          </a:p>
        </p:txBody>
      </p:sp>
    </p:spTree>
    <p:extLst>
      <p:ext uri="{BB962C8B-B14F-4D97-AF65-F5344CB8AC3E}">
        <p14:creationId xmlns:p14="http://schemas.microsoft.com/office/powerpoint/2010/main" val="1153382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292</Words>
  <Application>Microsoft Office PowerPoint</Application>
  <PresentationFormat>Широкоэкранный</PresentationFormat>
  <Paragraphs>87</Paragraphs>
  <Slides>13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Ретро</vt:lpstr>
      <vt:lpstr>Имитационное моделирование</vt:lpstr>
      <vt:lpstr>Основная идея:</vt:lpstr>
      <vt:lpstr>Случайные объекты</vt:lpstr>
      <vt:lpstr>Датчик (генератор)</vt:lpstr>
      <vt:lpstr>Базовый датчик</vt:lpstr>
      <vt:lpstr>Типы базовых датчиков</vt:lpstr>
      <vt:lpstr>Псевдослучайный датчик</vt:lpstr>
      <vt:lpstr>Зерно в языках программирования</vt:lpstr>
      <vt:lpstr>Базовые датчики  в языках программирования</vt:lpstr>
      <vt:lpstr>Требования к базовым датчикам</vt:lpstr>
      <vt:lpstr>Пример базового датчика</vt:lpstr>
      <vt:lpstr>Лабораторная 4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Пользователь</cp:lastModifiedBy>
  <cp:revision>21</cp:revision>
  <dcterms:created xsi:type="dcterms:W3CDTF">2019-02-17T03:59:10Z</dcterms:created>
  <dcterms:modified xsi:type="dcterms:W3CDTF">2026-03-25T01:26:49Z</dcterms:modified>
</cp:coreProperties>
</file>