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0" r:id="rId3"/>
    <p:sldId id="274" r:id="rId4"/>
    <p:sldId id="288" r:id="rId5"/>
    <p:sldId id="289" r:id="rId6"/>
    <p:sldId id="297" r:id="rId7"/>
    <p:sldId id="296" r:id="rId8"/>
    <p:sldId id="290" r:id="rId9"/>
    <p:sldId id="291" r:id="rId10"/>
    <p:sldId id="294" r:id="rId11"/>
    <p:sldId id="267" r:id="rId12"/>
    <p:sldId id="295" r:id="rId13"/>
    <p:sldId id="287" r:id="rId14"/>
    <p:sldId id="292" r:id="rId15"/>
    <p:sldId id="29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Стохастическое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Моделирование Случайных потоков событий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Случайные объекты и 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0F4AC-48CA-4C61-A163-9D04488283D9}"/>
              </a:ext>
            </a:extLst>
          </p:cNvPr>
          <p:cNvSpPr/>
          <p:nvPr/>
        </p:nvSpPr>
        <p:spPr>
          <a:xfrm>
            <a:off x="5551834" y="2899445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CA8AF0-29E5-462F-8D22-C685DCBDDA83}"/>
              </a:ext>
            </a:extLst>
          </p:cNvPr>
          <p:cNvSpPr/>
          <p:nvPr/>
        </p:nvSpPr>
        <p:spPr>
          <a:xfrm>
            <a:off x="7927315" y="2899445"/>
            <a:ext cx="2077819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DDF8A5-B9DA-48F8-9D23-AE9EFEFC5BD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885684" y="3429000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FA400E-A495-48C5-BA5E-2402ACA46FFA}"/>
              </a:ext>
            </a:extLst>
          </p:cNvPr>
          <p:cNvSpPr txBox="1"/>
          <p:nvPr/>
        </p:nvSpPr>
        <p:spPr>
          <a:xfrm>
            <a:off x="7236497" y="306993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40D2C55-6442-4D40-BC8C-334FAEA1140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005134" y="3429000"/>
            <a:ext cx="1150546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EB8045-EB3C-413B-8626-F498FFB5362A}"/>
              </a:ext>
            </a:extLst>
          </p:cNvPr>
          <p:cNvSpPr txBox="1"/>
          <p:nvPr/>
        </p:nvSpPr>
        <p:spPr>
          <a:xfrm>
            <a:off x="10771183" y="3059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63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67FA3-7520-42DE-BA9B-3E63D5BB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Случайный поток событий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DACE974-A840-426D-B457-6AC0B794D9CB}"/>
              </a:ext>
            </a:extLst>
          </p:cNvPr>
          <p:cNvCxnSpPr/>
          <p:nvPr/>
        </p:nvCxnSpPr>
        <p:spPr>
          <a:xfrm>
            <a:off x="1585519" y="3355596"/>
            <a:ext cx="8858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9C050DC-2BDB-4282-A61F-216EC2BB51DC}"/>
              </a:ext>
            </a:extLst>
          </p:cNvPr>
          <p:cNvSpPr txBox="1"/>
          <p:nvPr/>
        </p:nvSpPr>
        <p:spPr>
          <a:xfrm>
            <a:off x="9999678" y="3429000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время</a:t>
            </a:r>
          </a:p>
        </p:txBody>
      </p:sp>
      <p:sp>
        <p:nvSpPr>
          <p:cNvPr id="17" name="Знак умножения 16">
            <a:extLst>
              <a:ext uri="{FF2B5EF4-FFF2-40B4-BE49-F238E27FC236}">
                <a16:creationId xmlns:a16="http://schemas.microsoft.com/office/drawing/2014/main" id="{075F5276-36DF-4CF9-8E48-88C5D3855618}"/>
              </a:ext>
            </a:extLst>
          </p:cNvPr>
          <p:cNvSpPr/>
          <p:nvPr/>
        </p:nvSpPr>
        <p:spPr>
          <a:xfrm>
            <a:off x="2273414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id="{52C83AED-33B7-45D3-BFA1-BC893FBD0FB8}"/>
              </a:ext>
            </a:extLst>
          </p:cNvPr>
          <p:cNvSpPr/>
          <p:nvPr/>
        </p:nvSpPr>
        <p:spPr>
          <a:xfrm>
            <a:off x="3130491" y="3292102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id="{12BAE56B-63A8-4B38-9B73-7C8306CA1EF6}"/>
              </a:ext>
            </a:extLst>
          </p:cNvPr>
          <p:cNvSpPr/>
          <p:nvPr/>
        </p:nvSpPr>
        <p:spPr>
          <a:xfrm>
            <a:off x="3414319" y="3292101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нак умножения 20">
            <a:extLst>
              <a:ext uri="{FF2B5EF4-FFF2-40B4-BE49-F238E27FC236}">
                <a16:creationId xmlns:a16="http://schemas.microsoft.com/office/drawing/2014/main" id="{A8561685-471C-46CA-9192-181E6C65FE8B}"/>
              </a:ext>
            </a:extLst>
          </p:cNvPr>
          <p:cNvSpPr/>
          <p:nvPr/>
        </p:nvSpPr>
        <p:spPr>
          <a:xfrm>
            <a:off x="4716359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Знак умножения 21">
            <a:extLst>
              <a:ext uri="{FF2B5EF4-FFF2-40B4-BE49-F238E27FC236}">
                <a16:creationId xmlns:a16="http://schemas.microsoft.com/office/drawing/2014/main" id="{B0E2F6AC-114B-44F6-82DA-8AAB4B0C88B3}"/>
              </a:ext>
            </a:extLst>
          </p:cNvPr>
          <p:cNvSpPr/>
          <p:nvPr/>
        </p:nvSpPr>
        <p:spPr>
          <a:xfrm>
            <a:off x="5317920" y="3283708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Знак умножения 22">
            <a:extLst>
              <a:ext uri="{FF2B5EF4-FFF2-40B4-BE49-F238E27FC236}">
                <a16:creationId xmlns:a16="http://schemas.microsoft.com/office/drawing/2014/main" id="{9C831DB2-BAF1-49C0-8813-3145B28B8B8C}"/>
              </a:ext>
            </a:extLst>
          </p:cNvPr>
          <p:cNvSpPr/>
          <p:nvPr/>
        </p:nvSpPr>
        <p:spPr>
          <a:xfrm>
            <a:off x="7536110" y="3283703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нак умножения 23">
            <a:extLst>
              <a:ext uri="{FF2B5EF4-FFF2-40B4-BE49-F238E27FC236}">
                <a16:creationId xmlns:a16="http://schemas.microsoft.com/office/drawing/2014/main" id="{F38789C0-EB27-4D07-818E-25279D8DF91C}"/>
              </a:ext>
            </a:extLst>
          </p:cNvPr>
          <p:cNvSpPr/>
          <p:nvPr/>
        </p:nvSpPr>
        <p:spPr>
          <a:xfrm>
            <a:off x="8064614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Знак умножения 24">
            <a:extLst>
              <a:ext uri="{FF2B5EF4-FFF2-40B4-BE49-F238E27FC236}">
                <a16:creationId xmlns:a16="http://schemas.microsoft.com/office/drawing/2014/main" id="{A30FF847-52CE-4004-AE38-AB08110FDBA9}"/>
              </a:ext>
            </a:extLst>
          </p:cNvPr>
          <p:cNvSpPr/>
          <p:nvPr/>
        </p:nvSpPr>
        <p:spPr>
          <a:xfrm>
            <a:off x="8347045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нак умножения 25">
            <a:extLst>
              <a:ext uri="{FF2B5EF4-FFF2-40B4-BE49-F238E27FC236}">
                <a16:creationId xmlns:a16="http://schemas.microsoft.com/office/drawing/2014/main" id="{3307C8C8-7CC5-44A6-A0C7-6283887CEE2E}"/>
              </a:ext>
            </a:extLst>
          </p:cNvPr>
          <p:cNvSpPr/>
          <p:nvPr/>
        </p:nvSpPr>
        <p:spPr>
          <a:xfrm>
            <a:off x="9395669" y="3283703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блачко с текстом: прямоугольное со скругленными углами 26">
            <a:extLst>
              <a:ext uri="{FF2B5EF4-FFF2-40B4-BE49-F238E27FC236}">
                <a16:creationId xmlns:a16="http://schemas.microsoft.com/office/drawing/2014/main" id="{C8A1E95D-E268-44DA-ACA2-99D0ED3C6899}"/>
              </a:ext>
            </a:extLst>
          </p:cNvPr>
          <p:cNvSpPr/>
          <p:nvPr/>
        </p:nvSpPr>
        <p:spPr>
          <a:xfrm>
            <a:off x="3963445" y="4446165"/>
            <a:ext cx="1648440" cy="855650"/>
          </a:xfrm>
          <a:prstGeom prst="wedgeRoundRectCallout">
            <a:avLst>
              <a:gd name="adj1" fmla="val 15299"/>
              <a:gd name="adj2" fmla="val -4926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моменты наступления событий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2243CBF-0E3B-4234-B2FD-B114E777BF2C}"/>
              </a:ext>
            </a:extLst>
          </p:cNvPr>
          <p:cNvCxnSpPr/>
          <p:nvPr/>
        </p:nvCxnSpPr>
        <p:spPr>
          <a:xfrm flipH="1" flipV="1">
            <a:off x="2416027" y="3429000"/>
            <a:ext cx="1547418" cy="1017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3E5D5DB-C8B8-4144-92EE-33C143763B51}"/>
              </a:ext>
            </a:extLst>
          </p:cNvPr>
          <p:cNvCxnSpPr/>
          <p:nvPr/>
        </p:nvCxnSpPr>
        <p:spPr>
          <a:xfrm flipH="1" flipV="1">
            <a:off x="3273104" y="3455789"/>
            <a:ext cx="904613" cy="914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17FA96C-24EE-4EE6-B7CD-0CA4750C2C58}"/>
              </a:ext>
            </a:extLst>
          </p:cNvPr>
          <p:cNvCxnSpPr/>
          <p:nvPr/>
        </p:nvCxnSpPr>
        <p:spPr>
          <a:xfrm flipH="1" flipV="1">
            <a:off x="3556932" y="3480145"/>
            <a:ext cx="778426" cy="910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B0BCA202-8781-4335-A151-281F8CACCE01}"/>
              </a:ext>
            </a:extLst>
          </p:cNvPr>
          <p:cNvCxnSpPr>
            <a:cxnSpLocks/>
          </p:cNvCxnSpPr>
          <p:nvPr/>
        </p:nvCxnSpPr>
        <p:spPr>
          <a:xfrm flipV="1">
            <a:off x="4716359" y="3464653"/>
            <a:ext cx="56977" cy="906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D14305E6-2FA0-470F-8815-DF4284948BDB}"/>
              </a:ext>
            </a:extLst>
          </p:cNvPr>
          <p:cNvCxnSpPr>
            <a:cxnSpLocks/>
          </p:cNvCxnSpPr>
          <p:nvPr/>
        </p:nvCxnSpPr>
        <p:spPr>
          <a:xfrm flipV="1">
            <a:off x="5104350" y="3473042"/>
            <a:ext cx="264604" cy="897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A1D076E-1A32-4127-BE65-B1A7186535E1}"/>
              </a:ext>
            </a:extLst>
          </p:cNvPr>
          <p:cNvCxnSpPr>
            <a:cxnSpLocks/>
          </p:cNvCxnSpPr>
          <p:nvPr/>
        </p:nvCxnSpPr>
        <p:spPr>
          <a:xfrm flipV="1">
            <a:off x="5611885" y="3410690"/>
            <a:ext cx="1924225" cy="103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2964175-77DB-4E22-81A1-ACF3181F70D9}"/>
              </a:ext>
            </a:extLst>
          </p:cNvPr>
          <p:cNvCxnSpPr>
            <a:cxnSpLocks/>
          </p:cNvCxnSpPr>
          <p:nvPr/>
        </p:nvCxnSpPr>
        <p:spPr>
          <a:xfrm flipV="1">
            <a:off x="5705911" y="3447307"/>
            <a:ext cx="2308374" cy="107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4269842D-AED1-4B79-9166-395E9A07CD43}"/>
              </a:ext>
            </a:extLst>
          </p:cNvPr>
          <p:cNvCxnSpPr>
            <a:cxnSpLocks/>
          </p:cNvCxnSpPr>
          <p:nvPr/>
        </p:nvCxnSpPr>
        <p:spPr>
          <a:xfrm flipV="1">
            <a:off x="5705911" y="3419089"/>
            <a:ext cx="2641134" cy="1220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B417B037-AB2D-42A5-A113-6A4E69D075C1}"/>
              </a:ext>
            </a:extLst>
          </p:cNvPr>
          <p:cNvCxnSpPr>
            <a:cxnSpLocks/>
          </p:cNvCxnSpPr>
          <p:nvPr/>
        </p:nvCxnSpPr>
        <p:spPr>
          <a:xfrm flipV="1">
            <a:off x="5705911" y="3447308"/>
            <a:ext cx="3597480" cy="1309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Левая фигурная скобка 52">
            <a:extLst>
              <a:ext uri="{FF2B5EF4-FFF2-40B4-BE49-F238E27FC236}">
                <a16:creationId xmlns:a16="http://schemas.microsoft.com/office/drawing/2014/main" id="{45B7C42E-2C91-4698-BAE6-141B349E6B80}"/>
              </a:ext>
            </a:extLst>
          </p:cNvPr>
          <p:cNvSpPr/>
          <p:nvPr/>
        </p:nvSpPr>
        <p:spPr>
          <a:xfrm rot="5400000">
            <a:off x="4017047" y="2437589"/>
            <a:ext cx="239195" cy="13020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BF6EC7-46FA-4C11-9AAF-B12B918943DA}"/>
              </a:ext>
            </a:extLst>
          </p:cNvPr>
          <p:cNvSpPr txBox="1"/>
          <p:nvPr/>
        </p:nvSpPr>
        <p:spPr>
          <a:xfrm>
            <a:off x="2416027" y="2333380"/>
            <a:ext cx="3478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интервал между двумя последовательными событиями</a:t>
            </a:r>
          </a:p>
        </p:txBody>
      </p:sp>
      <p:sp>
        <p:nvSpPr>
          <p:cNvPr id="65" name="Объект 2">
            <a:extLst>
              <a:ext uri="{FF2B5EF4-FFF2-40B4-BE49-F238E27FC236}">
                <a16:creationId xmlns:a16="http://schemas.microsoft.com/office/drawing/2014/main" id="{0578AAB5-1695-425E-B751-23C45294236D}"/>
              </a:ext>
            </a:extLst>
          </p:cNvPr>
          <p:cNvSpPr txBox="1">
            <a:spLocks/>
          </p:cNvSpPr>
          <p:nvPr/>
        </p:nvSpPr>
        <p:spPr>
          <a:xfrm>
            <a:off x="174647" y="5395918"/>
            <a:ext cx="3065449" cy="5522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Моделирование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68A94B-60AF-4197-8EE5-4E8E391DE527}"/>
              </a:ext>
            </a:extLst>
          </p:cNvPr>
          <p:cNvSpPr txBox="1"/>
          <p:nvPr/>
        </p:nvSpPr>
        <p:spPr>
          <a:xfrm>
            <a:off x="3130491" y="5395918"/>
            <a:ext cx="80567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Задается начальный момент времени</a:t>
            </a:r>
            <a:r>
              <a:rPr lang="en-US" sz="2000" dirty="0"/>
              <a:t>. </a:t>
            </a:r>
            <a:br>
              <a:rPr lang="ru-RU" sz="2000" dirty="0"/>
            </a:br>
            <a:r>
              <a:rPr lang="ru-RU" sz="2000" dirty="0"/>
              <a:t>Моделируется интервал времени до наступления следующего события.</a:t>
            </a:r>
          </a:p>
          <a:p>
            <a:r>
              <a:rPr lang="ru-RU" sz="2000" dirty="0"/>
              <a:t>Потом – от него до следующего и т.д.</a:t>
            </a:r>
          </a:p>
        </p:txBody>
      </p:sp>
    </p:spTree>
    <p:extLst>
      <p:ext uri="{BB962C8B-B14F-4D97-AF65-F5344CB8AC3E}">
        <p14:creationId xmlns:p14="http://schemas.microsoft.com/office/powerpoint/2010/main" val="141604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3" grpId="0" animBg="1"/>
      <p:bldP spid="54" grpId="0"/>
      <p:bldP spid="65" grpId="0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24F3D-E0DC-465E-95A6-7FFC3FFB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43" y="286603"/>
            <a:ext cx="8709433" cy="145075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Простейший поток событий</a:t>
            </a:r>
            <a:br>
              <a:rPr lang="ru-RU" dirty="0"/>
            </a:br>
            <a:r>
              <a:rPr lang="ru-RU" dirty="0"/>
              <a:t>(стационарный пуассоновский поток)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EBD8B6-9BBC-46B9-9322-8DC1CFDBC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044" y="1846052"/>
            <a:ext cx="4937760" cy="736282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ru-RU" dirty="0"/>
              <a:t>свойства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C2B34-947B-490F-B696-E9621CF75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043" y="2582335"/>
            <a:ext cx="5050857" cy="3286760"/>
          </a:xfrm>
        </p:spPr>
        <p:txBody>
          <a:bodyPr>
            <a:normAutofit/>
          </a:bodyPr>
          <a:lstStyle/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Независимость</a:t>
            </a:r>
            <a:r>
              <a:rPr lang="en-US" dirty="0"/>
              <a:t>: </a:t>
            </a:r>
            <a:r>
              <a:rPr lang="ru-RU" dirty="0"/>
              <a:t>событий наступают независимо друг от друга</a:t>
            </a:r>
            <a:r>
              <a:rPr lang="en-US" dirty="0"/>
              <a:t>.</a:t>
            </a:r>
          </a:p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Ординарность</a:t>
            </a:r>
            <a:r>
              <a:rPr lang="en-US" dirty="0"/>
              <a:t>: </a:t>
            </a:r>
            <a:r>
              <a:rPr lang="ru-RU" dirty="0"/>
              <a:t>только одно событие может наступить в один момент времени</a:t>
            </a:r>
            <a:r>
              <a:rPr lang="en-US" dirty="0"/>
              <a:t>. </a:t>
            </a:r>
          </a:p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Стационарность</a:t>
            </a:r>
            <a:r>
              <a:rPr lang="en-US" dirty="0"/>
              <a:t>: </a:t>
            </a:r>
            <a:r>
              <a:rPr lang="ru-RU" dirty="0"/>
              <a:t>число событий, которые наступят в некотором интервале времени, не зависит от начальной точки интервала (а только от его длины)</a:t>
            </a:r>
            <a:r>
              <a:rPr lang="en-US" dirty="0"/>
              <a:t>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191EA7C-BEEB-4618-8CB1-4837B9C28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ru-RU" dirty="0"/>
              <a:t>Распределение вероятностей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09372C9-74D3-4607-A999-09CD96477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997471"/>
          </a:xfrm>
        </p:spPr>
        <p:txBody>
          <a:bodyPr>
            <a:normAutofit/>
          </a:bodyPr>
          <a:lstStyle/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Число событий, которые наступят в интервале длины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распределено по закону Пуассона</a:t>
            </a:r>
            <a:r>
              <a:rPr lang="en-US" dirty="0"/>
              <a:t>:</a:t>
            </a:r>
          </a:p>
          <a:p>
            <a:pPr marL="360000">
              <a:buFont typeface="Arial" panose="020B0604020202020204" pitchFamily="34" charset="0"/>
              <a:buChar char="•"/>
            </a:pPr>
            <a:endParaRPr lang="en-US" dirty="0"/>
          </a:p>
          <a:p>
            <a:pPr marL="268560" indent="0">
              <a:buNone/>
            </a:pPr>
            <a:endParaRPr lang="en-US" sz="1000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2B31E0-F680-4FC5-B64A-43CAAE2F8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32" y="3579806"/>
            <a:ext cx="2002856" cy="64590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C3A02AF-65B5-48CD-9F60-80EC6A891C76}"/>
              </a:ext>
            </a:extLst>
          </p:cNvPr>
          <p:cNvSpPr/>
          <p:nvPr/>
        </p:nvSpPr>
        <p:spPr>
          <a:xfrm>
            <a:off x="964075" y="5440223"/>
            <a:ext cx="50508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λ </a:t>
            </a:r>
            <a:r>
              <a:rPr lang="ru-RU" sz="2000" dirty="0">
                <a:solidFill>
                  <a:schemeClr val="accent2"/>
                </a:solidFill>
              </a:rPr>
              <a:t>– интенсивность наступления событий в потоке (интенсивность потока)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1954D18-B691-4473-8EC2-D833D61D71EF}"/>
              </a:ext>
            </a:extLst>
          </p:cNvPr>
          <p:cNvSpPr/>
          <p:nvPr/>
        </p:nvSpPr>
        <p:spPr>
          <a:xfrm>
            <a:off x="6156962" y="4256256"/>
            <a:ext cx="54266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900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ru-RU" sz="2000" dirty="0"/>
              <a:t>Число событий в интервале не зависит от числа событий, наступивших в других интервалах, которые с ним не пересекаются</a:t>
            </a:r>
            <a:r>
              <a:rPr lang="en-US" sz="2000" dirty="0"/>
              <a:t>.</a:t>
            </a:r>
            <a:endParaRPr lang="ru-RU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060B1E-7B76-45CF-BD7D-66D6EB520C0C}"/>
              </a:ext>
            </a:extLst>
          </p:cNvPr>
          <p:cNvSpPr/>
          <p:nvPr/>
        </p:nvSpPr>
        <p:spPr>
          <a:xfrm>
            <a:off x="8745223" y="998007"/>
            <a:ext cx="34467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+mj-lt"/>
              </a:rPr>
              <a:t> - </a:t>
            </a:r>
            <a:r>
              <a:rPr lang="ru-RU" sz="4000" dirty="0">
                <a:latin typeface="+mj-lt"/>
              </a:rPr>
              <a:t>определения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CB749-0790-43A3-B3AE-9DE220BB1616}"/>
              </a:ext>
            </a:extLst>
          </p:cNvPr>
          <p:cNvSpPr txBox="1"/>
          <p:nvPr/>
        </p:nvSpPr>
        <p:spPr>
          <a:xfrm>
            <a:off x="6546234" y="5271919"/>
            <a:ext cx="40030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Вероятность наступления события </a:t>
            </a:r>
            <a:br>
              <a:rPr lang="ru-RU" sz="2000" dirty="0"/>
            </a:br>
            <a:r>
              <a:rPr lang="ru-RU" sz="2000" dirty="0"/>
              <a:t>на интервале длины</a:t>
            </a:r>
            <a:r>
              <a:rPr lang="en-US" sz="2000" dirty="0"/>
              <a:t> </a:t>
            </a:r>
            <a:r>
              <a:rPr lang="el-GR" sz="2000" dirty="0"/>
              <a:t>Δ</a:t>
            </a:r>
            <a:r>
              <a:rPr lang="en-US" sz="2000" i="1" dirty="0"/>
              <a:t>t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F1DBEB9-6096-48D5-8AE4-1DE348E8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690" y="5975791"/>
            <a:ext cx="1445997" cy="34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3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build="p"/>
      <p:bldP spid="6" grpId="0" build="p"/>
      <p:bldP spid="7" grpId="0" build="p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9DB90E-1D10-4FE2-BA6A-3D6DD6E9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Моделирование простейшего 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820A34-FDFE-4F72-9CCA-DF5B8CDB9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5734"/>
            <a:ext cx="3825551" cy="118671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solidFill>
                  <a:schemeClr val="accent2"/>
                </a:solidFill>
              </a:rPr>
              <a:t>Главное свойство интервалов в простейшем потоке:</a:t>
            </a:r>
            <a:endParaRPr lang="en-US" b="1" dirty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ru-RU" dirty="0"/>
              <a:t>их длины имеют экспоненциальное распределение с параметром </a:t>
            </a:r>
            <a:r>
              <a:rPr lang="el-GR" dirty="0"/>
              <a:t>λ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786221-FB6A-4CA8-ACFA-F9B101C2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551" y="2379437"/>
            <a:ext cx="8266435" cy="382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FC585A-DADA-4E84-85F7-7C9EB2FA8C38}"/>
              </a:ext>
            </a:extLst>
          </p:cNvPr>
          <p:cNvSpPr txBox="1"/>
          <p:nvPr/>
        </p:nvSpPr>
        <p:spPr>
          <a:xfrm>
            <a:off x="0" y="3032449"/>
            <a:ext cx="382555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solidFill>
                  <a:schemeClr val="accent2"/>
                </a:solidFill>
              </a:rPr>
              <a:t>Главное свойство интервалов с экспоненциальным распределением длин: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ru-RU" sz="2000" dirty="0"/>
              <a:t>вы можете выбрать произвольную точку на оси времени, оставшееся время до наступления следующего события будет иметь </a:t>
            </a:r>
            <a:r>
              <a:rPr lang="ru-RU" sz="2000" b="1" dirty="0"/>
              <a:t>экспоненциальное распределение с параметром </a:t>
            </a:r>
            <a:r>
              <a:rPr lang="el-GR" sz="2000" b="1" dirty="0"/>
              <a:t>λ</a:t>
            </a:r>
            <a:r>
              <a:rPr lang="en-US" sz="2000" b="1" dirty="0"/>
              <a:t>.</a:t>
            </a:r>
            <a:endParaRPr lang="ru-RU" sz="2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39A042-4207-438E-A9A7-8FE85B4F0A16}"/>
              </a:ext>
            </a:extLst>
          </p:cNvPr>
          <p:cNvSpPr/>
          <p:nvPr/>
        </p:nvSpPr>
        <p:spPr>
          <a:xfrm>
            <a:off x="5990254" y="2130973"/>
            <a:ext cx="5001208" cy="32621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Моделирование </a:t>
            </a:r>
            <a:br>
              <a:rPr lang="ru-RU" sz="2400" dirty="0"/>
            </a:br>
            <a:r>
              <a:rPr lang="ru-RU" sz="2400" dirty="0"/>
              <a:t>простейшего потока</a:t>
            </a:r>
            <a:r>
              <a:rPr lang="en-US" sz="2400" dirty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/>
              <a:t>t</a:t>
            </a:r>
            <a:r>
              <a:rPr lang="en-US" sz="2400" baseline="-25000" dirty="0"/>
              <a:t>0</a:t>
            </a:r>
            <a:r>
              <a:rPr lang="en-US" sz="2400" dirty="0"/>
              <a:t> </a:t>
            </a:r>
            <a:r>
              <a:rPr lang="ru-RU" sz="2400" dirty="0"/>
              <a:t>дано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3B3C4C-E1A1-49C7-AFE2-75284FE9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944" y="3986701"/>
            <a:ext cx="2269827" cy="88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7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67FA3-7520-42DE-BA9B-3E63D5BB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Рекуррентный поток событий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DACE974-A840-426D-B457-6AC0B794D9CB}"/>
              </a:ext>
            </a:extLst>
          </p:cNvPr>
          <p:cNvCxnSpPr/>
          <p:nvPr/>
        </p:nvCxnSpPr>
        <p:spPr>
          <a:xfrm>
            <a:off x="1585519" y="3355596"/>
            <a:ext cx="8858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9C050DC-2BDB-4282-A61F-216EC2BB51DC}"/>
              </a:ext>
            </a:extLst>
          </p:cNvPr>
          <p:cNvSpPr txBox="1"/>
          <p:nvPr/>
        </p:nvSpPr>
        <p:spPr>
          <a:xfrm>
            <a:off x="9999678" y="3429000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время</a:t>
            </a:r>
          </a:p>
        </p:txBody>
      </p:sp>
      <p:sp>
        <p:nvSpPr>
          <p:cNvPr id="17" name="Знак умножения 16">
            <a:extLst>
              <a:ext uri="{FF2B5EF4-FFF2-40B4-BE49-F238E27FC236}">
                <a16:creationId xmlns:a16="http://schemas.microsoft.com/office/drawing/2014/main" id="{075F5276-36DF-4CF9-8E48-88C5D3855618}"/>
              </a:ext>
            </a:extLst>
          </p:cNvPr>
          <p:cNvSpPr/>
          <p:nvPr/>
        </p:nvSpPr>
        <p:spPr>
          <a:xfrm>
            <a:off x="2273414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Знак умножения 18">
            <a:extLst>
              <a:ext uri="{FF2B5EF4-FFF2-40B4-BE49-F238E27FC236}">
                <a16:creationId xmlns:a16="http://schemas.microsoft.com/office/drawing/2014/main" id="{52C83AED-33B7-45D3-BFA1-BC893FBD0FB8}"/>
              </a:ext>
            </a:extLst>
          </p:cNvPr>
          <p:cNvSpPr/>
          <p:nvPr/>
        </p:nvSpPr>
        <p:spPr>
          <a:xfrm>
            <a:off x="3130491" y="3292102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нак умножения 19">
            <a:extLst>
              <a:ext uri="{FF2B5EF4-FFF2-40B4-BE49-F238E27FC236}">
                <a16:creationId xmlns:a16="http://schemas.microsoft.com/office/drawing/2014/main" id="{12BAE56B-63A8-4B38-9B73-7C8306CA1EF6}"/>
              </a:ext>
            </a:extLst>
          </p:cNvPr>
          <p:cNvSpPr/>
          <p:nvPr/>
        </p:nvSpPr>
        <p:spPr>
          <a:xfrm>
            <a:off x="3414319" y="3292101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нак умножения 20">
            <a:extLst>
              <a:ext uri="{FF2B5EF4-FFF2-40B4-BE49-F238E27FC236}">
                <a16:creationId xmlns:a16="http://schemas.microsoft.com/office/drawing/2014/main" id="{A8561685-471C-46CA-9192-181E6C65FE8B}"/>
              </a:ext>
            </a:extLst>
          </p:cNvPr>
          <p:cNvSpPr/>
          <p:nvPr/>
        </p:nvSpPr>
        <p:spPr>
          <a:xfrm>
            <a:off x="4716359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Знак умножения 21">
            <a:extLst>
              <a:ext uri="{FF2B5EF4-FFF2-40B4-BE49-F238E27FC236}">
                <a16:creationId xmlns:a16="http://schemas.microsoft.com/office/drawing/2014/main" id="{B0E2F6AC-114B-44F6-82DA-8AAB4B0C88B3}"/>
              </a:ext>
            </a:extLst>
          </p:cNvPr>
          <p:cNvSpPr/>
          <p:nvPr/>
        </p:nvSpPr>
        <p:spPr>
          <a:xfrm>
            <a:off x="5317920" y="3283708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Знак умножения 22">
            <a:extLst>
              <a:ext uri="{FF2B5EF4-FFF2-40B4-BE49-F238E27FC236}">
                <a16:creationId xmlns:a16="http://schemas.microsoft.com/office/drawing/2014/main" id="{9C831DB2-BAF1-49C0-8813-3145B28B8B8C}"/>
              </a:ext>
            </a:extLst>
          </p:cNvPr>
          <p:cNvSpPr/>
          <p:nvPr/>
        </p:nvSpPr>
        <p:spPr>
          <a:xfrm>
            <a:off x="7536110" y="3283703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нак умножения 23">
            <a:extLst>
              <a:ext uri="{FF2B5EF4-FFF2-40B4-BE49-F238E27FC236}">
                <a16:creationId xmlns:a16="http://schemas.microsoft.com/office/drawing/2014/main" id="{F38789C0-EB27-4D07-818E-25279D8DF91C}"/>
              </a:ext>
            </a:extLst>
          </p:cNvPr>
          <p:cNvSpPr/>
          <p:nvPr/>
        </p:nvSpPr>
        <p:spPr>
          <a:xfrm>
            <a:off x="8064614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Знак умножения 24">
            <a:extLst>
              <a:ext uri="{FF2B5EF4-FFF2-40B4-BE49-F238E27FC236}">
                <a16:creationId xmlns:a16="http://schemas.microsoft.com/office/drawing/2014/main" id="{A30FF847-52CE-4004-AE38-AB08110FDBA9}"/>
              </a:ext>
            </a:extLst>
          </p:cNvPr>
          <p:cNvSpPr/>
          <p:nvPr/>
        </p:nvSpPr>
        <p:spPr>
          <a:xfrm>
            <a:off x="8347045" y="3283707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нак умножения 25">
            <a:extLst>
              <a:ext uri="{FF2B5EF4-FFF2-40B4-BE49-F238E27FC236}">
                <a16:creationId xmlns:a16="http://schemas.microsoft.com/office/drawing/2014/main" id="{3307C8C8-7CC5-44A6-A0C7-6283887CEE2E}"/>
              </a:ext>
            </a:extLst>
          </p:cNvPr>
          <p:cNvSpPr/>
          <p:nvPr/>
        </p:nvSpPr>
        <p:spPr>
          <a:xfrm>
            <a:off x="9395669" y="3283703"/>
            <a:ext cx="142613" cy="12698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блачко с текстом: прямоугольное со скругленными углами 26">
            <a:extLst>
              <a:ext uri="{FF2B5EF4-FFF2-40B4-BE49-F238E27FC236}">
                <a16:creationId xmlns:a16="http://schemas.microsoft.com/office/drawing/2014/main" id="{C8A1E95D-E268-44DA-ACA2-99D0ED3C6899}"/>
              </a:ext>
            </a:extLst>
          </p:cNvPr>
          <p:cNvSpPr/>
          <p:nvPr/>
        </p:nvSpPr>
        <p:spPr>
          <a:xfrm>
            <a:off x="3963445" y="4446165"/>
            <a:ext cx="1648440" cy="855650"/>
          </a:xfrm>
          <a:prstGeom prst="wedgeRoundRectCallout">
            <a:avLst>
              <a:gd name="adj1" fmla="val 15299"/>
              <a:gd name="adj2" fmla="val -4926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моменты наступления событий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72243CBF-0E3B-4234-B2FD-B114E777BF2C}"/>
              </a:ext>
            </a:extLst>
          </p:cNvPr>
          <p:cNvCxnSpPr/>
          <p:nvPr/>
        </p:nvCxnSpPr>
        <p:spPr>
          <a:xfrm flipH="1" flipV="1">
            <a:off x="2416027" y="3429000"/>
            <a:ext cx="1547418" cy="1017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D3E5D5DB-C8B8-4144-92EE-33C143763B51}"/>
              </a:ext>
            </a:extLst>
          </p:cNvPr>
          <p:cNvCxnSpPr/>
          <p:nvPr/>
        </p:nvCxnSpPr>
        <p:spPr>
          <a:xfrm flipH="1" flipV="1">
            <a:off x="3273104" y="3455789"/>
            <a:ext cx="904613" cy="914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17FA96C-24EE-4EE6-B7CD-0CA4750C2C58}"/>
              </a:ext>
            </a:extLst>
          </p:cNvPr>
          <p:cNvCxnSpPr/>
          <p:nvPr/>
        </p:nvCxnSpPr>
        <p:spPr>
          <a:xfrm flipH="1" flipV="1">
            <a:off x="3556932" y="3480145"/>
            <a:ext cx="778426" cy="910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B0BCA202-8781-4335-A151-281F8CACCE01}"/>
              </a:ext>
            </a:extLst>
          </p:cNvPr>
          <p:cNvCxnSpPr>
            <a:cxnSpLocks/>
          </p:cNvCxnSpPr>
          <p:nvPr/>
        </p:nvCxnSpPr>
        <p:spPr>
          <a:xfrm flipV="1">
            <a:off x="4716359" y="3464653"/>
            <a:ext cx="56977" cy="906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D14305E6-2FA0-470F-8815-DF4284948BDB}"/>
              </a:ext>
            </a:extLst>
          </p:cNvPr>
          <p:cNvCxnSpPr>
            <a:cxnSpLocks/>
          </p:cNvCxnSpPr>
          <p:nvPr/>
        </p:nvCxnSpPr>
        <p:spPr>
          <a:xfrm flipV="1">
            <a:off x="5104350" y="3473042"/>
            <a:ext cx="264604" cy="897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A1D076E-1A32-4127-BE65-B1A7186535E1}"/>
              </a:ext>
            </a:extLst>
          </p:cNvPr>
          <p:cNvCxnSpPr>
            <a:cxnSpLocks/>
          </p:cNvCxnSpPr>
          <p:nvPr/>
        </p:nvCxnSpPr>
        <p:spPr>
          <a:xfrm flipV="1">
            <a:off x="5611885" y="3410690"/>
            <a:ext cx="1924225" cy="103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82964175-77DB-4E22-81A1-ACF3181F70D9}"/>
              </a:ext>
            </a:extLst>
          </p:cNvPr>
          <p:cNvCxnSpPr>
            <a:cxnSpLocks/>
          </p:cNvCxnSpPr>
          <p:nvPr/>
        </p:nvCxnSpPr>
        <p:spPr>
          <a:xfrm flipV="1">
            <a:off x="5705911" y="3447307"/>
            <a:ext cx="2308374" cy="1079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4269842D-AED1-4B79-9166-395E9A07CD43}"/>
              </a:ext>
            </a:extLst>
          </p:cNvPr>
          <p:cNvCxnSpPr>
            <a:cxnSpLocks/>
          </p:cNvCxnSpPr>
          <p:nvPr/>
        </p:nvCxnSpPr>
        <p:spPr>
          <a:xfrm flipV="1">
            <a:off x="5705911" y="3419089"/>
            <a:ext cx="2641134" cy="1220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B417B037-AB2D-42A5-A113-6A4E69D075C1}"/>
              </a:ext>
            </a:extLst>
          </p:cNvPr>
          <p:cNvCxnSpPr>
            <a:cxnSpLocks/>
          </p:cNvCxnSpPr>
          <p:nvPr/>
        </p:nvCxnSpPr>
        <p:spPr>
          <a:xfrm flipV="1">
            <a:off x="5705911" y="3447308"/>
            <a:ext cx="3597480" cy="1309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Левая фигурная скобка 52">
            <a:extLst>
              <a:ext uri="{FF2B5EF4-FFF2-40B4-BE49-F238E27FC236}">
                <a16:creationId xmlns:a16="http://schemas.microsoft.com/office/drawing/2014/main" id="{45B7C42E-2C91-4698-BAE6-141B349E6B80}"/>
              </a:ext>
            </a:extLst>
          </p:cNvPr>
          <p:cNvSpPr/>
          <p:nvPr/>
        </p:nvSpPr>
        <p:spPr>
          <a:xfrm rot="5400000">
            <a:off x="4017047" y="2437589"/>
            <a:ext cx="239195" cy="13020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BF6EC7-46FA-4C11-9AAF-B12B918943DA}"/>
              </a:ext>
            </a:extLst>
          </p:cNvPr>
          <p:cNvSpPr txBox="1"/>
          <p:nvPr/>
        </p:nvSpPr>
        <p:spPr>
          <a:xfrm>
            <a:off x="2273414" y="2333380"/>
            <a:ext cx="3822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интервал между двумя последовательными событиями</a:t>
            </a:r>
          </a:p>
        </p:txBody>
      </p:sp>
      <p:sp>
        <p:nvSpPr>
          <p:cNvPr id="65" name="Объект 2">
            <a:extLst>
              <a:ext uri="{FF2B5EF4-FFF2-40B4-BE49-F238E27FC236}">
                <a16:creationId xmlns:a16="http://schemas.microsoft.com/office/drawing/2014/main" id="{0578AAB5-1695-425E-B751-23C45294236D}"/>
              </a:ext>
            </a:extLst>
          </p:cNvPr>
          <p:cNvSpPr txBox="1">
            <a:spLocks/>
          </p:cNvSpPr>
          <p:nvPr/>
        </p:nvSpPr>
        <p:spPr>
          <a:xfrm>
            <a:off x="1097280" y="5399691"/>
            <a:ext cx="3334010" cy="5522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Моделирование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68A94B-60AF-4197-8EE5-4E8E391DE527}"/>
              </a:ext>
            </a:extLst>
          </p:cNvPr>
          <p:cNvSpPr txBox="1"/>
          <p:nvPr/>
        </p:nvSpPr>
        <p:spPr>
          <a:xfrm>
            <a:off x="4041124" y="5410533"/>
            <a:ext cx="72751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Задается начальный момент времени</a:t>
            </a:r>
            <a:r>
              <a:rPr lang="en-US" dirty="0"/>
              <a:t>. </a:t>
            </a:r>
            <a:br>
              <a:rPr lang="ru-RU" dirty="0"/>
            </a:br>
            <a:r>
              <a:rPr lang="ru-RU" dirty="0"/>
              <a:t>Моделируется интервал времени до наступления следующего события.</a:t>
            </a:r>
          </a:p>
          <a:p>
            <a:r>
              <a:rPr lang="ru-RU" dirty="0"/>
              <a:t>Потом – от него до следующего и т.д.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4F2D6-B180-468A-A08A-6ECBF8944C36}"/>
              </a:ext>
            </a:extLst>
          </p:cNvPr>
          <p:cNvSpPr txBox="1"/>
          <p:nvPr/>
        </p:nvSpPr>
        <p:spPr>
          <a:xfrm>
            <a:off x="6087981" y="2453730"/>
            <a:ext cx="5405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= </a:t>
            </a:r>
            <a:r>
              <a:rPr lang="ru-RU" b="1" dirty="0">
                <a:solidFill>
                  <a:srgbClr val="00B050"/>
                </a:solidFill>
              </a:rPr>
              <a:t>случайная величина с заданным распределением</a:t>
            </a:r>
          </a:p>
        </p:txBody>
      </p:sp>
    </p:spTree>
    <p:extLst>
      <p:ext uri="{BB962C8B-B14F-4D97-AF65-F5344CB8AC3E}">
        <p14:creationId xmlns:p14="http://schemas.microsoft.com/office/powerpoint/2010/main" val="213100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3" grpId="0" animBg="1"/>
      <p:bldP spid="54" grpId="0"/>
      <p:bldP spid="65" grpId="0"/>
      <p:bldP spid="66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A98BEEE-FB94-45E8-AEFA-58065184C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Рекуррентный поток событий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37E5E5-30B9-4137-B4CA-3AD239A9EC76}"/>
              </a:ext>
            </a:extLst>
          </p:cNvPr>
          <p:cNvSpPr/>
          <p:nvPr/>
        </p:nvSpPr>
        <p:spPr>
          <a:xfrm>
            <a:off x="3247054" y="1959429"/>
            <a:ext cx="5001208" cy="25429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/>
              <a:t>МОДЕЛИРОВАНИЕ</a:t>
            </a:r>
            <a:r>
              <a:rPr lang="en-US" sz="2400" dirty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/>
              <a:t>t</a:t>
            </a:r>
            <a:r>
              <a:rPr lang="en-US" sz="2400" baseline="-25000" dirty="0"/>
              <a:t>0</a:t>
            </a:r>
            <a:r>
              <a:rPr lang="en-US" sz="2400" dirty="0"/>
              <a:t> </a:t>
            </a:r>
            <a:r>
              <a:rPr lang="ru-RU" sz="2400" dirty="0"/>
              <a:t>задано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08EDF7-6461-4925-960A-8E42EFFB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579" y="3511721"/>
            <a:ext cx="1606158" cy="511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BEA0B1-7AC6-473B-856F-3928EC3F3556}"/>
              </a:ext>
            </a:extLst>
          </p:cNvPr>
          <p:cNvSpPr txBox="1"/>
          <p:nvPr/>
        </p:nvSpPr>
        <p:spPr>
          <a:xfrm>
            <a:off x="3247054" y="4838321"/>
            <a:ext cx="6269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rgbClr val="00B050"/>
                </a:solidFill>
              </a:rPr>
              <a:t>τ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ru-RU" b="1" dirty="0">
                <a:solidFill>
                  <a:srgbClr val="00B050"/>
                </a:solidFill>
              </a:rPr>
              <a:t>– случайная величина с заданным распределением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20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24F3D-E0DC-465E-95A6-7FFC3FFB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171496" cy="1450757"/>
          </a:xfrm>
        </p:spPr>
        <p:txBody>
          <a:bodyPr/>
          <a:lstStyle/>
          <a:p>
            <a:r>
              <a:rPr lang="ru-RU" dirty="0"/>
              <a:t>Нестационарный пуассоновский поток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EBD8B6-9BBC-46B9-9322-8DC1CFDBC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Стационарный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C2B34-947B-490F-B696-E9621CF75C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Независимость</a:t>
            </a:r>
            <a:r>
              <a:rPr lang="en-US" dirty="0"/>
              <a:t>: </a:t>
            </a:r>
            <a:r>
              <a:rPr lang="ru-RU" dirty="0"/>
              <a:t>событий наступают независимо друг от друга</a:t>
            </a:r>
            <a:r>
              <a:rPr lang="en-US" dirty="0"/>
              <a:t>.</a:t>
            </a:r>
          </a:p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Ординарность</a:t>
            </a:r>
            <a:r>
              <a:rPr lang="en-US" dirty="0"/>
              <a:t>: </a:t>
            </a:r>
            <a:r>
              <a:rPr lang="ru-RU" dirty="0"/>
              <a:t>только одно событие может наступить в один момент времени</a:t>
            </a:r>
            <a:r>
              <a:rPr lang="en-US" dirty="0"/>
              <a:t>. </a:t>
            </a:r>
          </a:p>
          <a:p>
            <a:pPr marL="3600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Стационарность</a:t>
            </a:r>
            <a:r>
              <a:rPr lang="en-US" dirty="0"/>
              <a:t>: </a:t>
            </a:r>
            <a:r>
              <a:rPr lang="ru-RU" dirty="0"/>
              <a:t>число событий, которые наступят в некотором интервале времени, не зависит от начальной точки интервала (а только от его длины)</a:t>
            </a:r>
            <a:r>
              <a:rPr lang="en-US" dirty="0"/>
              <a:t>.</a:t>
            </a:r>
          </a:p>
        </p:txBody>
      </p:sp>
      <p:sp>
        <p:nvSpPr>
          <p:cNvPr id="16" name="Знак умножения 15">
            <a:extLst>
              <a:ext uri="{FF2B5EF4-FFF2-40B4-BE49-F238E27FC236}">
                <a16:creationId xmlns:a16="http://schemas.microsoft.com/office/drawing/2014/main" id="{7718F5D4-5015-44C1-A3E7-C268CF3DB3F6}"/>
              </a:ext>
            </a:extLst>
          </p:cNvPr>
          <p:cNvSpPr/>
          <p:nvPr/>
        </p:nvSpPr>
        <p:spPr>
          <a:xfrm>
            <a:off x="1593908" y="3657601"/>
            <a:ext cx="3422708" cy="1812022"/>
          </a:xfrm>
          <a:prstGeom prst="mathMultiply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Левая фигурная скобка 16">
            <a:extLst>
              <a:ext uri="{FF2B5EF4-FFF2-40B4-BE49-F238E27FC236}">
                <a16:creationId xmlns:a16="http://schemas.microsoft.com/office/drawing/2014/main" id="{CE995FEC-038C-43A7-917C-EF4A7DE4A5E0}"/>
              </a:ext>
            </a:extLst>
          </p:cNvPr>
          <p:cNvSpPr/>
          <p:nvPr/>
        </p:nvSpPr>
        <p:spPr>
          <a:xfrm rot="10800000">
            <a:off x="5977497" y="2533474"/>
            <a:ext cx="411061" cy="14507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39074-C30D-4069-A48F-1136635CF2B1}"/>
              </a:ext>
            </a:extLst>
          </p:cNvPr>
          <p:cNvSpPr txBox="1"/>
          <p:nvPr/>
        </p:nvSpPr>
        <p:spPr>
          <a:xfrm>
            <a:off x="6388558" y="3058797"/>
            <a:ext cx="41314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 </a:t>
            </a:r>
            <a:r>
              <a:rPr lang="ru-RU" sz="2000" dirty="0"/>
              <a:t>вероятность наступления </a:t>
            </a:r>
            <a:br>
              <a:rPr lang="ru-RU" sz="2000" dirty="0"/>
            </a:br>
            <a:r>
              <a:rPr lang="ru-RU" sz="2000" dirty="0"/>
              <a:t>   события на интервале</a:t>
            </a:r>
            <a:r>
              <a:rPr lang="en-US" sz="2000" dirty="0"/>
              <a:t> [</a:t>
            </a:r>
            <a:r>
              <a:rPr lang="en-US" sz="2000" i="1" dirty="0"/>
              <a:t>t</a:t>
            </a:r>
            <a:r>
              <a:rPr lang="en-US" sz="2000" dirty="0"/>
              <a:t>; </a:t>
            </a:r>
            <a:r>
              <a:rPr lang="en-US" sz="2000" i="1" dirty="0"/>
              <a:t>t</a:t>
            </a:r>
            <a:r>
              <a:rPr lang="en-US" sz="2000" dirty="0"/>
              <a:t> + </a:t>
            </a:r>
            <a:r>
              <a:rPr lang="el-GR" sz="2000" dirty="0"/>
              <a:t>Δ</a:t>
            </a:r>
            <a:r>
              <a:rPr lang="en-US" sz="2000" i="1" dirty="0"/>
              <a:t>t</a:t>
            </a:r>
            <a:r>
              <a:rPr lang="en-US" sz="2000" dirty="0"/>
              <a:t>]:</a:t>
            </a:r>
            <a:endParaRPr lang="ru-RU" sz="2000" dirty="0"/>
          </a:p>
        </p:txBody>
      </p:sp>
      <p:sp>
        <p:nvSpPr>
          <p:cNvPr id="20" name="Равно 19">
            <a:extLst>
              <a:ext uri="{FF2B5EF4-FFF2-40B4-BE49-F238E27FC236}">
                <a16:creationId xmlns:a16="http://schemas.microsoft.com/office/drawing/2014/main" id="{82280A1D-FD33-4245-907B-E12961E31A88}"/>
              </a:ext>
            </a:extLst>
          </p:cNvPr>
          <p:cNvSpPr/>
          <p:nvPr/>
        </p:nvSpPr>
        <p:spPr>
          <a:xfrm rot="5400000">
            <a:off x="8644214" y="4092406"/>
            <a:ext cx="653143" cy="55462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7985AC7-B301-4259-8E18-80D230C3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516" y="3429000"/>
            <a:ext cx="1716407" cy="3446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8DF99B-6A71-4599-BB0F-C6C0171C14B0}"/>
              </a:ext>
            </a:extLst>
          </p:cNvPr>
          <p:cNvSpPr txBox="1"/>
          <p:nvPr/>
        </p:nvSpPr>
        <p:spPr>
          <a:xfrm>
            <a:off x="6553538" y="4857287"/>
            <a:ext cx="5383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нестационарный пуассоновский поток</a:t>
            </a:r>
          </a:p>
        </p:txBody>
      </p:sp>
    </p:spTree>
    <p:extLst>
      <p:ext uri="{BB962C8B-B14F-4D97-AF65-F5344CB8AC3E}">
        <p14:creationId xmlns:p14="http://schemas.microsoft.com/office/powerpoint/2010/main" val="397138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uiExpand="1" build="p"/>
      <p:bldP spid="16" grpId="0" animBg="1"/>
      <p:bldP spid="17" grpId="0" animBg="1"/>
      <p:bldP spid="18" grpId="0"/>
      <p:bldP spid="20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8963A-DAC2-4D2D-AA43-11BE49DA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94359"/>
            <a:ext cx="3448975" cy="2286000"/>
          </a:xfrm>
        </p:spPr>
        <p:txBody>
          <a:bodyPr/>
          <a:lstStyle/>
          <a:p>
            <a:r>
              <a:rPr lang="ru-RU" dirty="0"/>
              <a:t>Нестационарный пуассоновский поток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B28E58D9-D36C-4F32-A67F-EF6A3843D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429000"/>
            <a:ext cx="3200400" cy="2876203"/>
          </a:xfrm>
        </p:spPr>
        <p:txBody>
          <a:bodyPr>
            <a:normAutofit/>
          </a:bodyPr>
          <a:lstStyle/>
          <a:p>
            <a:r>
              <a:rPr lang="ru-RU" sz="2000" b="1" dirty="0"/>
              <a:t>МОДЕЛИРОВАНИЕ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8BCEF16-687C-4421-9A78-50704D5AA88D}"/>
              </a:ext>
            </a:extLst>
          </p:cNvPr>
          <p:cNvCxnSpPr/>
          <p:nvPr/>
        </p:nvCxnSpPr>
        <p:spPr>
          <a:xfrm>
            <a:off x="457200" y="3237722"/>
            <a:ext cx="29204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2A0300-F7A6-56C0-D529-1A9B00716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506" y="97654"/>
            <a:ext cx="6139959" cy="68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5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2EABC-6E8D-4EA6-8F07-7AEF01FC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283894" cy="145075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Статистическая обработка результатов моделирования случайных потоков событий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9F2EEC-5840-4FB8-AE53-D317156DED5A}"/>
              </a:ext>
            </a:extLst>
          </p:cNvPr>
          <p:cNvSpPr txBox="1"/>
          <p:nvPr/>
        </p:nvSpPr>
        <p:spPr>
          <a:xfrm>
            <a:off x="1272351" y="2225556"/>
            <a:ext cx="673133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Что мы можем исследовать</a:t>
            </a:r>
            <a:r>
              <a:rPr lang="en-US" sz="2000" b="1" dirty="0">
                <a:solidFill>
                  <a:schemeClr val="accent2"/>
                </a:solidFill>
              </a:rPr>
              <a:t>:</a:t>
            </a:r>
          </a:p>
          <a:p>
            <a:endParaRPr lang="en-US" sz="2000" b="1" dirty="0">
              <a:solidFill>
                <a:schemeClr val="accent2"/>
              </a:solidFill>
            </a:endParaRPr>
          </a:p>
          <a:p>
            <a:pPr marL="539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accent2"/>
                </a:solidFill>
              </a:rPr>
              <a:t>длины интервалов между событиями </a:t>
            </a:r>
            <a:r>
              <a:rPr lang="ru-RU" sz="2000" dirty="0">
                <a:solidFill>
                  <a:schemeClr val="accent2"/>
                </a:solidFill>
              </a:rPr>
              <a:t>τ</a:t>
            </a:r>
            <a:r>
              <a:rPr lang="en-US" sz="2000" i="1" baseline="-25000" dirty="0">
                <a:solidFill>
                  <a:schemeClr val="accent2"/>
                </a:solidFill>
              </a:rPr>
              <a:t>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2"/>
              </a:solidFill>
            </a:endParaRPr>
          </a:p>
          <a:p>
            <a:pPr marL="539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accent2"/>
                </a:solidFill>
              </a:rPr>
              <a:t>число событий в интервалах фиксированной длины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b="1" i="1" dirty="0">
                <a:solidFill>
                  <a:schemeClr val="accent2"/>
                </a:solidFill>
              </a:rPr>
              <a:t>T</a:t>
            </a:r>
            <a:endParaRPr lang="ru-RU" sz="2000" b="1" i="1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BD9DB-3477-4613-826D-A313D4A8642E}"/>
              </a:ext>
            </a:extLst>
          </p:cNvPr>
          <p:cNvSpPr txBox="1"/>
          <p:nvPr/>
        </p:nvSpPr>
        <p:spPr>
          <a:xfrm>
            <a:off x="9948926" y="2853382"/>
            <a:ext cx="1992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непрерывная СВ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19ED3-2955-4EF0-AFDB-33AFB230F3B0}"/>
              </a:ext>
            </a:extLst>
          </p:cNvPr>
          <p:cNvSpPr txBox="1"/>
          <p:nvPr/>
        </p:nvSpPr>
        <p:spPr>
          <a:xfrm>
            <a:off x="9948926" y="3429000"/>
            <a:ext cx="1770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дискретная</a:t>
            </a:r>
            <a:r>
              <a:rPr lang="en-US" sz="2000" dirty="0"/>
              <a:t> </a:t>
            </a:r>
            <a:r>
              <a:rPr lang="ru-RU" sz="2000" dirty="0"/>
              <a:t>СВ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FD1CF12-3F51-47AE-9BCB-EE2AF0280B27}"/>
              </a:ext>
            </a:extLst>
          </p:cNvPr>
          <p:cNvCxnSpPr>
            <a:cxnSpLocks/>
          </p:cNvCxnSpPr>
          <p:nvPr/>
        </p:nvCxnSpPr>
        <p:spPr>
          <a:xfrm>
            <a:off x="6489915" y="3053437"/>
            <a:ext cx="3396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40352B00-2F4D-44CE-BAE1-61C2BB731C43}"/>
              </a:ext>
            </a:extLst>
          </p:cNvPr>
          <p:cNvCxnSpPr>
            <a:cxnSpLocks/>
          </p:cNvCxnSpPr>
          <p:nvPr/>
        </p:nvCxnSpPr>
        <p:spPr>
          <a:xfrm>
            <a:off x="8229600" y="3641328"/>
            <a:ext cx="16566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7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3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E1AFA09-4F37-4782-B171-00EA75546EDA}"/>
              </a:ext>
            </a:extLst>
          </p:cNvPr>
          <p:cNvSpPr/>
          <p:nvPr/>
        </p:nvSpPr>
        <p:spPr>
          <a:xfrm>
            <a:off x="7637417" y="69669"/>
            <a:ext cx="4241074" cy="65017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2EABC-6E8D-4EA6-8F07-7AEF01FC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0"/>
            <a:ext cx="6158185" cy="2405849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Статистическая обработка результатов моделирования случайных потоков событий:</a:t>
            </a:r>
            <a:br>
              <a:rPr lang="ru-RU" dirty="0"/>
            </a:br>
            <a:r>
              <a:rPr lang="ru-RU" b="1" dirty="0"/>
              <a:t>число событий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CDDA9-046D-414A-856E-0DA7D5520C08}"/>
              </a:ext>
            </a:extLst>
          </p:cNvPr>
          <p:cNvSpPr txBox="1"/>
          <p:nvPr/>
        </p:nvSpPr>
        <p:spPr>
          <a:xfrm>
            <a:off x="1185551" y="2721957"/>
            <a:ext cx="132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Алгоритм</a:t>
            </a:r>
            <a:r>
              <a:rPr lang="en-US" b="1" dirty="0">
                <a:solidFill>
                  <a:schemeClr val="accent2"/>
                </a:solidFill>
              </a:rPr>
              <a:t> 1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A4F7B-42E7-4F35-87F9-35942A479DBA}"/>
              </a:ext>
            </a:extLst>
          </p:cNvPr>
          <p:cNvSpPr txBox="1"/>
          <p:nvPr/>
        </p:nvSpPr>
        <p:spPr>
          <a:xfrm>
            <a:off x="9096437" y="642649"/>
            <a:ext cx="11769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Дано</a:t>
            </a:r>
            <a:r>
              <a:rPr lang="en-US" dirty="0"/>
              <a:t>: N, 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A8CDC-5ED7-470E-A613-AA0FC62E3EEE}"/>
              </a:ext>
            </a:extLst>
          </p:cNvPr>
          <p:cNvSpPr txBox="1"/>
          <p:nvPr/>
        </p:nvSpPr>
        <p:spPr>
          <a:xfrm>
            <a:off x="9347906" y="1388012"/>
            <a:ext cx="6896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k := 0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C9636-50A9-429F-A0C7-ABF278B1F74A}"/>
              </a:ext>
            </a:extLst>
          </p:cNvPr>
          <p:cNvSpPr txBox="1"/>
          <p:nvPr/>
        </p:nvSpPr>
        <p:spPr>
          <a:xfrm>
            <a:off x="8131917" y="2131815"/>
            <a:ext cx="3139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/>
              <a:t>Моделируем поток в течение </a:t>
            </a:r>
            <a:br>
              <a:rPr lang="ru-RU" dirty="0"/>
            </a:br>
            <a:r>
              <a:rPr lang="ru-RU" dirty="0"/>
              <a:t>времени</a:t>
            </a:r>
            <a:r>
              <a:rPr lang="en-US" dirty="0"/>
              <a:t> T </a:t>
            </a:r>
            <a:r>
              <a:rPr lang="ru-RU" dirty="0"/>
              <a:t> </a:t>
            </a:r>
            <a:r>
              <a:rPr lang="en-US" dirty="0"/>
              <a:t>-&gt; </a:t>
            </a:r>
            <a:r>
              <a:rPr lang="ru-RU" dirty="0"/>
              <a:t>число событий</a:t>
            </a:r>
            <a:r>
              <a:rPr lang="en-US" dirty="0"/>
              <a:t> i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E2CF7-56DE-4222-BA06-BBB68C04DA7A}"/>
              </a:ext>
            </a:extLst>
          </p:cNvPr>
          <p:cNvSpPr txBox="1"/>
          <p:nvPr/>
        </p:nvSpPr>
        <p:spPr>
          <a:xfrm>
            <a:off x="8740496" y="3143794"/>
            <a:ext cx="203491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Freq[i] := Freq[i] + 1</a:t>
            </a:r>
          </a:p>
          <a:p>
            <a:r>
              <a:rPr lang="en-US" dirty="0"/>
              <a:t>k := k + 1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2BBA3-B0AD-4F42-AD9B-82606E6F61D6}"/>
              </a:ext>
            </a:extLst>
          </p:cNvPr>
          <p:cNvSpPr txBox="1"/>
          <p:nvPr/>
        </p:nvSpPr>
        <p:spPr>
          <a:xfrm>
            <a:off x="8631492" y="5367999"/>
            <a:ext cx="225292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for each i</a:t>
            </a:r>
            <a:br>
              <a:rPr lang="en-US" dirty="0"/>
            </a:br>
            <a:r>
              <a:rPr lang="en-US" dirty="0"/>
              <a:t>    Freq[i] := Freq[i] / N</a:t>
            </a:r>
            <a:endParaRPr lang="ru-RU" dirty="0"/>
          </a:p>
        </p:txBody>
      </p:sp>
      <p:sp>
        <p:nvSpPr>
          <p:cNvPr id="9" name="Ромб 8">
            <a:extLst>
              <a:ext uri="{FF2B5EF4-FFF2-40B4-BE49-F238E27FC236}">
                <a16:creationId xmlns:a16="http://schemas.microsoft.com/office/drawing/2014/main" id="{FB273D70-9492-4E27-864B-A606E9091751}"/>
              </a:ext>
            </a:extLst>
          </p:cNvPr>
          <p:cNvSpPr/>
          <p:nvPr/>
        </p:nvSpPr>
        <p:spPr>
          <a:xfrm>
            <a:off x="8888591" y="4038991"/>
            <a:ext cx="1625636" cy="6463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 &lt; N</a:t>
            </a:r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82092A5-CAE3-4AB9-B7EF-E75E5DB55C68}"/>
              </a:ext>
            </a:extLst>
          </p:cNvPr>
          <p:cNvCxnSpPr>
            <a:cxnSpLocks/>
          </p:cNvCxnSpPr>
          <p:nvPr/>
        </p:nvCxnSpPr>
        <p:spPr>
          <a:xfrm flipH="1">
            <a:off x="7830500" y="4362156"/>
            <a:ext cx="105809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80FB220-06FB-4A02-AA6F-536001F951CB}"/>
              </a:ext>
            </a:extLst>
          </p:cNvPr>
          <p:cNvCxnSpPr>
            <a:cxnSpLocks/>
          </p:cNvCxnSpPr>
          <p:nvPr/>
        </p:nvCxnSpPr>
        <p:spPr>
          <a:xfrm>
            <a:off x="7830500" y="1936818"/>
            <a:ext cx="0" cy="242533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E801EDB-4221-4F01-846A-12622916DE29}"/>
              </a:ext>
            </a:extLst>
          </p:cNvPr>
          <p:cNvCxnSpPr>
            <a:cxnSpLocks/>
          </p:cNvCxnSpPr>
          <p:nvPr/>
        </p:nvCxnSpPr>
        <p:spPr>
          <a:xfrm flipH="1">
            <a:off x="10514227" y="4362156"/>
            <a:ext cx="8839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62CDC50-EF95-472C-8189-33BE29D3DE2C}"/>
              </a:ext>
            </a:extLst>
          </p:cNvPr>
          <p:cNvCxnSpPr>
            <a:cxnSpLocks/>
          </p:cNvCxnSpPr>
          <p:nvPr/>
        </p:nvCxnSpPr>
        <p:spPr>
          <a:xfrm>
            <a:off x="11398147" y="4362156"/>
            <a:ext cx="0" cy="60072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98AFF05-CDAB-4D8A-8E11-703DB236335F}"/>
              </a:ext>
            </a:extLst>
          </p:cNvPr>
          <p:cNvCxnSpPr>
            <a:cxnSpLocks/>
          </p:cNvCxnSpPr>
          <p:nvPr/>
        </p:nvCxnSpPr>
        <p:spPr>
          <a:xfrm flipH="1">
            <a:off x="9692712" y="4958693"/>
            <a:ext cx="170543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DA53425-5533-429C-9CA2-B29F696CA626}"/>
              </a:ext>
            </a:extLst>
          </p:cNvPr>
          <p:cNvCxnSpPr/>
          <p:nvPr/>
        </p:nvCxnSpPr>
        <p:spPr>
          <a:xfrm>
            <a:off x="9701409" y="1011981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8F0D9D8-A802-4C6B-9D50-C9AFE19931B7}"/>
              </a:ext>
            </a:extLst>
          </p:cNvPr>
          <p:cNvCxnSpPr/>
          <p:nvPr/>
        </p:nvCxnSpPr>
        <p:spPr>
          <a:xfrm>
            <a:off x="9697115" y="1775770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493E40A-B465-460A-8D6A-E8F4C9CE1D6B}"/>
              </a:ext>
            </a:extLst>
          </p:cNvPr>
          <p:cNvCxnSpPr>
            <a:cxnSpLocks/>
          </p:cNvCxnSpPr>
          <p:nvPr/>
        </p:nvCxnSpPr>
        <p:spPr>
          <a:xfrm>
            <a:off x="7830500" y="1929255"/>
            <a:ext cx="186661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3F3568D9-37BE-46DE-8F25-96A9E25E58E8}"/>
              </a:ext>
            </a:extLst>
          </p:cNvPr>
          <p:cNvCxnSpPr/>
          <p:nvPr/>
        </p:nvCxnSpPr>
        <p:spPr>
          <a:xfrm>
            <a:off x="9697115" y="286604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9682E063-B368-47D1-8FE6-20FE09971C2D}"/>
              </a:ext>
            </a:extLst>
          </p:cNvPr>
          <p:cNvCxnSpPr/>
          <p:nvPr/>
        </p:nvCxnSpPr>
        <p:spPr>
          <a:xfrm>
            <a:off x="9697176" y="6014330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99E2777-791A-472B-9959-534B6A0B9E88}"/>
              </a:ext>
            </a:extLst>
          </p:cNvPr>
          <p:cNvCxnSpPr/>
          <p:nvPr/>
        </p:nvCxnSpPr>
        <p:spPr>
          <a:xfrm>
            <a:off x="9697115" y="2778146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B45F3F4B-8D5E-48D1-B58A-C023121922C7}"/>
              </a:ext>
            </a:extLst>
          </p:cNvPr>
          <p:cNvCxnSpPr>
            <a:cxnSpLocks/>
          </p:cNvCxnSpPr>
          <p:nvPr/>
        </p:nvCxnSpPr>
        <p:spPr>
          <a:xfrm>
            <a:off x="9692712" y="4958693"/>
            <a:ext cx="0" cy="409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8DADC7E9-EDE6-4306-9E58-C59B3A80FB5A}"/>
              </a:ext>
            </a:extLst>
          </p:cNvPr>
          <p:cNvCxnSpPr>
            <a:cxnSpLocks/>
          </p:cNvCxnSpPr>
          <p:nvPr/>
        </p:nvCxnSpPr>
        <p:spPr>
          <a:xfrm>
            <a:off x="9701409" y="3799728"/>
            <a:ext cx="0" cy="2392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D7AFC8A-35EB-459B-9A12-8036F99A34F8}"/>
              </a:ext>
            </a:extLst>
          </p:cNvPr>
          <p:cNvSpPr txBox="1"/>
          <p:nvPr/>
        </p:nvSpPr>
        <p:spPr>
          <a:xfrm>
            <a:off x="8435812" y="4020524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30EBEF-3685-4946-8871-DD0D2D093D01}"/>
              </a:ext>
            </a:extLst>
          </p:cNvPr>
          <p:cNvSpPr txBox="1"/>
          <p:nvPr/>
        </p:nvSpPr>
        <p:spPr>
          <a:xfrm>
            <a:off x="10492363" y="4063496"/>
            <a:ext cx="51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3830960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A63ACA30-2792-429A-B761-86E825010D44}"/>
              </a:ext>
            </a:extLst>
          </p:cNvPr>
          <p:cNvGrpSpPr/>
          <p:nvPr/>
        </p:nvGrpSpPr>
        <p:grpSpPr>
          <a:xfrm>
            <a:off x="7452664" y="108686"/>
            <a:ext cx="4528457" cy="6640628"/>
            <a:chOff x="7452664" y="108686"/>
            <a:chExt cx="4528457" cy="6640628"/>
          </a:xfrm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DE1AFA09-4F37-4782-B171-00EA75546EDA}"/>
                </a:ext>
              </a:extLst>
            </p:cNvPr>
            <p:cNvSpPr/>
            <p:nvPr/>
          </p:nvSpPr>
          <p:spPr>
            <a:xfrm>
              <a:off x="7452664" y="108686"/>
              <a:ext cx="4528457" cy="6640628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1A4F7B-42E7-4F35-87F9-35942A479DBA}"/>
                </a:ext>
              </a:extLst>
            </p:cNvPr>
            <p:cNvSpPr txBox="1"/>
            <p:nvPr/>
          </p:nvSpPr>
          <p:spPr>
            <a:xfrm>
              <a:off x="7949605" y="330624"/>
              <a:ext cx="3690177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Дано</a:t>
              </a:r>
              <a:r>
                <a:rPr lang="en-US" dirty="0"/>
                <a:t>: N, T,</a:t>
              </a:r>
              <a:br>
                <a:rPr lang="en-US" dirty="0"/>
              </a:br>
              <a:r>
                <a:rPr lang="ru-RU" dirty="0"/>
                <a:t>выполнено моделирование потока </a:t>
              </a:r>
              <a:br>
                <a:rPr lang="ru-RU" dirty="0"/>
              </a:br>
              <a:r>
                <a:rPr lang="ru-RU" dirty="0"/>
                <a:t>в течение времени</a:t>
              </a:r>
              <a:r>
                <a:rPr lang="en-US" dirty="0"/>
                <a:t> T1 &gt;&gt; T</a:t>
              </a:r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4A8CDC-5ED7-470E-A613-AA0FC62E3EEE}"/>
                </a:ext>
              </a:extLst>
            </p:cNvPr>
            <p:cNvSpPr txBox="1"/>
            <p:nvPr/>
          </p:nvSpPr>
          <p:spPr>
            <a:xfrm>
              <a:off x="9361041" y="1469905"/>
              <a:ext cx="689612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k := 0</a:t>
              </a:r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3C9636-50A9-429F-A0C7-ABF278B1F74A}"/>
                </a:ext>
              </a:extLst>
            </p:cNvPr>
            <p:cNvSpPr txBox="1"/>
            <p:nvPr/>
          </p:nvSpPr>
          <p:spPr>
            <a:xfrm>
              <a:off x="8172484" y="2087585"/>
              <a:ext cx="307968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 := </a:t>
              </a:r>
              <a:r>
                <a:rPr lang="ru-RU" dirty="0" err="1"/>
                <a:t>РавномернаяСВ</a:t>
              </a:r>
              <a:r>
                <a:rPr lang="en-US" dirty="0"/>
                <a:t>(0, T1 – T)</a:t>
              </a:r>
              <a:endParaRPr lang="ru-RU" dirty="0"/>
            </a:p>
          </p:txBody>
        </p:sp>
        <p:sp>
          <p:nvSpPr>
            <p:cNvPr id="9" name="Ромб 8">
              <a:extLst>
                <a:ext uri="{FF2B5EF4-FFF2-40B4-BE49-F238E27FC236}">
                  <a16:creationId xmlns:a16="http://schemas.microsoft.com/office/drawing/2014/main" id="{FB273D70-9492-4E27-864B-A606E9091751}"/>
                </a:ext>
              </a:extLst>
            </p:cNvPr>
            <p:cNvSpPr/>
            <p:nvPr/>
          </p:nvSpPr>
          <p:spPr>
            <a:xfrm>
              <a:off x="8901723" y="4687507"/>
              <a:ext cx="1625636" cy="64633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 &lt; N</a:t>
              </a:r>
              <a:endParaRPr lang="ru-RU" dirty="0"/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382092A5-CAE3-4AB9-B7EF-E75E5DB55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9460" y="5010672"/>
              <a:ext cx="123226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280FB220-06FB-4A02-AA6F-536001F951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9626" y="1915541"/>
              <a:ext cx="4127" cy="310256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7E801EDB-4221-4F01-846A-12622916DE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359" y="5010672"/>
              <a:ext cx="88392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A62CDC50-EF95-472C-8189-33BE29D3D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411279" y="5010672"/>
              <a:ext cx="0" cy="46909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B98AFF05-CDAB-4D8A-8E11-703DB23633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7257" y="5479770"/>
              <a:ext cx="170543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DDA53425-5533-429C-9CA2-B29F696CA626}"/>
                </a:ext>
              </a:extLst>
            </p:cNvPr>
            <p:cNvCxnSpPr>
              <a:cxnSpLocks/>
            </p:cNvCxnSpPr>
            <p:nvPr/>
          </p:nvCxnSpPr>
          <p:spPr>
            <a:xfrm>
              <a:off x="9712321" y="1260377"/>
              <a:ext cx="0" cy="2095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>
              <a:extLst>
                <a:ext uri="{FF2B5EF4-FFF2-40B4-BE49-F238E27FC236}">
                  <a16:creationId xmlns:a16="http://schemas.microsoft.com/office/drawing/2014/main" id="{48F0D9D8-A802-4C6B-9D50-C9AFE19931B7}"/>
                </a:ext>
              </a:extLst>
            </p:cNvPr>
            <p:cNvCxnSpPr>
              <a:cxnSpLocks/>
            </p:cNvCxnSpPr>
            <p:nvPr/>
          </p:nvCxnSpPr>
          <p:spPr>
            <a:xfrm>
              <a:off x="9712324" y="1839237"/>
              <a:ext cx="0" cy="23982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0493E40A-B465-460A-8D6A-E8F4C9CE1D6B}"/>
                </a:ext>
              </a:extLst>
            </p:cNvPr>
            <p:cNvCxnSpPr>
              <a:cxnSpLocks/>
            </p:cNvCxnSpPr>
            <p:nvPr/>
          </p:nvCxnSpPr>
          <p:spPr>
            <a:xfrm>
              <a:off x="7671537" y="1922425"/>
              <a:ext cx="204078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3F3568D9-37BE-46DE-8F25-96A9E25E58E8}"/>
                </a:ext>
              </a:extLst>
            </p:cNvPr>
            <p:cNvCxnSpPr>
              <a:cxnSpLocks/>
            </p:cNvCxnSpPr>
            <p:nvPr/>
          </p:nvCxnSpPr>
          <p:spPr>
            <a:xfrm>
              <a:off x="9723365" y="120273"/>
              <a:ext cx="0" cy="2036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9682E063-B368-47D1-8FE6-20FE09971C2D}"/>
                </a:ext>
              </a:extLst>
            </p:cNvPr>
            <p:cNvCxnSpPr>
              <a:cxnSpLocks/>
            </p:cNvCxnSpPr>
            <p:nvPr/>
          </p:nvCxnSpPr>
          <p:spPr>
            <a:xfrm>
              <a:off x="9720914" y="6371547"/>
              <a:ext cx="0" cy="26721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B45F3F4B-8D5E-48D1-B58A-C023121922C7}"/>
                </a:ext>
              </a:extLst>
            </p:cNvPr>
            <p:cNvCxnSpPr>
              <a:cxnSpLocks/>
            </p:cNvCxnSpPr>
            <p:nvPr/>
          </p:nvCxnSpPr>
          <p:spPr>
            <a:xfrm>
              <a:off x="9705847" y="5479770"/>
              <a:ext cx="0" cy="25255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8DADC7E9-EDE6-4306-9E58-C59B3A80FB5A}"/>
                </a:ext>
              </a:extLst>
            </p:cNvPr>
            <p:cNvCxnSpPr>
              <a:cxnSpLocks/>
            </p:cNvCxnSpPr>
            <p:nvPr/>
          </p:nvCxnSpPr>
          <p:spPr>
            <a:xfrm>
              <a:off x="9714541" y="4448244"/>
              <a:ext cx="0" cy="2392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4BAC33-0A48-418B-AB24-6C0536A37F20}"/>
                </a:ext>
              </a:extLst>
            </p:cNvPr>
            <p:cNvSpPr txBox="1"/>
            <p:nvPr/>
          </p:nvSpPr>
          <p:spPr>
            <a:xfrm>
              <a:off x="8410498" y="4648773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да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F1023AB-962F-4602-A990-580125A1EABF}"/>
                </a:ext>
              </a:extLst>
            </p:cNvPr>
            <p:cNvSpPr txBox="1"/>
            <p:nvPr/>
          </p:nvSpPr>
          <p:spPr>
            <a:xfrm>
              <a:off x="10467049" y="4691745"/>
              <a:ext cx="512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нет</a:t>
              </a:r>
            </a:p>
          </p:txBody>
        </p:sp>
        <p:cxnSp>
          <p:nvCxnSpPr>
            <p:cNvPr id="40" name="Прямая со стрелкой 39">
              <a:extLst>
                <a:ext uri="{FF2B5EF4-FFF2-40B4-BE49-F238E27FC236}">
                  <a16:creationId xmlns:a16="http://schemas.microsoft.com/office/drawing/2014/main" id="{1E470B86-7513-43F5-8046-BDDC88971584}"/>
                </a:ext>
              </a:extLst>
            </p:cNvPr>
            <p:cNvCxnSpPr>
              <a:cxnSpLocks/>
            </p:cNvCxnSpPr>
            <p:nvPr/>
          </p:nvCxnSpPr>
          <p:spPr>
            <a:xfrm>
              <a:off x="9697257" y="3583109"/>
              <a:ext cx="0" cy="2392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C82444-0603-482C-8BEF-545A3CBE269B}"/>
                </a:ext>
              </a:extLst>
            </p:cNvPr>
            <p:cNvSpPr txBox="1"/>
            <p:nvPr/>
          </p:nvSpPr>
          <p:spPr>
            <a:xfrm>
              <a:off x="8347338" y="2684475"/>
              <a:ext cx="2747162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Посчитать число событий </a:t>
              </a:r>
              <a:br>
                <a:rPr lang="ru-RU" dirty="0"/>
              </a:br>
              <a:r>
                <a:rPr lang="ru-RU" dirty="0"/>
                <a:t>в интервале</a:t>
              </a:r>
              <a:r>
                <a:rPr lang="en-US" dirty="0"/>
                <a:t> [a; a + T]</a:t>
              </a:r>
              <a:r>
                <a:rPr lang="ru-RU" dirty="0"/>
                <a:t> </a:t>
              </a:r>
              <a:br>
                <a:rPr lang="ru-RU" dirty="0"/>
              </a:br>
              <a:r>
                <a:rPr lang="en-US" dirty="0"/>
                <a:t>-&gt; i</a:t>
              </a:r>
              <a:endParaRPr lang="ru-RU" dirty="0"/>
            </a:p>
          </p:txBody>
        </p: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0FF63F10-4CFD-49C0-BA37-01205B731BCB}"/>
                </a:ext>
              </a:extLst>
            </p:cNvPr>
            <p:cNvCxnSpPr>
              <a:cxnSpLocks/>
            </p:cNvCxnSpPr>
            <p:nvPr/>
          </p:nvCxnSpPr>
          <p:spPr>
            <a:xfrm>
              <a:off x="9720914" y="2456917"/>
              <a:ext cx="0" cy="2392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0D3BCF-21CD-4B9A-BFF6-69C7D6C72159}"/>
                </a:ext>
              </a:extLst>
            </p:cNvPr>
            <p:cNvSpPr txBox="1"/>
            <p:nvPr/>
          </p:nvSpPr>
          <p:spPr>
            <a:xfrm>
              <a:off x="8694863" y="3822372"/>
              <a:ext cx="2034916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Freq[i] := Freq[i] + 1</a:t>
              </a:r>
            </a:p>
            <a:p>
              <a:r>
                <a:rPr lang="en-US" dirty="0"/>
                <a:t>k := k + 1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7851F1-D5B4-4970-8073-7141847E81CA}"/>
                </a:ext>
              </a:extLst>
            </p:cNvPr>
            <p:cNvSpPr txBox="1"/>
            <p:nvPr/>
          </p:nvSpPr>
          <p:spPr>
            <a:xfrm>
              <a:off x="8579385" y="5725216"/>
              <a:ext cx="2252924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for each i</a:t>
              </a:r>
              <a:br>
                <a:rPr lang="en-US" dirty="0"/>
              </a:br>
              <a:r>
                <a:rPr lang="en-US" dirty="0"/>
                <a:t>    Freq[i] := Freq[i] / N</a:t>
              </a:r>
              <a:endParaRPr lang="ru-RU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B8EB6EC-C214-4A0A-9F4C-2151B1A3930A}"/>
              </a:ext>
            </a:extLst>
          </p:cNvPr>
          <p:cNvSpPr txBox="1"/>
          <p:nvPr/>
        </p:nvSpPr>
        <p:spPr>
          <a:xfrm>
            <a:off x="1157394" y="3059668"/>
            <a:ext cx="132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Алгоритм</a:t>
            </a:r>
            <a:r>
              <a:rPr lang="en-US" b="1" dirty="0">
                <a:solidFill>
                  <a:schemeClr val="accent2"/>
                </a:solidFill>
              </a:rPr>
              <a:t> 2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C9E6DB0-04AC-E2F7-B00D-1714B66C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0"/>
            <a:ext cx="6158185" cy="2405849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Статистическая обработка результатов моделирования случайных потоков событий:</a:t>
            </a:r>
            <a:br>
              <a:rPr lang="ru-RU" dirty="0"/>
            </a:br>
            <a:r>
              <a:rPr lang="ru-RU" b="1" dirty="0"/>
              <a:t>число событий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257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8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31" y="1845734"/>
            <a:ext cx="11634094" cy="3669241"/>
          </a:xfrm>
        </p:spPr>
        <p:txBody>
          <a:bodyPr/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b="1" dirty="0"/>
              <a:t>Моделирование потока запросов на сервер</a:t>
            </a:r>
            <a:endParaRPr lang="en-US" b="1" dirty="0"/>
          </a:p>
          <a:p>
            <a:pPr indent="0">
              <a:buNone/>
            </a:pPr>
            <a:r>
              <a:rPr lang="ru-RU" dirty="0"/>
              <a:t>Использовать модель простейшего потока событий, где событие — это поступление запроса на сервер.</a:t>
            </a:r>
          </a:p>
          <a:p>
            <a:pPr indent="0">
              <a:buNone/>
            </a:pPr>
            <a:endParaRPr lang="ru-RU" dirty="0"/>
          </a:p>
          <a:p>
            <a:pPr marL="434340" indent="-342900">
              <a:buFont typeface="Arial" panose="020B0604020202020204" pitchFamily="34" charset="0"/>
              <a:buChar char="•"/>
            </a:pPr>
            <a:r>
              <a:rPr lang="ru-RU" dirty="0"/>
              <a:t>определить число запросов за интервал времени T (выбрать самостоятельно)</a:t>
            </a:r>
          </a:p>
          <a:p>
            <a:pPr marL="434340" indent="-342900">
              <a:buFont typeface="Arial" panose="020B0604020202020204" pitchFamily="34" charset="0"/>
              <a:buChar char="•"/>
            </a:pPr>
            <a:r>
              <a:rPr lang="ru-RU" dirty="0"/>
              <a:t>построить эмпирическое распределение числа запросов за интервал времени T </a:t>
            </a:r>
          </a:p>
          <a:p>
            <a:pPr marL="434340" indent="-342900">
              <a:buFont typeface="Arial" panose="020B0604020202020204" pitchFamily="34" charset="0"/>
              <a:buChar char="•"/>
            </a:pPr>
            <a:r>
              <a:rPr lang="ru-RU" dirty="0"/>
              <a:t>вычислить среднее и дисперсию числа запросов за интервал времени T </a:t>
            </a:r>
          </a:p>
          <a:p>
            <a:pPr marL="434340" indent="-342900">
              <a:buFont typeface="Arial" panose="020B0604020202020204" pitchFamily="34" charset="0"/>
              <a:buChar char="•"/>
            </a:pPr>
            <a:r>
              <a:rPr lang="ru-RU" dirty="0"/>
              <a:t>сделать вывод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744FA21-CE06-9895-25C1-D863EF5913F4}"/>
              </a:ext>
            </a:extLst>
          </p:cNvPr>
          <p:cNvSpPr/>
          <p:nvPr/>
        </p:nvSpPr>
        <p:spPr>
          <a:xfrm>
            <a:off x="8001000" y="5200650"/>
            <a:ext cx="2181225" cy="8953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Сервер</a:t>
            </a:r>
          </a:p>
        </p:txBody>
      </p:sp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1C94DCD7-D587-0EAF-9041-1D037B20E176}"/>
              </a:ext>
            </a:extLst>
          </p:cNvPr>
          <p:cNvSpPr/>
          <p:nvPr/>
        </p:nvSpPr>
        <p:spPr>
          <a:xfrm>
            <a:off x="6381751" y="5314950"/>
            <a:ext cx="1619250" cy="58102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860641E4-4027-477F-A41E-781B95BB442A}"/>
              </a:ext>
            </a:extLst>
          </p:cNvPr>
          <p:cNvSpPr/>
          <p:nvPr/>
        </p:nvSpPr>
        <p:spPr>
          <a:xfrm>
            <a:off x="6549547" y="5505449"/>
            <a:ext cx="200025" cy="209550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124119B0-D4B5-4D9E-A197-B3D5FC11EF3C}"/>
              </a:ext>
            </a:extLst>
          </p:cNvPr>
          <p:cNvSpPr/>
          <p:nvPr/>
        </p:nvSpPr>
        <p:spPr>
          <a:xfrm>
            <a:off x="6917367" y="5505449"/>
            <a:ext cx="200025" cy="209550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1DB8B61-08D4-49A9-85F9-FA0DD70DBBB0}"/>
              </a:ext>
            </a:extLst>
          </p:cNvPr>
          <p:cNvSpPr/>
          <p:nvPr/>
        </p:nvSpPr>
        <p:spPr>
          <a:xfrm>
            <a:off x="7509190" y="5505449"/>
            <a:ext cx="200025" cy="209550"/>
          </a:xfrm>
          <a:prstGeom prst="ellips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72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1DF264-4E8E-4F0B-BE51-FB2977A2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771260" cy="1450757"/>
          </a:xfrm>
        </p:spPr>
        <p:txBody>
          <a:bodyPr/>
          <a:lstStyle/>
          <a:p>
            <a:r>
              <a:rPr lang="en-US" dirty="0"/>
              <a:t>MMPP</a:t>
            </a:r>
            <a:r>
              <a:rPr lang="ru-RU" dirty="0"/>
              <a:t>-поток</a:t>
            </a:r>
            <a:br>
              <a:rPr lang="ru-RU" dirty="0"/>
            </a:br>
            <a:r>
              <a:rPr lang="ru-RU" sz="3600" dirty="0"/>
              <a:t>(</a:t>
            </a:r>
            <a:r>
              <a:rPr lang="en-US" sz="3600" dirty="0"/>
              <a:t>Markov modulated Poisson Process)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11E4E7-252F-4C39-A2AF-D025740E8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304" y="2384913"/>
            <a:ext cx="9049256" cy="372282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Цепь Маркова с непрерывным временем, заданная генератором </a:t>
            </a:r>
            <a:r>
              <a:rPr lang="en-US" sz="2400" b="1" dirty="0"/>
              <a:t>Q</a:t>
            </a:r>
            <a:r>
              <a:rPr lang="en-US" sz="2400" dirty="0"/>
              <a:t> </a:t>
            </a:r>
            <a:endParaRPr lang="ru-RU" sz="24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ABE615-34E5-4021-B7D1-56D6E6277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81971"/>
            <a:ext cx="916638" cy="3583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4177F4-C672-4B7A-A259-F9CAE7746945}"/>
              </a:ext>
            </a:extLst>
          </p:cNvPr>
          <p:cNvSpPr txBox="1"/>
          <p:nvPr/>
        </p:nvSpPr>
        <p:spPr>
          <a:xfrm>
            <a:off x="2220685" y="1837379"/>
            <a:ext cx="3106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–</a:t>
            </a:r>
            <a:r>
              <a:rPr lang="ru-RU" sz="2000" dirty="0">
                <a:solidFill>
                  <a:schemeClr val="accent2"/>
                </a:solidFill>
              </a:rPr>
              <a:t> условные интенсивности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7AA53-C60C-4CD4-84D1-4376266912BC}"/>
              </a:ext>
            </a:extLst>
          </p:cNvPr>
          <p:cNvSpPr txBox="1"/>
          <p:nvPr/>
        </p:nvSpPr>
        <p:spPr>
          <a:xfrm>
            <a:off x="1097279" y="2958540"/>
            <a:ext cx="3295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accent2"/>
                </a:solidFill>
              </a:rPr>
              <a:t>управляющая цепь Маркова</a:t>
            </a:r>
          </a:p>
        </p:txBody>
      </p:sp>
      <p:sp>
        <p:nvSpPr>
          <p:cNvPr id="4" name="Правая фигурная скобка 3">
            <a:extLst>
              <a:ext uri="{FF2B5EF4-FFF2-40B4-BE49-F238E27FC236}">
                <a16:creationId xmlns:a16="http://schemas.microsoft.com/office/drawing/2014/main" id="{14A9E919-2F52-4125-B6A9-7EEF8F8BD42C}"/>
              </a:ext>
            </a:extLst>
          </p:cNvPr>
          <p:cNvSpPr/>
          <p:nvPr/>
        </p:nvSpPr>
        <p:spPr>
          <a:xfrm rot="5400000">
            <a:off x="2686366" y="1084134"/>
            <a:ext cx="277887" cy="36240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D88001A3-6D18-4D4A-89D3-8EF04EA76485}"/>
              </a:ext>
            </a:extLst>
          </p:cNvPr>
          <p:cNvGrpSpPr/>
          <p:nvPr/>
        </p:nvGrpSpPr>
        <p:grpSpPr>
          <a:xfrm>
            <a:off x="5052653" y="3333095"/>
            <a:ext cx="6147108" cy="2693235"/>
            <a:chOff x="5052653" y="3333095"/>
            <a:chExt cx="6147108" cy="2693235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DC65B09D-160C-49BB-BC30-91CF45B0A26E}"/>
                </a:ext>
              </a:extLst>
            </p:cNvPr>
            <p:cNvGrpSpPr/>
            <p:nvPr/>
          </p:nvGrpSpPr>
          <p:grpSpPr>
            <a:xfrm>
              <a:off x="5052653" y="3333095"/>
              <a:ext cx="6147108" cy="2693235"/>
              <a:chOff x="5052653" y="3333095"/>
              <a:chExt cx="6147108" cy="2693235"/>
            </a:xfrm>
          </p:grpSpPr>
          <p:grpSp>
            <p:nvGrpSpPr>
              <p:cNvPr id="48" name="Группа 47">
                <a:extLst>
                  <a:ext uri="{FF2B5EF4-FFF2-40B4-BE49-F238E27FC236}">
                    <a16:creationId xmlns:a16="http://schemas.microsoft.com/office/drawing/2014/main" id="{89AD9EAD-3746-486C-AC9E-C8FD39EF40B3}"/>
                  </a:ext>
                </a:extLst>
              </p:cNvPr>
              <p:cNvGrpSpPr/>
              <p:nvPr/>
            </p:nvGrpSpPr>
            <p:grpSpPr>
              <a:xfrm>
                <a:off x="5052653" y="3333095"/>
                <a:ext cx="6147108" cy="2693235"/>
                <a:chOff x="5052653" y="3333095"/>
                <a:chExt cx="6147108" cy="2693235"/>
              </a:xfrm>
            </p:grpSpPr>
            <p:cxnSp>
              <p:nvCxnSpPr>
                <p:cNvPr id="9" name="Прямая со стрелкой 8">
                  <a:extLst>
                    <a:ext uri="{FF2B5EF4-FFF2-40B4-BE49-F238E27FC236}">
                      <a16:creationId xmlns:a16="http://schemas.microsoft.com/office/drawing/2014/main" id="{8AAE8100-BF3F-4E7D-BD09-F9B7DC1EE1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6400" y="5843451"/>
                  <a:ext cx="5399314" cy="870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Прямая со стрелкой 10">
                  <a:extLst>
                    <a:ext uri="{FF2B5EF4-FFF2-40B4-BE49-F238E27FC236}">
                      <a16:creationId xmlns:a16="http://schemas.microsoft.com/office/drawing/2014/main" id="{B08266AA-03D4-4526-BE31-62D8C15C6D5F}"/>
                    </a:ext>
                  </a:extLst>
                </p:cNvPr>
                <p:cNvCxnSpPr/>
                <p:nvPr/>
              </p:nvCxnSpPr>
              <p:spPr>
                <a:xfrm flipV="1">
                  <a:off x="5486400" y="3640183"/>
                  <a:ext cx="0" cy="220326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F06623A-8CB6-40DB-8500-0856A90F5A58}"/>
                    </a:ext>
                  </a:extLst>
                </p:cNvPr>
                <p:cNvSpPr txBox="1"/>
                <p:nvPr/>
              </p:nvSpPr>
              <p:spPr>
                <a:xfrm>
                  <a:off x="10938151" y="5656998"/>
                  <a:ext cx="2616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</a:t>
                  </a:r>
                  <a:endParaRPr lang="ru-RU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57801E5-2597-4D7C-89C5-4F5F26D0257B}"/>
                    </a:ext>
                  </a:extLst>
                </p:cNvPr>
                <p:cNvSpPr txBox="1"/>
                <p:nvPr/>
              </p:nvSpPr>
              <p:spPr>
                <a:xfrm>
                  <a:off x="5203041" y="3333095"/>
                  <a:ext cx="2920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λ</a:t>
                  </a:r>
                  <a:endParaRPr lang="ru-RU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41332FF-BFEE-4B1C-B11E-60E99B83FDE1}"/>
                    </a:ext>
                  </a:extLst>
                </p:cNvPr>
                <p:cNvSpPr txBox="1"/>
                <p:nvPr/>
              </p:nvSpPr>
              <p:spPr>
                <a:xfrm>
                  <a:off x="5052653" y="5298162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λ</a:t>
                  </a:r>
                  <a:r>
                    <a:rPr lang="en-US" baseline="-25000" dirty="0"/>
                    <a:t>1</a:t>
                  </a:r>
                  <a:endParaRPr lang="ru-RU" baseline="-25000" dirty="0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2FFB8FC-0EAD-427A-8AEF-BFD8232135B1}"/>
                    </a:ext>
                  </a:extLst>
                </p:cNvPr>
                <p:cNvSpPr txBox="1"/>
                <p:nvPr/>
              </p:nvSpPr>
              <p:spPr>
                <a:xfrm>
                  <a:off x="5052653" y="4741817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λ</a:t>
                  </a:r>
                  <a:r>
                    <a:rPr lang="en-US" baseline="-25000" dirty="0"/>
                    <a:t>2</a:t>
                  </a:r>
                  <a:endParaRPr lang="ru-RU" baseline="-25000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E7C816E-0CDB-4886-9ADD-93CA5C6CF66F}"/>
                    </a:ext>
                  </a:extLst>
                </p:cNvPr>
                <p:cNvSpPr txBox="1"/>
                <p:nvPr/>
              </p:nvSpPr>
              <p:spPr>
                <a:xfrm>
                  <a:off x="5052653" y="3874274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/>
                    <a:t>λ</a:t>
                  </a:r>
                  <a:r>
                    <a:rPr lang="en-US" baseline="-25000" dirty="0"/>
                    <a:t>3</a:t>
                  </a:r>
                  <a:endParaRPr lang="ru-RU" baseline="-25000" dirty="0"/>
                </a:p>
              </p:txBody>
            </p:sp>
            <p:cxnSp>
              <p:nvCxnSpPr>
                <p:cNvPr id="21" name="Прямая соединительная линия 20">
                  <a:extLst>
                    <a:ext uri="{FF2B5EF4-FFF2-40B4-BE49-F238E27FC236}">
                      <a16:creationId xmlns:a16="http://schemas.microsoft.com/office/drawing/2014/main" id="{9DD6FAC2-F4B8-48F2-BBFB-71493066E9BB}"/>
                    </a:ext>
                  </a:extLst>
                </p:cNvPr>
                <p:cNvCxnSpPr/>
                <p:nvPr/>
              </p:nvCxnSpPr>
              <p:spPr>
                <a:xfrm>
                  <a:off x="5425440" y="4078137"/>
                  <a:ext cx="11321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Прямая соединительная линия 21">
                  <a:extLst>
                    <a:ext uri="{FF2B5EF4-FFF2-40B4-BE49-F238E27FC236}">
                      <a16:creationId xmlns:a16="http://schemas.microsoft.com/office/drawing/2014/main" id="{4F36E00B-7722-4E0C-B4DC-11BC25D76360}"/>
                    </a:ext>
                  </a:extLst>
                </p:cNvPr>
                <p:cNvCxnSpPr/>
                <p:nvPr/>
              </p:nvCxnSpPr>
              <p:spPr>
                <a:xfrm>
                  <a:off x="5429787" y="4918509"/>
                  <a:ext cx="11321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Прямая соединительная линия 22">
                  <a:extLst>
                    <a:ext uri="{FF2B5EF4-FFF2-40B4-BE49-F238E27FC236}">
                      <a16:creationId xmlns:a16="http://schemas.microsoft.com/office/drawing/2014/main" id="{0C9CFA46-2244-40FD-84D3-96DAABED72A5}"/>
                    </a:ext>
                  </a:extLst>
                </p:cNvPr>
                <p:cNvCxnSpPr/>
                <p:nvPr/>
              </p:nvCxnSpPr>
              <p:spPr>
                <a:xfrm>
                  <a:off x="5429792" y="5475872"/>
                  <a:ext cx="113211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Соединитель: уступ 24">
                  <a:extLst>
                    <a:ext uri="{FF2B5EF4-FFF2-40B4-BE49-F238E27FC236}">
                      <a16:creationId xmlns:a16="http://schemas.microsoft.com/office/drawing/2014/main" id="{3DA51533-3844-4889-96B5-18262A161CC5}"/>
                    </a:ext>
                  </a:extLst>
                </p:cNvPr>
                <p:cNvCxnSpPr/>
                <p:nvPr/>
              </p:nvCxnSpPr>
              <p:spPr>
                <a:xfrm flipV="1">
                  <a:off x="5495109" y="4918509"/>
                  <a:ext cx="696685" cy="564319"/>
                </a:xfrm>
                <a:prstGeom prst="bent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Соединитель: уступ 26">
                  <a:extLst>
                    <a:ext uri="{FF2B5EF4-FFF2-40B4-BE49-F238E27FC236}">
                      <a16:creationId xmlns:a16="http://schemas.microsoft.com/office/drawing/2014/main" id="{4845471B-BBDE-497F-BBC3-5FE3F250A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00502" y="4100806"/>
                  <a:ext cx="1314995" cy="819501"/>
                </a:xfrm>
                <a:prstGeom prst="bent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Соединитель: уступ 31">
                  <a:extLst>
                    <a:ext uri="{FF2B5EF4-FFF2-40B4-BE49-F238E27FC236}">
                      <a16:creationId xmlns:a16="http://schemas.microsoft.com/office/drawing/2014/main" id="{CF88C690-81D1-4C5B-AEA1-6F6CCD9658E3}"/>
                    </a:ext>
                  </a:extLst>
                </p:cNvPr>
                <p:cNvCxnSpPr/>
                <p:nvPr/>
              </p:nvCxnSpPr>
              <p:spPr>
                <a:xfrm>
                  <a:off x="7515497" y="4100806"/>
                  <a:ext cx="1591181" cy="1375066"/>
                </a:xfrm>
                <a:prstGeom prst="bent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Соединитель: уступ 33">
                  <a:extLst>
                    <a:ext uri="{FF2B5EF4-FFF2-40B4-BE49-F238E27FC236}">
                      <a16:creationId xmlns:a16="http://schemas.microsoft.com/office/drawing/2014/main" id="{2A07A4B4-BB1F-47CD-96DD-84F83146A3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06678" y="4058940"/>
                  <a:ext cx="1561322" cy="1416932"/>
                </a:xfrm>
                <a:prstGeom prst="bentConnector3">
                  <a:avLst>
                    <a:gd name="adj1" fmla="val 50000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Знак умножения 37">
                  <a:extLst>
                    <a:ext uri="{FF2B5EF4-FFF2-40B4-BE49-F238E27FC236}">
                      <a16:creationId xmlns:a16="http://schemas.microsoft.com/office/drawing/2014/main" id="{7849317F-BC43-47C9-A3D1-A67FC3CE96CF}"/>
                    </a:ext>
                  </a:extLst>
                </p:cNvPr>
                <p:cNvSpPr/>
                <p:nvPr/>
              </p:nvSpPr>
              <p:spPr>
                <a:xfrm>
                  <a:off x="5627147" y="5425756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9" name="Знак умножения 38">
                  <a:extLst>
                    <a:ext uri="{FF2B5EF4-FFF2-40B4-BE49-F238E27FC236}">
                      <a16:creationId xmlns:a16="http://schemas.microsoft.com/office/drawing/2014/main" id="{EC791792-341F-4584-9A8E-66D37F4A333B}"/>
                    </a:ext>
                  </a:extLst>
                </p:cNvPr>
                <p:cNvSpPr/>
                <p:nvPr/>
              </p:nvSpPr>
              <p:spPr>
                <a:xfrm>
                  <a:off x="6014890" y="4862989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0" name="Знак умножения 39">
                  <a:extLst>
                    <a:ext uri="{FF2B5EF4-FFF2-40B4-BE49-F238E27FC236}">
                      <a16:creationId xmlns:a16="http://schemas.microsoft.com/office/drawing/2014/main" id="{586CE29B-2B82-45DD-96A5-291B8DBFBD28}"/>
                    </a:ext>
                  </a:extLst>
                </p:cNvPr>
                <p:cNvSpPr/>
                <p:nvPr/>
              </p:nvSpPr>
              <p:spPr>
                <a:xfrm>
                  <a:off x="6658783" y="4855015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1" name="Знак умножения 40">
                  <a:extLst>
                    <a:ext uri="{FF2B5EF4-FFF2-40B4-BE49-F238E27FC236}">
                      <a16:creationId xmlns:a16="http://schemas.microsoft.com/office/drawing/2014/main" id="{D0E8DA6C-2A4D-4DA6-B0A1-1BCA28383099}"/>
                    </a:ext>
                  </a:extLst>
                </p:cNvPr>
                <p:cNvSpPr/>
                <p:nvPr/>
              </p:nvSpPr>
              <p:spPr>
                <a:xfrm>
                  <a:off x="7006275" y="4039594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2" name="Знак умножения 41">
                  <a:extLst>
                    <a:ext uri="{FF2B5EF4-FFF2-40B4-BE49-F238E27FC236}">
                      <a16:creationId xmlns:a16="http://schemas.microsoft.com/office/drawing/2014/main" id="{4ED393F8-09F0-4416-B953-AE49CCACF541}"/>
                    </a:ext>
                  </a:extLst>
                </p:cNvPr>
                <p:cNvSpPr/>
                <p:nvPr/>
              </p:nvSpPr>
              <p:spPr>
                <a:xfrm>
                  <a:off x="7189579" y="4043592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3" name="Знак умножения 42">
                  <a:extLst>
                    <a:ext uri="{FF2B5EF4-FFF2-40B4-BE49-F238E27FC236}">
                      <a16:creationId xmlns:a16="http://schemas.microsoft.com/office/drawing/2014/main" id="{3A4FFC96-D076-4D81-B0E0-4BC777B0FB10}"/>
                    </a:ext>
                  </a:extLst>
                </p:cNvPr>
                <p:cNvSpPr/>
                <p:nvPr/>
              </p:nvSpPr>
              <p:spPr>
                <a:xfrm>
                  <a:off x="7627494" y="4040966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Знак умножения 43">
                  <a:extLst>
                    <a:ext uri="{FF2B5EF4-FFF2-40B4-BE49-F238E27FC236}">
                      <a16:creationId xmlns:a16="http://schemas.microsoft.com/office/drawing/2014/main" id="{99E1AF4B-C2C3-4001-A5DF-B5EB9A4F7A7E}"/>
                    </a:ext>
                  </a:extLst>
                </p:cNvPr>
                <p:cNvSpPr/>
                <p:nvPr/>
              </p:nvSpPr>
              <p:spPr>
                <a:xfrm>
                  <a:off x="7966917" y="4039594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5" name="Знак умножения 44">
                  <a:extLst>
                    <a:ext uri="{FF2B5EF4-FFF2-40B4-BE49-F238E27FC236}">
                      <a16:creationId xmlns:a16="http://schemas.microsoft.com/office/drawing/2014/main" id="{ED7CDFE0-B505-4FD4-9A60-1E5082C33F7C}"/>
                    </a:ext>
                  </a:extLst>
                </p:cNvPr>
                <p:cNvSpPr/>
                <p:nvPr/>
              </p:nvSpPr>
              <p:spPr>
                <a:xfrm>
                  <a:off x="10175769" y="3995446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6" name="Знак умножения 45">
                  <a:extLst>
                    <a:ext uri="{FF2B5EF4-FFF2-40B4-BE49-F238E27FC236}">
                      <a16:creationId xmlns:a16="http://schemas.microsoft.com/office/drawing/2014/main" id="{63FE627C-05A9-4532-9808-5F9E23ED569C}"/>
                    </a:ext>
                  </a:extLst>
                </p:cNvPr>
                <p:cNvSpPr/>
                <p:nvPr/>
              </p:nvSpPr>
              <p:spPr>
                <a:xfrm>
                  <a:off x="10421673" y="3994262"/>
                  <a:ext cx="142613" cy="126987"/>
                </a:xfrm>
                <a:prstGeom prst="mathMultiply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49" name="Знак умножения 48">
                <a:extLst>
                  <a:ext uri="{FF2B5EF4-FFF2-40B4-BE49-F238E27FC236}">
                    <a16:creationId xmlns:a16="http://schemas.microsoft.com/office/drawing/2014/main" id="{BB40D1C3-62BC-4BF2-8E9B-38E1EDA19BA9}"/>
                  </a:ext>
                </a:extLst>
              </p:cNvPr>
              <p:cNvSpPr/>
              <p:nvPr/>
            </p:nvSpPr>
            <p:spPr>
              <a:xfrm>
                <a:off x="5622462" y="5788666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Знак умножения 49">
                <a:extLst>
                  <a:ext uri="{FF2B5EF4-FFF2-40B4-BE49-F238E27FC236}">
                    <a16:creationId xmlns:a16="http://schemas.microsoft.com/office/drawing/2014/main" id="{86217573-9358-47AB-87C7-BA128C264B6B}"/>
                  </a:ext>
                </a:extLst>
              </p:cNvPr>
              <p:cNvSpPr/>
              <p:nvPr/>
            </p:nvSpPr>
            <p:spPr>
              <a:xfrm>
                <a:off x="6014889" y="5779957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Знак умножения 50">
                <a:extLst>
                  <a:ext uri="{FF2B5EF4-FFF2-40B4-BE49-F238E27FC236}">
                    <a16:creationId xmlns:a16="http://schemas.microsoft.com/office/drawing/2014/main" id="{CF556641-D7A4-4B39-84DB-6C83F196309B}"/>
                  </a:ext>
                </a:extLst>
              </p:cNvPr>
              <p:cNvSpPr/>
              <p:nvPr/>
            </p:nvSpPr>
            <p:spPr>
              <a:xfrm>
                <a:off x="6655352" y="5778171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Знак умножения 51">
                <a:extLst>
                  <a:ext uri="{FF2B5EF4-FFF2-40B4-BE49-F238E27FC236}">
                    <a16:creationId xmlns:a16="http://schemas.microsoft.com/office/drawing/2014/main" id="{3A96200F-E72A-4115-9B86-D1F02874003E}"/>
                  </a:ext>
                </a:extLst>
              </p:cNvPr>
              <p:cNvSpPr/>
              <p:nvPr/>
            </p:nvSpPr>
            <p:spPr>
              <a:xfrm>
                <a:off x="7006275" y="5769783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3" name="Знак умножения 52">
                <a:extLst>
                  <a:ext uri="{FF2B5EF4-FFF2-40B4-BE49-F238E27FC236}">
                    <a16:creationId xmlns:a16="http://schemas.microsoft.com/office/drawing/2014/main" id="{A87D3DD7-4FCB-44AA-8814-3CF01BE28422}"/>
                  </a:ext>
                </a:extLst>
              </p:cNvPr>
              <p:cNvSpPr/>
              <p:nvPr/>
            </p:nvSpPr>
            <p:spPr>
              <a:xfrm>
                <a:off x="7189579" y="5773781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4" name="Знак умножения 53">
                <a:extLst>
                  <a:ext uri="{FF2B5EF4-FFF2-40B4-BE49-F238E27FC236}">
                    <a16:creationId xmlns:a16="http://schemas.microsoft.com/office/drawing/2014/main" id="{B70E1DFC-50E7-4A1B-A8A6-D870C8498A69}"/>
                  </a:ext>
                </a:extLst>
              </p:cNvPr>
              <p:cNvSpPr/>
              <p:nvPr/>
            </p:nvSpPr>
            <p:spPr>
              <a:xfrm>
                <a:off x="7627494" y="5771155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Знак умножения 54">
                <a:extLst>
                  <a:ext uri="{FF2B5EF4-FFF2-40B4-BE49-F238E27FC236}">
                    <a16:creationId xmlns:a16="http://schemas.microsoft.com/office/drawing/2014/main" id="{4DE3D3C8-036B-4B69-B0C9-EEA20CD55342}"/>
                  </a:ext>
                </a:extLst>
              </p:cNvPr>
              <p:cNvSpPr/>
              <p:nvPr/>
            </p:nvSpPr>
            <p:spPr>
              <a:xfrm>
                <a:off x="7966917" y="5769783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6" name="Знак умножения 55">
                <a:extLst>
                  <a:ext uri="{FF2B5EF4-FFF2-40B4-BE49-F238E27FC236}">
                    <a16:creationId xmlns:a16="http://schemas.microsoft.com/office/drawing/2014/main" id="{31EA428E-B54F-49FA-A39E-947B6FFDED83}"/>
                  </a:ext>
                </a:extLst>
              </p:cNvPr>
              <p:cNvSpPr/>
              <p:nvPr/>
            </p:nvSpPr>
            <p:spPr>
              <a:xfrm>
                <a:off x="10178291" y="5784680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Знак умножения 56">
                <a:extLst>
                  <a:ext uri="{FF2B5EF4-FFF2-40B4-BE49-F238E27FC236}">
                    <a16:creationId xmlns:a16="http://schemas.microsoft.com/office/drawing/2014/main" id="{1FC76D2D-6FF3-49FD-AA0E-59820113C787}"/>
                  </a:ext>
                </a:extLst>
              </p:cNvPr>
              <p:cNvSpPr/>
              <p:nvPr/>
            </p:nvSpPr>
            <p:spPr>
              <a:xfrm>
                <a:off x="10424195" y="5783496"/>
                <a:ext cx="142613" cy="126987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60" name="Прямая со стрелкой 59">
              <a:extLst>
                <a:ext uri="{FF2B5EF4-FFF2-40B4-BE49-F238E27FC236}">
                  <a16:creationId xmlns:a16="http://schemas.microsoft.com/office/drawing/2014/main" id="{708F18F9-4B3A-4619-A0E9-78F4F8A67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8574" y="5522244"/>
              <a:ext cx="4685" cy="296921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 стрелкой 60">
              <a:extLst>
                <a:ext uri="{FF2B5EF4-FFF2-40B4-BE49-F238E27FC236}">
                  <a16:creationId xmlns:a16="http://schemas.microsoft.com/office/drawing/2014/main" id="{A784EF90-655D-4566-BFF1-874968599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8603" y="5015264"/>
              <a:ext cx="2343" cy="762485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 стрелкой 62">
              <a:extLst>
                <a:ext uri="{FF2B5EF4-FFF2-40B4-BE49-F238E27FC236}">
                  <a16:creationId xmlns:a16="http://schemas.microsoft.com/office/drawing/2014/main" id="{F07BE76D-AA33-4F92-95B1-37DA0C5D37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8735" y="4990690"/>
              <a:ext cx="2343" cy="762485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>
              <a:extLst>
                <a:ext uri="{FF2B5EF4-FFF2-40B4-BE49-F238E27FC236}">
                  <a16:creationId xmlns:a16="http://schemas.microsoft.com/office/drawing/2014/main" id="{D58B0D52-F58F-4D87-A581-050BF6DC7505}"/>
                </a:ext>
              </a:extLst>
            </p:cNvPr>
            <p:cNvCxnSpPr>
              <a:cxnSpLocks/>
            </p:cNvCxnSpPr>
            <p:nvPr/>
          </p:nvCxnSpPr>
          <p:spPr>
            <a:xfrm>
              <a:off x="7077581" y="4166581"/>
              <a:ext cx="0" cy="15542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>
              <a:extLst>
                <a:ext uri="{FF2B5EF4-FFF2-40B4-BE49-F238E27FC236}">
                  <a16:creationId xmlns:a16="http://schemas.microsoft.com/office/drawing/2014/main" id="{DF246215-A8EA-41DF-BA72-D5A166419272}"/>
                </a:ext>
              </a:extLst>
            </p:cNvPr>
            <p:cNvCxnSpPr>
              <a:cxnSpLocks/>
            </p:cNvCxnSpPr>
            <p:nvPr/>
          </p:nvCxnSpPr>
          <p:spPr>
            <a:xfrm>
              <a:off x="7254043" y="4166581"/>
              <a:ext cx="0" cy="15542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>
              <a:extLst>
                <a:ext uri="{FF2B5EF4-FFF2-40B4-BE49-F238E27FC236}">
                  <a16:creationId xmlns:a16="http://schemas.microsoft.com/office/drawing/2014/main" id="{A590E36D-A3B9-4AC2-89BB-84E76B94B65B}"/>
                </a:ext>
              </a:extLst>
            </p:cNvPr>
            <p:cNvCxnSpPr>
              <a:cxnSpLocks/>
            </p:cNvCxnSpPr>
            <p:nvPr/>
          </p:nvCxnSpPr>
          <p:spPr>
            <a:xfrm>
              <a:off x="7691958" y="4166581"/>
              <a:ext cx="0" cy="15542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 стрелкой 74">
              <a:extLst>
                <a:ext uri="{FF2B5EF4-FFF2-40B4-BE49-F238E27FC236}">
                  <a16:creationId xmlns:a16="http://schemas.microsoft.com/office/drawing/2014/main" id="{2B3B5640-377B-4438-B986-751B4BE1CF58}"/>
                </a:ext>
              </a:extLst>
            </p:cNvPr>
            <p:cNvCxnSpPr>
              <a:cxnSpLocks/>
            </p:cNvCxnSpPr>
            <p:nvPr/>
          </p:nvCxnSpPr>
          <p:spPr>
            <a:xfrm>
              <a:off x="8038223" y="4166581"/>
              <a:ext cx="0" cy="15542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Прямая со стрелкой 75">
              <a:extLst>
                <a:ext uri="{FF2B5EF4-FFF2-40B4-BE49-F238E27FC236}">
                  <a16:creationId xmlns:a16="http://schemas.microsoft.com/office/drawing/2014/main" id="{1B395EC0-05FB-4D01-8055-5FD6EB763798}"/>
                </a:ext>
              </a:extLst>
            </p:cNvPr>
            <p:cNvCxnSpPr>
              <a:cxnSpLocks/>
            </p:cNvCxnSpPr>
            <p:nvPr/>
          </p:nvCxnSpPr>
          <p:spPr>
            <a:xfrm>
              <a:off x="10247075" y="4141362"/>
              <a:ext cx="0" cy="15542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 стрелкой 76">
              <a:extLst>
                <a:ext uri="{FF2B5EF4-FFF2-40B4-BE49-F238E27FC236}">
                  <a16:creationId xmlns:a16="http://schemas.microsoft.com/office/drawing/2014/main" id="{F2A9A878-A1A9-4467-9A2E-EAFF015BF075}"/>
                </a:ext>
              </a:extLst>
            </p:cNvPr>
            <p:cNvCxnSpPr>
              <a:cxnSpLocks/>
            </p:cNvCxnSpPr>
            <p:nvPr/>
          </p:nvCxnSpPr>
          <p:spPr>
            <a:xfrm>
              <a:off x="10492979" y="4141362"/>
              <a:ext cx="0" cy="15542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09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  <p:bldP spid="7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8963A-DAC2-4D2D-AA43-11BE49DA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MMPP</a:t>
            </a:r>
            <a:endParaRPr lang="ru-RU" dirty="0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B28E58D9-D36C-4F32-A67F-EF6A3843D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429000"/>
            <a:ext cx="3200400" cy="2876203"/>
          </a:xfrm>
        </p:spPr>
        <p:txBody>
          <a:bodyPr>
            <a:normAutofit/>
          </a:bodyPr>
          <a:lstStyle/>
          <a:p>
            <a:r>
              <a:rPr lang="ru-RU" sz="2000" b="1" dirty="0"/>
              <a:t>МОДЕЛИРОВАНИЕ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8BCEF16-687C-4421-9A78-50704D5AA88D}"/>
              </a:ext>
            </a:extLst>
          </p:cNvPr>
          <p:cNvCxnSpPr/>
          <p:nvPr/>
        </p:nvCxnSpPr>
        <p:spPr>
          <a:xfrm>
            <a:off x="457200" y="3237722"/>
            <a:ext cx="29204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991D4FE2-6175-1A38-3BF5-EE6836CE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727" y="0"/>
            <a:ext cx="4742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5581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670</Words>
  <Application>Microsoft Office PowerPoint</Application>
  <PresentationFormat>Широкоэкранный</PresentationFormat>
  <Paragraphs>117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Ретро</vt:lpstr>
      <vt:lpstr>Стохастическое моделирование</vt:lpstr>
      <vt:lpstr>Случайные объекты и базовый датчик</vt:lpstr>
      <vt:lpstr>Случайный поток событий</vt:lpstr>
      <vt:lpstr>Простейший поток событий (стационарный пуассоновский поток)</vt:lpstr>
      <vt:lpstr>Моделирование простейшего потока</vt:lpstr>
      <vt:lpstr>Рекуррентный поток событий</vt:lpstr>
      <vt:lpstr>Рекуррентный поток событий</vt:lpstr>
      <vt:lpstr>Нестационарный пуассоновский поток</vt:lpstr>
      <vt:lpstr>Нестационарный пуассоновский поток</vt:lpstr>
      <vt:lpstr>Статистическая обработка результатов моделирования случайных потоков событий</vt:lpstr>
      <vt:lpstr>Статистическая обработка результатов моделирования случайных потоков событий: число событий</vt:lpstr>
      <vt:lpstr>Статистическая обработка результатов моделирования случайных потоков событий: число событий</vt:lpstr>
      <vt:lpstr>Лабораторная 8</vt:lpstr>
      <vt:lpstr>MMPP-поток (Markov modulated Poisson Process)</vt:lpstr>
      <vt:lpstr>MMPP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94</cp:revision>
  <dcterms:created xsi:type="dcterms:W3CDTF">2019-03-07T03:18:42Z</dcterms:created>
  <dcterms:modified xsi:type="dcterms:W3CDTF">2026-04-16T03:04:39Z</dcterms:modified>
</cp:coreProperties>
</file>