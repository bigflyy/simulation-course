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2" r:id="rId3"/>
    <p:sldId id="288" r:id="rId4"/>
    <p:sldId id="281" r:id="rId5"/>
    <p:sldId id="271" r:id="rId6"/>
    <p:sldId id="283" r:id="rId7"/>
    <p:sldId id="284" r:id="rId8"/>
    <p:sldId id="285" r:id="rId9"/>
    <p:sldId id="286" r:id="rId10"/>
    <p:sldId id="28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3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Стохастическое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Моделирование случайных событий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DAF64D-59BC-4500-9CD1-012C1C00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Случайные объекты и базовый датчик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88774F-DE5E-4488-9B5B-22879A83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события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величины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процессы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потоки событий</a:t>
            </a:r>
            <a:endParaRPr lang="en-US" sz="2800" dirty="0"/>
          </a:p>
          <a:p>
            <a:endParaRPr lang="ru-RU" sz="28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50F4AC-48CA-4C61-A163-9D04488283D9}"/>
              </a:ext>
            </a:extLst>
          </p:cNvPr>
          <p:cNvSpPr/>
          <p:nvPr/>
        </p:nvSpPr>
        <p:spPr>
          <a:xfrm>
            <a:off x="5551834" y="2899445"/>
            <a:ext cx="1333850" cy="1059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БД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DCA8AF0-29E5-462F-8D22-C685DCBDDA83}"/>
              </a:ext>
            </a:extLst>
          </p:cNvPr>
          <p:cNvSpPr/>
          <p:nvPr/>
        </p:nvSpPr>
        <p:spPr>
          <a:xfrm>
            <a:off x="7927315" y="2899445"/>
            <a:ext cx="2077819" cy="1059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Преобразование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DDDF8A5-B9DA-48F8-9D23-AE9EFEFC5BD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885684" y="3429000"/>
            <a:ext cx="1041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FA400E-A495-48C5-BA5E-2402ACA46FFA}"/>
              </a:ext>
            </a:extLst>
          </p:cNvPr>
          <p:cNvSpPr txBox="1"/>
          <p:nvPr/>
        </p:nvSpPr>
        <p:spPr>
          <a:xfrm>
            <a:off x="7236497" y="306993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40D2C55-6442-4D40-BC8C-334FAEA1140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0005134" y="3429000"/>
            <a:ext cx="1150546" cy="1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EB8045-EB3C-413B-8626-F498FFB5362A}"/>
              </a:ext>
            </a:extLst>
          </p:cNvPr>
          <p:cNvSpPr txBox="1"/>
          <p:nvPr/>
        </p:nvSpPr>
        <p:spPr>
          <a:xfrm>
            <a:off x="10771183" y="30596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30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86AB6-9D9D-4D72-BAC4-D77A8A9B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Геометрический смысл вероятности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FA17D16-E868-420E-9BB6-5753E2CA21F1}"/>
              </a:ext>
            </a:extLst>
          </p:cNvPr>
          <p:cNvCxnSpPr/>
          <p:nvPr/>
        </p:nvCxnSpPr>
        <p:spPr>
          <a:xfrm>
            <a:off x="4412201" y="3790765"/>
            <a:ext cx="301544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8F77ABB-A04E-48D4-A48C-453E8EDC35CE}"/>
              </a:ext>
            </a:extLst>
          </p:cNvPr>
          <p:cNvCxnSpPr/>
          <p:nvPr/>
        </p:nvCxnSpPr>
        <p:spPr>
          <a:xfrm>
            <a:off x="4412201" y="3710865"/>
            <a:ext cx="0" cy="15979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1ED35B1-C60D-4DDA-A637-9141E2BDFB02}"/>
              </a:ext>
            </a:extLst>
          </p:cNvPr>
          <p:cNvCxnSpPr/>
          <p:nvPr/>
        </p:nvCxnSpPr>
        <p:spPr>
          <a:xfrm>
            <a:off x="7431626" y="3712067"/>
            <a:ext cx="0" cy="15979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8678436-BC5F-4686-9C37-8126A94E0F21}"/>
              </a:ext>
            </a:extLst>
          </p:cNvPr>
          <p:cNvSpPr txBox="1"/>
          <p:nvPr/>
        </p:nvSpPr>
        <p:spPr>
          <a:xfrm>
            <a:off x="4261358" y="38145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1E759-C9D5-4778-965D-C0561F09A255}"/>
              </a:ext>
            </a:extLst>
          </p:cNvPr>
          <p:cNvSpPr txBox="1"/>
          <p:nvPr/>
        </p:nvSpPr>
        <p:spPr>
          <a:xfrm>
            <a:off x="7280783" y="38145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AE83AFC1-836A-41FE-8C73-497A175E3863}"/>
              </a:ext>
            </a:extLst>
          </p:cNvPr>
          <p:cNvSpPr/>
          <p:nvPr/>
        </p:nvSpPr>
        <p:spPr>
          <a:xfrm>
            <a:off x="6329896" y="3759580"/>
            <a:ext cx="69284" cy="6928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4A9773-D75F-471A-B537-E9875F6E3ED2}"/>
              </a:ext>
            </a:extLst>
          </p:cNvPr>
          <p:cNvSpPr txBox="1"/>
          <p:nvPr/>
        </p:nvSpPr>
        <p:spPr>
          <a:xfrm>
            <a:off x="6211291" y="374422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7DA12AE-D72D-4E68-855D-1248633B9B3A}"/>
              </a:ext>
            </a:extLst>
          </p:cNvPr>
          <p:cNvSpPr/>
          <p:nvPr/>
        </p:nvSpPr>
        <p:spPr>
          <a:xfrm>
            <a:off x="4412201" y="3759580"/>
            <a:ext cx="1913717" cy="549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5D56817-C1D1-429E-A8AB-24C1391F48B6}"/>
              </a:ext>
            </a:extLst>
          </p:cNvPr>
          <p:cNvSpPr/>
          <p:nvPr/>
        </p:nvSpPr>
        <p:spPr>
          <a:xfrm>
            <a:off x="6399180" y="3759580"/>
            <a:ext cx="1024492" cy="5499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7F5CDB-4FD7-4432-BEBD-E9D66D3D406B}"/>
              </a:ext>
            </a:extLst>
          </p:cNvPr>
          <p:cNvSpPr txBox="1"/>
          <p:nvPr/>
        </p:nvSpPr>
        <p:spPr>
          <a:xfrm>
            <a:off x="5546465" y="2803630"/>
            <a:ext cx="92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random</a:t>
            </a:r>
            <a:endParaRPr lang="ru-RU" dirty="0">
              <a:solidFill>
                <a:schemeClr val="accent4"/>
              </a:solidFill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81969F7-A347-4FBD-A494-4DBCBD595667}"/>
              </a:ext>
            </a:extLst>
          </p:cNvPr>
          <p:cNvCxnSpPr/>
          <p:nvPr/>
        </p:nvCxnSpPr>
        <p:spPr>
          <a:xfrm flipH="1">
            <a:off x="5308338" y="3172962"/>
            <a:ext cx="509587" cy="483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F3FE39EC-2822-45EE-9884-66A718421E88}"/>
              </a:ext>
            </a:extLst>
          </p:cNvPr>
          <p:cNvCxnSpPr>
            <a:cxnSpLocks/>
          </p:cNvCxnSpPr>
          <p:nvPr/>
        </p:nvCxnSpPr>
        <p:spPr>
          <a:xfrm>
            <a:off x="6211291" y="3172962"/>
            <a:ext cx="487697" cy="483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7B1B71B-3DDA-4A94-9972-717801BEA020}"/>
              </a:ext>
            </a:extLst>
          </p:cNvPr>
          <p:cNvSpPr txBox="1"/>
          <p:nvPr/>
        </p:nvSpPr>
        <p:spPr>
          <a:xfrm>
            <a:off x="4795426" y="4860982"/>
            <a:ext cx="24225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P{random &lt; p} = p</a:t>
            </a:r>
            <a:endParaRPr lang="ru-RU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91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 animBg="1"/>
      <p:bldP spid="15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D324A-6DA5-4AC6-BE19-5697CEC1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Датчик случайного события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0FBEA9-BE3F-41CB-B3C2-EE2B8EAE1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9582549" cy="1883548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Пусть </a:t>
            </a:r>
            <a:r>
              <a:rPr lang="en-US" sz="2400" i="1" dirty="0"/>
              <a:t>A</a:t>
            </a:r>
            <a:r>
              <a:rPr lang="en-US" sz="2400" dirty="0"/>
              <a:t> </a:t>
            </a:r>
            <a:r>
              <a:rPr lang="ru-RU" sz="2400" dirty="0"/>
              <a:t>– событие</a:t>
            </a:r>
            <a:endParaRPr lang="en-US" sz="2400" dirty="0"/>
          </a:p>
          <a:p>
            <a:r>
              <a:rPr lang="en-US" sz="2400" i="1" dirty="0"/>
              <a:t>p</a:t>
            </a:r>
            <a:r>
              <a:rPr lang="en-US" sz="2400" dirty="0"/>
              <a:t> = P{</a:t>
            </a:r>
            <a:r>
              <a:rPr lang="en-US" sz="2400" i="1" dirty="0"/>
              <a:t>A</a:t>
            </a:r>
            <a:r>
              <a:rPr lang="en-US" sz="2400" dirty="0"/>
              <a:t>} </a:t>
            </a:r>
            <a:r>
              <a:rPr lang="ru-RU" sz="2400" dirty="0"/>
              <a:t>– вероятность наступления события </a:t>
            </a:r>
            <a:r>
              <a:rPr lang="ru-RU" sz="2400" i="1" dirty="0"/>
              <a:t>А</a:t>
            </a:r>
            <a:endParaRPr lang="en-US" sz="2400" i="1" dirty="0"/>
          </a:p>
          <a:p>
            <a:r>
              <a:rPr lang="ru-RU" sz="2400" dirty="0"/>
              <a:t>тогда</a:t>
            </a:r>
            <a:r>
              <a:rPr lang="en-US" sz="2400" dirty="0"/>
              <a:t> P{</a:t>
            </a:r>
            <a:r>
              <a:rPr lang="el-GR" sz="2400" dirty="0"/>
              <a:t>α</a:t>
            </a:r>
            <a:r>
              <a:rPr lang="en-US" sz="2400" dirty="0"/>
              <a:t> &lt; </a:t>
            </a:r>
            <a:r>
              <a:rPr lang="en-US" sz="2400" i="1" dirty="0"/>
              <a:t>p</a:t>
            </a:r>
            <a:r>
              <a:rPr lang="en-US" sz="2400" dirty="0"/>
              <a:t>} = </a:t>
            </a:r>
            <a:r>
              <a:rPr lang="ru-RU" sz="2400" dirty="0"/>
              <a:t>?</a:t>
            </a:r>
            <a:endParaRPr lang="ru-RU" sz="2400" i="1" dirty="0"/>
          </a:p>
          <a:p>
            <a:r>
              <a:rPr lang="ru-RU" sz="2400" dirty="0"/>
              <a:t>           </a:t>
            </a:r>
            <a:r>
              <a:rPr lang="en-US" sz="2400" dirty="0"/>
              <a:t>P{</a:t>
            </a:r>
            <a:r>
              <a:rPr lang="el-GR" sz="2400" dirty="0"/>
              <a:t>α</a:t>
            </a:r>
            <a:r>
              <a:rPr lang="en-US" sz="2400" dirty="0"/>
              <a:t> &lt; </a:t>
            </a:r>
            <a:r>
              <a:rPr lang="en-US" sz="2400" i="1" dirty="0"/>
              <a:t>p</a:t>
            </a:r>
            <a:r>
              <a:rPr lang="en-US" sz="2400" dirty="0"/>
              <a:t>} = </a:t>
            </a:r>
            <a:r>
              <a:rPr lang="en-US" sz="2400" i="1" dirty="0"/>
              <a:t>p</a:t>
            </a:r>
            <a:endParaRPr lang="ru-RU" sz="2400" i="1" dirty="0"/>
          </a:p>
          <a:p>
            <a:endParaRPr lang="ru-RU" sz="2400" i="1" dirty="0"/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6512C3FB-B47B-2DA4-273D-4ADC7CC82784}"/>
              </a:ext>
            </a:extLst>
          </p:cNvPr>
          <p:cNvGrpSpPr/>
          <p:nvPr/>
        </p:nvGrpSpPr>
        <p:grpSpPr>
          <a:xfrm>
            <a:off x="2592279" y="3729283"/>
            <a:ext cx="5955537" cy="1784148"/>
            <a:chOff x="2592279" y="3729283"/>
            <a:chExt cx="5955537" cy="1784148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6EEF33F-BE0E-3745-7F0F-ED93F0D10E67}"/>
                </a:ext>
              </a:extLst>
            </p:cNvPr>
            <p:cNvSpPr/>
            <p:nvPr/>
          </p:nvSpPr>
          <p:spPr>
            <a:xfrm>
              <a:off x="2592279" y="4263501"/>
              <a:ext cx="1198486" cy="6924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Базовый датчик</a:t>
              </a:r>
            </a:p>
          </p:txBody>
        </p:sp>
        <p:cxnSp>
          <p:nvCxnSpPr>
            <p:cNvPr id="6" name="Прямая со стрелкой 5">
              <a:extLst>
                <a:ext uri="{FF2B5EF4-FFF2-40B4-BE49-F238E27FC236}">
                  <a16:creationId xmlns:a16="http://schemas.microsoft.com/office/drawing/2014/main" id="{0BA68C24-C9BB-1318-2092-F97397D25156}"/>
                </a:ext>
              </a:extLst>
            </p:cNvPr>
            <p:cNvCxnSpPr/>
            <p:nvPr/>
          </p:nvCxnSpPr>
          <p:spPr>
            <a:xfrm>
              <a:off x="3799642" y="4616388"/>
              <a:ext cx="9321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28F518-497A-103C-42B6-5D8087AAEBCD}"/>
                </a:ext>
              </a:extLst>
            </p:cNvPr>
            <p:cNvSpPr txBox="1"/>
            <p:nvPr/>
          </p:nvSpPr>
          <p:spPr>
            <a:xfrm>
              <a:off x="4415686" y="4254537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800" dirty="0"/>
                <a:t>α</a:t>
              </a:r>
              <a:endParaRPr lang="ru-RU" dirty="0"/>
            </a:p>
          </p:txBody>
        </p:sp>
        <p:sp>
          <p:nvSpPr>
            <p:cNvPr id="8" name="Ромб 7">
              <a:extLst>
                <a:ext uri="{FF2B5EF4-FFF2-40B4-BE49-F238E27FC236}">
                  <a16:creationId xmlns:a16="http://schemas.microsoft.com/office/drawing/2014/main" id="{4B1F8D46-2CDD-A68E-14B4-3128CB3F4C25}"/>
                </a:ext>
              </a:extLst>
            </p:cNvPr>
            <p:cNvSpPr/>
            <p:nvPr/>
          </p:nvSpPr>
          <p:spPr>
            <a:xfrm>
              <a:off x="4740675" y="4215496"/>
              <a:ext cx="1642369" cy="816745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800" dirty="0"/>
                <a:t>α</a:t>
              </a:r>
              <a:r>
                <a:rPr lang="ru-RU" sz="1800" dirty="0"/>
                <a:t> </a:t>
              </a:r>
              <a:r>
                <a:rPr lang="en-US" sz="1800" dirty="0"/>
                <a:t>&lt; </a:t>
              </a:r>
              <a:r>
                <a:rPr lang="en-US" sz="1800" i="1" dirty="0"/>
                <a:t>p </a:t>
              </a:r>
              <a:r>
                <a:rPr lang="en-US" sz="1800" dirty="0"/>
                <a:t>?</a:t>
              </a:r>
              <a:endParaRPr lang="ru-RU" dirty="0"/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06E798F8-B2C6-0D1B-E126-59D372F07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3088" y="5032241"/>
              <a:ext cx="1" cy="285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ADFC1B75-29CE-7A83-928B-4D84725ABA73}"/>
                </a:ext>
              </a:extLst>
            </p:cNvPr>
            <p:cNvCxnSpPr>
              <a:cxnSpLocks/>
            </p:cNvCxnSpPr>
            <p:nvPr/>
          </p:nvCxnSpPr>
          <p:spPr>
            <a:xfrm>
              <a:off x="5561338" y="5325311"/>
              <a:ext cx="12998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DADC832E-F2EA-22CA-A9B1-1ACE65FE4567}"/>
                </a:ext>
              </a:extLst>
            </p:cNvPr>
            <p:cNvGrpSpPr/>
            <p:nvPr/>
          </p:nvGrpSpPr>
          <p:grpSpPr>
            <a:xfrm flipV="1">
              <a:off x="5561859" y="3913949"/>
              <a:ext cx="1299840" cy="285569"/>
              <a:chOff x="5410939" y="4197740"/>
              <a:chExt cx="1299840" cy="285569"/>
            </a:xfrm>
          </p:grpSpPr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A44F23FA-E6B1-4397-DF5D-C227743A70E6}"/>
                  </a:ext>
                </a:extLst>
              </p:cNvPr>
              <p:cNvCxnSpPr/>
              <p:nvPr/>
            </p:nvCxnSpPr>
            <p:spPr>
              <a:xfrm flipH="1">
                <a:off x="5410939" y="4197740"/>
                <a:ext cx="1" cy="28556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 стрелкой 16">
                <a:extLst>
                  <a:ext uri="{FF2B5EF4-FFF2-40B4-BE49-F238E27FC236}">
                    <a16:creationId xmlns:a16="http://schemas.microsoft.com/office/drawing/2014/main" id="{B6CD21BD-6931-9234-B4FB-9DB5C87E58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0939" y="4483309"/>
                <a:ext cx="129984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58BEB69-AC24-DFD9-839D-54772B8A9D0A}"/>
                </a:ext>
              </a:extLst>
            </p:cNvPr>
            <p:cNvSpPr txBox="1"/>
            <p:nvPr/>
          </p:nvSpPr>
          <p:spPr>
            <a:xfrm>
              <a:off x="6399322" y="3834093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да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F2682D-B5DF-7B1C-AF43-8B7F34AE4D32}"/>
                </a:ext>
              </a:extLst>
            </p:cNvPr>
            <p:cNvSpPr txBox="1"/>
            <p:nvPr/>
          </p:nvSpPr>
          <p:spPr>
            <a:xfrm>
              <a:off x="6339916" y="5005317"/>
              <a:ext cx="5123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нет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8456EE-80BE-6F4D-8EE8-DD7DD508E28F}"/>
                </a:ext>
              </a:extLst>
            </p:cNvPr>
            <p:cNvSpPr txBox="1"/>
            <p:nvPr/>
          </p:nvSpPr>
          <p:spPr>
            <a:xfrm>
              <a:off x="6875563" y="3729283"/>
              <a:ext cx="1592103" cy="36933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ru-RU" i="1" dirty="0"/>
                <a:t>А</a:t>
              </a:r>
              <a:r>
                <a:rPr lang="ru-RU" dirty="0"/>
                <a:t> наступило   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D54B3BA-FCF7-51AC-E995-3B6CB1A3F82D}"/>
                </a:ext>
              </a:extLst>
            </p:cNvPr>
            <p:cNvSpPr txBox="1"/>
            <p:nvPr/>
          </p:nvSpPr>
          <p:spPr>
            <a:xfrm>
              <a:off x="6875563" y="5144099"/>
              <a:ext cx="1672253" cy="36933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ru-RU" i="1" dirty="0"/>
                <a:t>А</a:t>
              </a:r>
              <a:r>
                <a:rPr lang="ru-RU" dirty="0"/>
                <a:t> не наступило</a:t>
              </a: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3687693C-DC5C-16A3-5A54-A40A1310F6BA}"/>
              </a:ext>
            </a:extLst>
          </p:cNvPr>
          <p:cNvGrpSpPr/>
          <p:nvPr/>
        </p:nvGrpSpPr>
        <p:grpSpPr>
          <a:xfrm>
            <a:off x="8664682" y="3162"/>
            <a:ext cx="3321111" cy="1657277"/>
            <a:chOff x="8664682" y="3162"/>
            <a:chExt cx="3321111" cy="1657277"/>
          </a:xfrm>
        </p:grpSpPr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9DB81DF2-1801-7B35-380D-C9B3918DEE3D}"/>
                </a:ext>
              </a:extLst>
            </p:cNvPr>
            <p:cNvCxnSpPr/>
            <p:nvPr/>
          </p:nvCxnSpPr>
          <p:spPr>
            <a:xfrm>
              <a:off x="8815525" y="990297"/>
              <a:ext cx="301544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>
              <a:extLst>
                <a:ext uri="{FF2B5EF4-FFF2-40B4-BE49-F238E27FC236}">
                  <a16:creationId xmlns:a16="http://schemas.microsoft.com/office/drawing/2014/main" id="{B7E92544-3D96-F7AE-2C76-342C862EA32A}"/>
                </a:ext>
              </a:extLst>
            </p:cNvPr>
            <p:cNvCxnSpPr/>
            <p:nvPr/>
          </p:nvCxnSpPr>
          <p:spPr>
            <a:xfrm>
              <a:off x="8815525" y="910397"/>
              <a:ext cx="0" cy="15979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C1DF25B8-AD84-031D-53BE-4DDFAD58C871}"/>
                </a:ext>
              </a:extLst>
            </p:cNvPr>
            <p:cNvCxnSpPr/>
            <p:nvPr/>
          </p:nvCxnSpPr>
          <p:spPr>
            <a:xfrm>
              <a:off x="11834950" y="911599"/>
              <a:ext cx="0" cy="15979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61509C7-40F2-8082-0601-CBE0106CB804}"/>
                </a:ext>
              </a:extLst>
            </p:cNvPr>
            <p:cNvSpPr txBox="1"/>
            <p:nvPr/>
          </p:nvSpPr>
          <p:spPr>
            <a:xfrm>
              <a:off x="8664682" y="101410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  <a:endParaRPr lang="ru-RU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691E29-6220-6B1E-1F35-85151D8407FC}"/>
                </a:ext>
              </a:extLst>
            </p:cNvPr>
            <p:cNvSpPr txBox="1"/>
            <p:nvPr/>
          </p:nvSpPr>
          <p:spPr>
            <a:xfrm>
              <a:off x="11684107" y="101410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BA292984-C21C-4847-72BF-5EAF5C4B0D26}"/>
                </a:ext>
              </a:extLst>
            </p:cNvPr>
            <p:cNvSpPr/>
            <p:nvPr/>
          </p:nvSpPr>
          <p:spPr>
            <a:xfrm>
              <a:off x="10733220" y="959112"/>
              <a:ext cx="69284" cy="69284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614659-2E21-EAB3-675D-C077BFC54C3D}"/>
                </a:ext>
              </a:extLst>
            </p:cNvPr>
            <p:cNvSpPr txBox="1"/>
            <p:nvPr/>
          </p:nvSpPr>
          <p:spPr>
            <a:xfrm>
              <a:off x="10614615" y="943761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  <a:endParaRPr lang="ru-RU" dirty="0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2655DDFD-433A-D382-D981-AAE17B2777B8}"/>
                </a:ext>
              </a:extLst>
            </p:cNvPr>
            <p:cNvSpPr/>
            <p:nvPr/>
          </p:nvSpPr>
          <p:spPr>
            <a:xfrm>
              <a:off x="8815525" y="959112"/>
              <a:ext cx="1913717" cy="549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D9F3753D-CB47-0363-9399-5A7DFE652385}"/>
                </a:ext>
              </a:extLst>
            </p:cNvPr>
            <p:cNvSpPr/>
            <p:nvPr/>
          </p:nvSpPr>
          <p:spPr>
            <a:xfrm>
              <a:off x="10802504" y="959112"/>
              <a:ext cx="1024492" cy="5499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6E1A92A-2E1B-C463-004B-C122E25221DF}"/>
                </a:ext>
              </a:extLst>
            </p:cNvPr>
            <p:cNvSpPr txBox="1"/>
            <p:nvPr/>
          </p:nvSpPr>
          <p:spPr>
            <a:xfrm>
              <a:off x="9949789" y="3162"/>
              <a:ext cx="9205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random</a:t>
              </a:r>
              <a:endParaRPr lang="ru-RU" dirty="0">
                <a:solidFill>
                  <a:schemeClr val="accent4"/>
                </a:solidFill>
              </a:endParaRPr>
            </a:p>
          </p:txBody>
        </p: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C4CFE339-5484-6CD5-9A9C-B326353AC088}"/>
                </a:ext>
              </a:extLst>
            </p:cNvPr>
            <p:cNvCxnSpPr/>
            <p:nvPr/>
          </p:nvCxnSpPr>
          <p:spPr>
            <a:xfrm flipH="1">
              <a:off x="9711662" y="372494"/>
              <a:ext cx="509587" cy="4832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FC1D7F5D-384F-62AE-5472-B51CAC5E87AB}"/>
                </a:ext>
              </a:extLst>
            </p:cNvPr>
            <p:cNvCxnSpPr>
              <a:cxnSpLocks/>
            </p:cNvCxnSpPr>
            <p:nvPr/>
          </p:nvCxnSpPr>
          <p:spPr>
            <a:xfrm>
              <a:off x="10614615" y="372494"/>
              <a:ext cx="487697" cy="4832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09343C4-8D10-5691-90E1-5951D48FC88A}"/>
                </a:ext>
              </a:extLst>
            </p:cNvPr>
            <p:cNvSpPr txBox="1"/>
            <p:nvPr/>
          </p:nvSpPr>
          <p:spPr>
            <a:xfrm>
              <a:off x="9198750" y="1198774"/>
              <a:ext cx="24225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P{random &lt; p} = p</a:t>
              </a:r>
              <a:endParaRPr lang="ru-RU" sz="24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89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5.1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Приложение</a:t>
            </a:r>
            <a:r>
              <a:rPr lang="en-US" dirty="0"/>
              <a:t> “</a:t>
            </a:r>
            <a:r>
              <a:rPr lang="ru-RU" dirty="0"/>
              <a:t>Скажи </a:t>
            </a:r>
            <a:r>
              <a:rPr lang="en-US" dirty="0"/>
              <a:t>‘</a:t>
            </a:r>
            <a:r>
              <a:rPr lang="ru-RU" dirty="0"/>
              <a:t>да</a:t>
            </a:r>
            <a:r>
              <a:rPr lang="en-US" dirty="0"/>
              <a:t>’ </a:t>
            </a:r>
            <a:r>
              <a:rPr lang="ru-RU" dirty="0"/>
              <a:t>или </a:t>
            </a:r>
            <a:r>
              <a:rPr lang="en-US" dirty="0"/>
              <a:t>‘</a:t>
            </a:r>
            <a:r>
              <a:rPr lang="ru-RU" dirty="0"/>
              <a:t>нет</a:t>
            </a:r>
            <a:r>
              <a:rPr lang="en-US" dirty="0"/>
              <a:t>’”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E051D9-4D09-43B2-969D-9575E31AE652}"/>
              </a:ext>
            </a:extLst>
          </p:cNvPr>
          <p:cNvSpPr/>
          <p:nvPr/>
        </p:nvSpPr>
        <p:spPr>
          <a:xfrm>
            <a:off x="5905850" y="2927758"/>
            <a:ext cx="3363985" cy="219288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A9FFB0E-3D34-4B14-A3E4-B7EE6642805B}"/>
              </a:ext>
            </a:extLst>
          </p:cNvPr>
          <p:cNvSpPr/>
          <p:nvPr/>
        </p:nvSpPr>
        <p:spPr>
          <a:xfrm>
            <a:off x="5989739" y="3061982"/>
            <a:ext cx="3212984" cy="5200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5FF808-DF3C-461C-A251-7367FEF6AB9E}"/>
              </a:ext>
            </a:extLst>
          </p:cNvPr>
          <p:cNvSpPr/>
          <p:nvPr/>
        </p:nvSpPr>
        <p:spPr>
          <a:xfrm>
            <a:off x="7180975" y="3735820"/>
            <a:ext cx="931178" cy="4041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ответ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6E7A6D-AF39-4973-A3C9-A0E502326574}"/>
              </a:ext>
            </a:extLst>
          </p:cNvPr>
          <p:cNvSpPr/>
          <p:nvPr/>
        </p:nvSpPr>
        <p:spPr>
          <a:xfrm>
            <a:off x="6883166" y="4362275"/>
            <a:ext cx="1526797" cy="6543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/>
              <a:t>НЕТ!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74AB5-B64D-40B3-A989-96BA6DF23B3C}"/>
              </a:ext>
            </a:extLst>
          </p:cNvPr>
          <p:cNvSpPr txBox="1"/>
          <p:nvPr/>
        </p:nvSpPr>
        <p:spPr>
          <a:xfrm>
            <a:off x="5989739" y="3137320"/>
            <a:ext cx="314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Пойти сегодня в университет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220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события из группы событий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A364F-D6A5-4CC4-AAE7-817F82E8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Пусть</a:t>
            </a:r>
            <a:r>
              <a:rPr lang="en-US" sz="2400" dirty="0"/>
              <a:t> </a:t>
            </a:r>
            <a:r>
              <a:rPr lang="en-US" sz="2400" i="1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i="1" dirty="0"/>
              <a:t>A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i="1" dirty="0"/>
              <a:t>A</a:t>
            </a:r>
            <a:r>
              <a:rPr lang="en-US" sz="2400" i="1" baseline="-25000" dirty="0"/>
              <a:t>m</a:t>
            </a:r>
            <a:r>
              <a:rPr lang="en-US" sz="2400" dirty="0"/>
              <a:t> </a:t>
            </a:r>
            <a:r>
              <a:rPr lang="ru-RU" sz="2400" dirty="0"/>
              <a:t>– полная группа попарно несовместных событий</a:t>
            </a:r>
            <a:endParaRPr lang="en-US" sz="2400" dirty="0"/>
          </a:p>
          <a:p>
            <a:r>
              <a:rPr lang="en-US" sz="2400" dirty="0"/>
              <a:t>P{</a:t>
            </a:r>
            <a:r>
              <a:rPr lang="en-US" sz="2400" i="1" dirty="0"/>
              <a:t>A</a:t>
            </a:r>
            <a:r>
              <a:rPr lang="en-US" sz="2400" i="1" baseline="-25000" dirty="0"/>
              <a:t>i</a:t>
            </a:r>
            <a:r>
              <a:rPr lang="en-US" sz="2400" dirty="0"/>
              <a:t>} = </a:t>
            </a:r>
            <a:r>
              <a:rPr lang="en-US" sz="2400" i="1" dirty="0"/>
              <a:t>p</a:t>
            </a:r>
            <a:r>
              <a:rPr lang="en-US" sz="2400" i="1" baseline="-25000" dirty="0"/>
              <a:t>i</a:t>
            </a:r>
            <a:r>
              <a:rPr lang="en-US" sz="2400" i="1" dirty="0"/>
              <a:t>  </a:t>
            </a:r>
            <a:r>
              <a:rPr lang="ru-RU" sz="2400" i="1" dirty="0"/>
              <a:t>   </a:t>
            </a:r>
            <a:r>
              <a:rPr lang="ru-RU" sz="2400" dirty="0"/>
              <a:t>и</a:t>
            </a:r>
            <a:r>
              <a:rPr lang="en-US" sz="2400" dirty="0"/>
              <a:t>  </a:t>
            </a:r>
            <a:endParaRPr lang="ru-RU" sz="2400" i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D38513-623A-4579-9D93-04110BD4F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780" y="2127846"/>
            <a:ext cx="1198874" cy="90110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B3F2BE-2676-4AE0-96B1-F30EC276A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821" y="3137403"/>
            <a:ext cx="8929229" cy="149861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7C6E029-7EB5-458E-B18E-668D5A198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131" y="5097046"/>
            <a:ext cx="8420474" cy="972786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14012EE-0F0E-40C9-AA3D-09A540971433}"/>
              </a:ext>
            </a:extLst>
          </p:cNvPr>
          <p:cNvSpPr/>
          <p:nvPr/>
        </p:nvSpPr>
        <p:spPr>
          <a:xfrm>
            <a:off x="2783112" y="5268371"/>
            <a:ext cx="1149291" cy="6123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Базовый датчик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A84BE58-F3E1-4AFF-B215-CBE99DA57891}"/>
              </a:ext>
            </a:extLst>
          </p:cNvPr>
          <p:cNvSpPr/>
          <p:nvPr/>
        </p:nvSpPr>
        <p:spPr>
          <a:xfrm>
            <a:off x="4888748" y="5209649"/>
            <a:ext cx="1837189" cy="7518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Найти номер интервала, куда попало </a:t>
            </a:r>
            <a:r>
              <a:rPr lang="el-GR" dirty="0"/>
              <a:t>α</a:t>
            </a:r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68F4500-6912-4C1B-9D82-856082FF165B}"/>
              </a:ext>
            </a:extLst>
          </p:cNvPr>
          <p:cNvSpPr/>
          <p:nvPr/>
        </p:nvSpPr>
        <p:spPr>
          <a:xfrm>
            <a:off x="8194011" y="5268371"/>
            <a:ext cx="1778466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Произошло </a:t>
            </a:r>
            <a:r>
              <a:rPr lang="en-US" sz="2000" i="1" dirty="0"/>
              <a:t>A</a:t>
            </a:r>
            <a:r>
              <a:rPr lang="en-US" sz="2000" i="1" baseline="-25000" dirty="0"/>
              <a:t>k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EC5C2-3024-46BD-ADE9-A9B97E143BB9}"/>
              </a:ext>
            </a:extLst>
          </p:cNvPr>
          <p:cNvSpPr txBox="1"/>
          <p:nvPr/>
        </p:nvSpPr>
        <p:spPr>
          <a:xfrm>
            <a:off x="7741391" y="5168642"/>
            <a:ext cx="301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k</a:t>
            </a:r>
            <a:endParaRPr lang="ru-RU" sz="2000" i="1" dirty="0"/>
          </a:p>
        </p:txBody>
      </p:sp>
    </p:spTree>
    <p:extLst>
      <p:ext uri="{BB962C8B-B14F-4D97-AF65-F5344CB8AC3E}">
        <p14:creationId xmlns:p14="http://schemas.microsoft.com/office/powerpoint/2010/main" val="51403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 animBg="1"/>
      <p:bldP spid="22" grpId="0" animBg="1"/>
      <p:bldP spid="23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5B8DD6-5096-4089-BB27-86996723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2961800" cy="2397874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Алгоритм генерации события из группы событий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886EF5-761F-4E31-880E-3D7B2C766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432" y="2398080"/>
            <a:ext cx="2944817" cy="3471013"/>
          </a:xfrm>
        </p:spPr>
        <p:txBody>
          <a:bodyPr>
            <a:normAutofit/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BA124A-B811-4B60-938B-027649B8DB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874"/>
          <a:stretch/>
        </p:blipFill>
        <p:spPr>
          <a:xfrm>
            <a:off x="4079928" y="762161"/>
            <a:ext cx="6792288" cy="50817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11601EB-92BB-426B-A392-0F9ED8AE0ED2}"/>
              </a:ext>
            </a:extLst>
          </p:cNvPr>
          <p:cNvSpPr/>
          <p:nvPr/>
        </p:nvSpPr>
        <p:spPr>
          <a:xfrm>
            <a:off x="8586216" y="4535424"/>
            <a:ext cx="17282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произошло </a:t>
            </a:r>
            <a:r>
              <a:rPr lang="en-US" sz="2000" i="1" dirty="0"/>
              <a:t>A</a:t>
            </a:r>
            <a:r>
              <a:rPr lang="en-US" sz="2000" i="1" baseline="-25000" dirty="0"/>
              <a:t>k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18199-760D-47C8-BBB5-97F92775D70F}"/>
              </a:ext>
            </a:extLst>
          </p:cNvPr>
          <p:cNvSpPr txBox="1"/>
          <p:nvPr/>
        </p:nvSpPr>
        <p:spPr>
          <a:xfrm>
            <a:off x="8586216" y="330302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DB830-687C-422F-AA6A-68E3D0A38982}"/>
              </a:ext>
            </a:extLst>
          </p:cNvPr>
          <p:cNvSpPr txBox="1"/>
          <p:nvPr/>
        </p:nvSpPr>
        <p:spPr>
          <a:xfrm>
            <a:off x="5690589" y="3309320"/>
            <a:ext cx="512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нет</a:t>
            </a:r>
          </a:p>
        </p:txBody>
      </p:sp>
    </p:spTree>
    <p:extLst>
      <p:ext uri="{BB962C8B-B14F-4D97-AF65-F5344CB8AC3E}">
        <p14:creationId xmlns:p14="http://schemas.microsoft.com/office/powerpoint/2010/main" val="454231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5.2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en-US" dirty="0"/>
              <a:t> “</a:t>
            </a:r>
            <a:r>
              <a:rPr lang="ru-RU" dirty="0"/>
              <a:t>Шар предсказаний</a:t>
            </a:r>
            <a:r>
              <a:rPr lang="en-US" dirty="0"/>
              <a:t>” (“Magic 8-Ball”)</a:t>
            </a:r>
            <a:endParaRPr lang="ru-RU" dirty="0"/>
          </a:p>
        </p:txBody>
      </p:sp>
      <p:pic>
        <p:nvPicPr>
          <p:cNvPr id="2050" name="Picture 2" descr="https://upload.wikimedia.org/wikipedia/commons/9/90/Magic8ball.jpg">
            <a:extLst>
              <a:ext uri="{FF2B5EF4-FFF2-40B4-BE49-F238E27FC236}">
                <a16:creationId xmlns:a16="http://schemas.microsoft.com/office/drawing/2014/main" id="{BD3ED9A4-6513-49B3-9617-B39E9E4CA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480" y="2935224"/>
            <a:ext cx="3203448" cy="3203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Трасса 60 / Interstate 60 | ВКонтакте">
            <a:extLst>
              <a:ext uri="{FF2B5EF4-FFF2-40B4-BE49-F238E27FC236}">
                <a16:creationId xmlns:a16="http://schemas.microsoft.com/office/drawing/2014/main" id="{04C886BE-E5D2-40D6-84ED-FB9E070EC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746" y="3880290"/>
            <a:ext cx="1532525" cy="227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623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C626D-9813-40F2-B535-2606657DA3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6912" y="282236"/>
            <a:ext cx="5399088" cy="1449387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Статистическая обработка результатов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BC8926-B841-4FA1-93A8-1123CEB2742D}"/>
              </a:ext>
            </a:extLst>
          </p:cNvPr>
          <p:cNvSpPr txBox="1"/>
          <p:nvPr/>
        </p:nvSpPr>
        <p:spPr>
          <a:xfrm>
            <a:off x="6096000" y="5636138"/>
            <a:ext cx="20760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Statistics[k] -&gt; </a:t>
            </a:r>
            <a:r>
              <a:rPr lang="en-US" sz="2000" i="1" dirty="0">
                <a:solidFill>
                  <a:schemeClr val="bg2">
                    <a:lumMod val="50000"/>
                  </a:schemeClr>
                </a:solidFill>
              </a:rPr>
              <a:t>n</a:t>
            </a:r>
            <a:r>
              <a:rPr lang="en-US" sz="2000" i="1" baseline="-25000" dirty="0">
                <a:solidFill>
                  <a:schemeClr val="bg2">
                    <a:lumMod val="50000"/>
                  </a:schemeClr>
                </a:solidFill>
              </a:rPr>
              <a:t>k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Frequency[k] -&gt;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ṗ</a:t>
            </a:r>
            <a:r>
              <a:rPr lang="en-US" sz="2000" i="1" baseline="-25000" dirty="0" err="1">
                <a:solidFill>
                  <a:schemeClr val="bg2">
                    <a:lumMod val="50000"/>
                  </a:schemeClr>
                </a:solidFill>
              </a:rPr>
              <a:t>k</a:t>
            </a:r>
            <a:endParaRPr lang="ru-RU" sz="2000" i="1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6727B4-2799-4BB5-AF78-4DB289416E48}"/>
              </a:ext>
            </a:extLst>
          </p:cNvPr>
          <p:cNvSpPr txBox="1"/>
          <p:nvPr/>
        </p:nvSpPr>
        <p:spPr>
          <a:xfrm>
            <a:off x="696912" y="2638697"/>
            <a:ext cx="6069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Относительные частоты (эмпирические вероятности)</a:t>
            </a:r>
            <a:r>
              <a:rPr lang="en-US" sz="2000" dirty="0"/>
              <a:t>:</a:t>
            </a:r>
            <a:endParaRPr lang="ru-RU" sz="2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B56EA1-68B4-4C9B-BD91-648881F4B0B1}"/>
              </a:ext>
            </a:extLst>
          </p:cNvPr>
          <p:cNvSpPr txBox="1"/>
          <p:nvPr/>
        </p:nvSpPr>
        <p:spPr>
          <a:xfrm>
            <a:off x="696912" y="4580709"/>
            <a:ext cx="6433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n</a:t>
            </a:r>
            <a:r>
              <a:rPr lang="en-US" sz="2000" i="1" baseline="-25000" dirty="0"/>
              <a:t>k</a:t>
            </a:r>
            <a:r>
              <a:rPr lang="en-US" sz="2000" dirty="0"/>
              <a:t> </a:t>
            </a:r>
            <a:r>
              <a:rPr lang="ru-RU" sz="2000" dirty="0"/>
              <a:t>– частота (число) появлений события </a:t>
            </a:r>
            <a:r>
              <a:rPr lang="en-US" sz="2000" i="1" dirty="0"/>
              <a:t>A</a:t>
            </a:r>
            <a:r>
              <a:rPr lang="en-US" sz="2000" i="1" baseline="-25000" dirty="0"/>
              <a:t>k</a:t>
            </a:r>
            <a:r>
              <a:rPr lang="en-US" sz="2000" i="1" dirty="0"/>
              <a:t> , k</a:t>
            </a:r>
            <a:r>
              <a:rPr lang="en-US" sz="2000" dirty="0"/>
              <a:t> = 1, 2, …, </a:t>
            </a:r>
            <a:r>
              <a:rPr lang="en-US" sz="2000" i="1" dirty="0"/>
              <a:t>m</a:t>
            </a:r>
            <a:endParaRPr lang="en-US" sz="2000" dirty="0"/>
          </a:p>
          <a:p>
            <a:r>
              <a:rPr lang="en-US" sz="2000" i="1" dirty="0"/>
              <a:t>N</a:t>
            </a:r>
            <a:r>
              <a:rPr lang="en-US" sz="2000" dirty="0"/>
              <a:t> </a:t>
            </a:r>
            <a:r>
              <a:rPr lang="ru-RU" sz="2000" dirty="0"/>
              <a:t>– общее число попыток (объем выборки)</a:t>
            </a:r>
            <a:endParaRPr lang="en-US" sz="2000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C716AF76-360B-0EC8-3147-5428C6AFD8A1}"/>
              </a:ext>
            </a:extLst>
          </p:cNvPr>
          <p:cNvGrpSpPr/>
          <p:nvPr/>
        </p:nvGrpSpPr>
        <p:grpSpPr>
          <a:xfrm>
            <a:off x="8527594" y="0"/>
            <a:ext cx="3407169" cy="6344024"/>
            <a:chOff x="8260894" y="0"/>
            <a:chExt cx="3407169" cy="634402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91C4C2-C6B2-9F09-443D-CA1D4F62A377}"/>
                </a:ext>
              </a:extLst>
            </p:cNvPr>
            <p:cNvSpPr txBox="1"/>
            <p:nvPr/>
          </p:nvSpPr>
          <p:spPr>
            <a:xfrm>
              <a:off x="8582840" y="2870815"/>
              <a:ext cx="242348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ru-RU" dirty="0"/>
                <a:t>Генерация события</a:t>
              </a:r>
              <a:r>
                <a:rPr lang="en-US" dirty="0"/>
                <a:t> -&gt;k</a:t>
              </a:r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22E56A-4270-3993-A8B1-5A34B1F9E324}"/>
                </a:ext>
              </a:extLst>
            </p:cNvPr>
            <p:cNvSpPr txBox="1"/>
            <p:nvPr/>
          </p:nvSpPr>
          <p:spPr>
            <a:xfrm>
              <a:off x="8735895" y="245586"/>
              <a:ext cx="2117375" cy="3464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Array Statistics[m]=0</a:t>
              </a:r>
              <a:endParaRPr lang="ru-RU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0D8DC8-7612-04EE-29C4-822AD6078D65}"/>
                </a:ext>
              </a:extLst>
            </p:cNvPr>
            <p:cNvSpPr txBox="1"/>
            <p:nvPr/>
          </p:nvSpPr>
          <p:spPr>
            <a:xfrm>
              <a:off x="9051943" y="3647929"/>
              <a:ext cx="1485278" cy="3464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Statistics[k]++</a:t>
              </a:r>
              <a:endParaRPr lang="ru-RU" dirty="0"/>
            </a:p>
          </p:txBody>
        </p:sp>
        <p:sp>
          <p:nvSpPr>
            <p:cNvPr id="15" name="Ромб 14">
              <a:extLst>
                <a:ext uri="{FF2B5EF4-FFF2-40B4-BE49-F238E27FC236}">
                  <a16:creationId xmlns:a16="http://schemas.microsoft.com/office/drawing/2014/main" id="{FAEB5CCC-C289-7D62-4502-5315FFC91729}"/>
                </a:ext>
              </a:extLst>
            </p:cNvPr>
            <p:cNvSpPr/>
            <p:nvPr/>
          </p:nvSpPr>
          <p:spPr>
            <a:xfrm>
              <a:off x="9014707" y="1695247"/>
              <a:ext cx="1574084" cy="710667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 &lt; N</a:t>
              </a:r>
              <a:endParaRPr lang="ru-RU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7C18C6-439D-F460-235C-5D64D22FED69}"/>
                </a:ext>
              </a:extLst>
            </p:cNvPr>
            <p:cNvSpPr txBox="1"/>
            <p:nvPr/>
          </p:nvSpPr>
          <p:spPr>
            <a:xfrm>
              <a:off x="9472219" y="845547"/>
              <a:ext cx="64472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n = 0</a:t>
              </a:r>
              <a:endParaRPr lang="ru-RU" dirty="0"/>
            </a:p>
          </p:txBody>
        </p: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856F431E-4ED8-7634-1BC3-914B49C37402}"/>
                </a:ext>
              </a:extLst>
            </p:cNvPr>
            <p:cNvCxnSpPr>
              <a:stCxn id="12" idx="2"/>
              <a:endCxn id="16" idx="0"/>
            </p:cNvCxnSpPr>
            <p:nvPr/>
          </p:nvCxnSpPr>
          <p:spPr>
            <a:xfrm>
              <a:off x="9794583" y="592017"/>
              <a:ext cx="0" cy="253530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80E5DC23-3CBA-80B5-5813-5F52740A015C}"/>
                </a:ext>
              </a:extLst>
            </p:cNvPr>
            <p:cNvCxnSpPr>
              <a:cxnSpLocks/>
              <a:stCxn id="16" idx="2"/>
              <a:endCxn id="15" idx="0"/>
            </p:cNvCxnSpPr>
            <p:nvPr/>
          </p:nvCxnSpPr>
          <p:spPr>
            <a:xfrm>
              <a:off x="9794583" y="1214879"/>
              <a:ext cx="7166" cy="480368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>
              <a:extLst>
                <a:ext uri="{FF2B5EF4-FFF2-40B4-BE49-F238E27FC236}">
                  <a16:creationId xmlns:a16="http://schemas.microsoft.com/office/drawing/2014/main" id="{94DA5AF9-FE79-8A5A-416D-0BE724B61216}"/>
                </a:ext>
              </a:extLst>
            </p:cNvPr>
            <p:cNvCxnSpPr>
              <a:cxnSpLocks/>
              <a:stCxn id="15" idx="2"/>
              <a:endCxn id="9" idx="0"/>
            </p:cNvCxnSpPr>
            <p:nvPr/>
          </p:nvCxnSpPr>
          <p:spPr>
            <a:xfrm flipH="1">
              <a:off x="9794582" y="2405914"/>
              <a:ext cx="7167" cy="464901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>
              <a:extLst>
                <a:ext uri="{FF2B5EF4-FFF2-40B4-BE49-F238E27FC236}">
                  <a16:creationId xmlns:a16="http://schemas.microsoft.com/office/drawing/2014/main" id="{9462A036-FC54-B3EF-E436-CA1C99D55EAD}"/>
                </a:ext>
              </a:extLst>
            </p:cNvPr>
            <p:cNvCxnSpPr>
              <a:cxnSpLocks/>
              <a:stCxn id="9" idx="2"/>
              <a:endCxn id="13" idx="0"/>
            </p:cNvCxnSpPr>
            <p:nvPr/>
          </p:nvCxnSpPr>
          <p:spPr>
            <a:xfrm>
              <a:off x="9794582" y="3240147"/>
              <a:ext cx="0" cy="407782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2E47D9-8BA6-B715-9744-8CB601AEF6D2}"/>
                </a:ext>
              </a:extLst>
            </p:cNvPr>
            <p:cNvSpPr txBox="1"/>
            <p:nvPr/>
          </p:nvSpPr>
          <p:spPr>
            <a:xfrm>
              <a:off x="9757345" y="2467983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да</a:t>
              </a:r>
            </a:p>
          </p:txBody>
        </p: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75203963-1F1E-6FDA-E7E9-1CEB1FF9E8C9}"/>
                </a:ext>
              </a:extLst>
            </p:cNvPr>
            <p:cNvCxnSpPr>
              <a:stCxn id="15" idx="3"/>
            </p:cNvCxnSpPr>
            <p:nvPr/>
          </p:nvCxnSpPr>
          <p:spPr>
            <a:xfrm>
              <a:off x="10588791" y="2050581"/>
              <a:ext cx="81752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0B3412AB-59AE-2D1B-515D-FD17B383018D}"/>
                </a:ext>
              </a:extLst>
            </p:cNvPr>
            <p:cNvCxnSpPr>
              <a:cxnSpLocks/>
            </p:cNvCxnSpPr>
            <p:nvPr/>
          </p:nvCxnSpPr>
          <p:spPr>
            <a:xfrm>
              <a:off x="11364685" y="2059235"/>
              <a:ext cx="0" cy="312364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3BD75500-F2A4-84B1-1CED-6BF302103A3B}"/>
                </a:ext>
              </a:extLst>
            </p:cNvPr>
            <p:cNvCxnSpPr/>
            <p:nvPr/>
          </p:nvCxnSpPr>
          <p:spPr>
            <a:xfrm flipH="1">
              <a:off x="9744878" y="5182882"/>
              <a:ext cx="1604567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>
              <a:extLst>
                <a:ext uri="{FF2B5EF4-FFF2-40B4-BE49-F238E27FC236}">
                  <a16:creationId xmlns:a16="http://schemas.microsoft.com/office/drawing/2014/main" id="{93757F17-5EE1-6F63-E765-86A28122BC79}"/>
                </a:ext>
              </a:extLst>
            </p:cNvPr>
            <p:cNvCxnSpPr>
              <a:cxnSpLocks/>
            </p:cNvCxnSpPr>
            <p:nvPr/>
          </p:nvCxnSpPr>
          <p:spPr>
            <a:xfrm>
              <a:off x="9748635" y="5182882"/>
              <a:ext cx="0" cy="233920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41A97B7-8822-1C37-59AC-A7D60B3DB042}"/>
                </a:ext>
              </a:extLst>
            </p:cNvPr>
            <p:cNvSpPr txBox="1"/>
            <p:nvPr/>
          </p:nvSpPr>
          <p:spPr>
            <a:xfrm>
              <a:off x="11155679" y="1703901"/>
              <a:ext cx="5123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нет</a:t>
              </a:r>
            </a:p>
          </p:txBody>
        </p: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04E86493-09B2-78C4-F0C5-A2EA2B9CD9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4878" y="4561250"/>
              <a:ext cx="1733" cy="43879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6B6C1CAA-89A5-EEC9-344C-29DEAD72CD89}"/>
                </a:ext>
              </a:extLst>
            </p:cNvPr>
            <p:cNvCxnSpPr/>
            <p:nvPr/>
          </p:nvCxnSpPr>
          <p:spPr>
            <a:xfrm flipH="1">
              <a:off x="8445569" y="4993008"/>
              <a:ext cx="129930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940AF6FB-FC91-CCDA-D362-E9361ACE5E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4732" y="1447939"/>
              <a:ext cx="0" cy="354506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Прямая со стрелкой 50">
              <a:extLst>
                <a:ext uri="{FF2B5EF4-FFF2-40B4-BE49-F238E27FC236}">
                  <a16:creationId xmlns:a16="http://schemas.microsoft.com/office/drawing/2014/main" id="{3F9BAEA2-37BA-74C5-DD04-701B9DBEC61D}"/>
                </a:ext>
              </a:extLst>
            </p:cNvPr>
            <p:cNvCxnSpPr/>
            <p:nvPr/>
          </p:nvCxnSpPr>
          <p:spPr>
            <a:xfrm>
              <a:off x="8447314" y="1447939"/>
              <a:ext cx="1312804" cy="0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Прямая со стрелкой 51">
              <a:extLst>
                <a:ext uri="{FF2B5EF4-FFF2-40B4-BE49-F238E27FC236}">
                  <a16:creationId xmlns:a16="http://schemas.microsoft.com/office/drawing/2014/main" id="{81F5F0B9-A853-6A5C-015B-FADE3AACA05B}"/>
                </a:ext>
              </a:extLst>
            </p:cNvPr>
            <p:cNvCxnSpPr>
              <a:cxnSpLocks/>
            </p:cNvCxnSpPr>
            <p:nvPr/>
          </p:nvCxnSpPr>
          <p:spPr>
            <a:xfrm>
              <a:off x="9760116" y="0"/>
              <a:ext cx="0" cy="240318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90A5F6A-BF96-99E7-55C7-07BDB2BD1B66}"/>
                </a:ext>
              </a:extLst>
            </p:cNvPr>
            <p:cNvSpPr txBox="1"/>
            <p:nvPr/>
          </p:nvSpPr>
          <p:spPr>
            <a:xfrm>
              <a:off x="8260894" y="5438844"/>
              <a:ext cx="3045129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foreach</a:t>
              </a:r>
              <a:r>
                <a:rPr lang="ru-RU" dirty="0"/>
                <a:t> </a:t>
              </a:r>
              <a:r>
                <a:rPr lang="en-US" dirty="0"/>
                <a:t>k:</a:t>
              </a:r>
            </a:p>
            <a:p>
              <a:r>
                <a:rPr lang="en-US" dirty="0"/>
                <a:t>Frequency[k] = Statistics[k] / N</a:t>
              </a:r>
              <a:endParaRPr lang="ru-RU" dirty="0"/>
            </a:p>
          </p:txBody>
        </p:sp>
        <p:cxnSp>
          <p:nvCxnSpPr>
            <p:cNvPr id="54" name="Прямая со стрелкой 53">
              <a:extLst>
                <a:ext uri="{FF2B5EF4-FFF2-40B4-BE49-F238E27FC236}">
                  <a16:creationId xmlns:a16="http://schemas.microsoft.com/office/drawing/2014/main" id="{BFB897AD-9414-3316-B262-C0EE7E2481E1}"/>
                </a:ext>
              </a:extLst>
            </p:cNvPr>
            <p:cNvCxnSpPr>
              <a:cxnSpLocks/>
            </p:cNvCxnSpPr>
            <p:nvPr/>
          </p:nvCxnSpPr>
          <p:spPr>
            <a:xfrm>
              <a:off x="9757348" y="6045099"/>
              <a:ext cx="0" cy="298925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D79D1EA-EA84-7D69-A8F6-22A34B9BF63A}"/>
                </a:ext>
              </a:extLst>
            </p:cNvPr>
            <p:cNvSpPr txBox="1"/>
            <p:nvPr/>
          </p:nvSpPr>
          <p:spPr>
            <a:xfrm>
              <a:off x="9476141" y="4231899"/>
              <a:ext cx="59189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n ++</a:t>
              </a:r>
              <a:endParaRPr lang="ru-RU" dirty="0"/>
            </a:p>
          </p:txBody>
        </p:sp>
        <p:cxnSp>
          <p:nvCxnSpPr>
            <p:cNvPr id="56" name="Прямая со стрелкой 55">
              <a:extLst>
                <a:ext uri="{FF2B5EF4-FFF2-40B4-BE49-F238E27FC236}">
                  <a16:creationId xmlns:a16="http://schemas.microsoft.com/office/drawing/2014/main" id="{99B346C2-7A09-C92E-449E-029EC145215A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28" y="4003979"/>
              <a:ext cx="0" cy="227920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E789C0CE-783D-8B64-DA34-EBABC5D30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27" y="3252244"/>
            <a:ext cx="1232960" cy="86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0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A4752-960D-4DCA-B9EC-1C93091D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291" y="286603"/>
            <a:ext cx="10437092" cy="1450757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делать, если в группе есть совместные события или группа не полна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8F638-F0F4-4097-BEE4-8566E4F7A882}"/>
              </a:ext>
            </a:extLst>
          </p:cNvPr>
          <p:cNvSpPr txBox="1"/>
          <p:nvPr/>
        </p:nvSpPr>
        <p:spPr>
          <a:xfrm>
            <a:off x="1523408" y="3075057"/>
            <a:ext cx="2585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{«будет тепло», 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ru-RU" sz="2400" dirty="0">
                <a:solidFill>
                  <a:srgbClr val="C00000"/>
                </a:solidFill>
              </a:rPr>
              <a:t>«пойдет дождь»} </a:t>
            </a:r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2ED612AF-84B7-4760-8DF5-10C58318E87C}"/>
              </a:ext>
            </a:extLst>
          </p:cNvPr>
          <p:cNvSpPr/>
          <p:nvPr/>
        </p:nvSpPr>
        <p:spPr>
          <a:xfrm>
            <a:off x="5334319" y="3273641"/>
            <a:ext cx="807868" cy="3107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2CC9F-6FAB-4786-9D90-33204E17D811}"/>
              </a:ext>
            </a:extLst>
          </p:cNvPr>
          <p:cNvSpPr txBox="1"/>
          <p:nvPr/>
        </p:nvSpPr>
        <p:spPr>
          <a:xfrm>
            <a:off x="7428583" y="2882595"/>
            <a:ext cx="39968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{«будет тепло без дождя», </a:t>
            </a:r>
            <a:endParaRPr lang="en-US" sz="2400" dirty="0"/>
          </a:p>
          <a:p>
            <a:r>
              <a:rPr lang="en-US" sz="2400" dirty="0"/>
              <a:t> </a:t>
            </a:r>
            <a:r>
              <a:rPr lang="ru-RU" sz="2400" dirty="0"/>
              <a:t>«будет тепло и дождь», </a:t>
            </a:r>
            <a:endParaRPr lang="en-US" sz="2400" dirty="0"/>
          </a:p>
          <a:p>
            <a:r>
              <a:rPr lang="en-US" sz="2400" dirty="0"/>
              <a:t> </a:t>
            </a:r>
            <a:r>
              <a:rPr lang="ru-RU" sz="2400" dirty="0"/>
              <a:t>«будет холодно и дождь», </a:t>
            </a:r>
            <a:endParaRPr lang="en-US" sz="2400" dirty="0"/>
          </a:p>
          <a:p>
            <a:r>
              <a:rPr lang="en-US" sz="2400" dirty="0"/>
              <a:t> </a:t>
            </a:r>
            <a:r>
              <a:rPr lang="ru-RU" sz="2400" dirty="0"/>
              <a:t>«будет холодно без дождя»}</a:t>
            </a:r>
          </a:p>
        </p:txBody>
      </p:sp>
    </p:spTree>
    <p:extLst>
      <p:ext uri="{BB962C8B-B14F-4D97-AF65-F5344CB8AC3E}">
        <p14:creationId xmlns:p14="http://schemas.microsoft.com/office/powerpoint/2010/main" val="365906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build="p"/>
    </p:bldLst>
  </p:timing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320</Words>
  <Application>Microsoft Office PowerPoint</Application>
  <PresentationFormat>Широкоэкранный</PresentationFormat>
  <Paragraphs>78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Ретро</vt:lpstr>
      <vt:lpstr>Стохастическое моделирование</vt:lpstr>
      <vt:lpstr>Случайные объекты и базовый датчик</vt:lpstr>
      <vt:lpstr>Геометрический смысл вероятности</vt:lpstr>
      <vt:lpstr>Датчик случайного события</vt:lpstr>
      <vt:lpstr>Лабораторная 5.1</vt:lpstr>
      <vt:lpstr>Генерация события из группы событий</vt:lpstr>
      <vt:lpstr>Алгоритм генерации события из группы событий</vt:lpstr>
      <vt:lpstr>Лабораторная 5.2</vt:lpstr>
      <vt:lpstr>Статистическая обработка результатов</vt:lpstr>
      <vt:lpstr>Что делать, если в группе есть совместные события или группа не полна?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39</cp:revision>
  <dcterms:created xsi:type="dcterms:W3CDTF">2019-02-17T03:59:10Z</dcterms:created>
  <dcterms:modified xsi:type="dcterms:W3CDTF">2026-02-19T06:52:44Z</dcterms:modified>
</cp:coreProperties>
</file>