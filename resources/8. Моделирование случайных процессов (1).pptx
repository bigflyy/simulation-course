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20" r:id="rId3"/>
    <p:sldId id="274" r:id="rId4"/>
    <p:sldId id="282" r:id="rId5"/>
    <p:sldId id="283" r:id="rId6"/>
    <p:sldId id="284" r:id="rId7"/>
    <p:sldId id="285" r:id="rId8"/>
    <p:sldId id="286" r:id="rId9"/>
    <p:sldId id="267" r:id="rId10"/>
    <p:sldId id="292" r:id="rId11"/>
    <p:sldId id="287" r:id="rId12"/>
    <p:sldId id="288" r:id="rId13"/>
    <p:sldId id="290" r:id="rId14"/>
    <p:sldId id="29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3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CEF3B-A037-46D0-B02C-1428F07E9383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E482DC-2269-4F26-9D2A-7E44B1A4CD8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6DFF08F-DC6B-4601-B491-B0F83F6DD2DA}" type="datetimeFigureOut">
              <a:rPr lang="en-US" dirty="0"/>
              <a:pPr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7" Type="http://schemas.openxmlformats.org/officeDocument/2006/relationships/image" Target="../media/image1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5BB22-DDCC-42F4-9A4F-1E7EC4F0777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Стохастическое моделирование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286AF3C-0DF0-4311-AC7B-851BFA2F4B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Моделирование случайных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199510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ADAF64D-59BC-4500-9CD1-012C1C00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dirty="0"/>
              <a:t>Случайные объекты и базовый датчик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088774F-DE5E-4488-9B5B-22879A834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u="sng" dirty="0">
              <a:solidFill>
                <a:schemeClr val="accent2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события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величины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процессы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ru-RU" sz="2800" dirty="0"/>
              <a:t>Случайные потоки событий</a:t>
            </a:r>
            <a:endParaRPr lang="en-US" sz="2800" dirty="0"/>
          </a:p>
          <a:p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150F4AC-48CA-4C61-A163-9D04488283D9}"/>
              </a:ext>
            </a:extLst>
          </p:cNvPr>
          <p:cNvSpPr/>
          <p:nvPr/>
        </p:nvSpPr>
        <p:spPr>
          <a:xfrm>
            <a:off x="5551834" y="2899445"/>
            <a:ext cx="1333850" cy="1059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БД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DCA8AF0-29E5-462F-8D22-C685DCBDDA83}"/>
              </a:ext>
            </a:extLst>
          </p:cNvPr>
          <p:cNvSpPr/>
          <p:nvPr/>
        </p:nvSpPr>
        <p:spPr>
          <a:xfrm>
            <a:off x="7927315" y="2899445"/>
            <a:ext cx="2077819" cy="105911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Преобразование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0DDDF8A5-B9DA-48F8-9D23-AE9EFEFC5BDC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6885684" y="3429000"/>
            <a:ext cx="10416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DFA400E-A495-48C5-BA5E-2402ACA46FFA}"/>
              </a:ext>
            </a:extLst>
          </p:cNvPr>
          <p:cNvSpPr txBox="1"/>
          <p:nvPr/>
        </p:nvSpPr>
        <p:spPr>
          <a:xfrm>
            <a:off x="7236497" y="3069931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/>
              <a:t>α</a:t>
            </a:r>
            <a:endParaRPr lang="ru-RU" dirty="0"/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40D2C55-6442-4D40-BC8C-334FAEA11400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10005134" y="3429000"/>
            <a:ext cx="1150546" cy="10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9EB8045-EB3C-413B-8626-F498FFB5362A}"/>
              </a:ext>
            </a:extLst>
          </p:cNvPr>
          <p:cNvSpPr txBox="1"/>
          <p:nvPr/>
        </p:nvSpPr>
        <p:spPr>
          <a:xfrm>
            <a:off x="10771183" y="3059668"/>
            <a:ext cx="304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63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animBg="1"/>
      <p:bldP spid="7" grpId="0" animBg="1"/>
      <p:bldP spid="9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E67FA3-7520-42DE-BA9B-3E63D5BB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647877" cy="1450757"/>
          </a:xfrm>
        </p:spPr>
        <p:txBody>
          <a:bodyPr>
            <a:normAutofit/>
          </a:bodyPr>
          <a:lstStyle/>
          <a:p>
            <a:r>
              <a:rPr lang="ru-RU" dirty="0"/>
              <a:t>Цепь Маркова с дискретным временем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A35A11-3ED0-4DB9-9CDE-B2F69037783C}"/>
              </a:ext>
            </a:extLst>
          </p:cNvPr>
          <p:cNvSpPr txBox="1"/>
          <p:nvPr/>
        </p:nvSpPr>
        <p:spPr>
          <a:xfrm>
            <a:off x="602978" y="2024413"/>
            <a:ext cx="138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Состояния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1F9EC0-5314-43E4-B12B-2BCAE42AC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011" y="2053168"/>
            <a:ext cx="1432248" cy="3583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DB8F10E-E2BF-4197-9733-DFD7F0BDD961}"/>
              </a:ext>
            </a:extLst>
          </p:cNvPr>
          <p:cNvSpPr txBox="1"/>
          <p:nvPr/>
        </p:nvSpPr>
        <p:spPr>
          <a:xfrm>
            <a:off x="602978" y="2511345"/>
            <a:ext cx="23987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Моменты перехода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7880BFC-E65F-42B0-9054-DFFC4F228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1776" y="2548141"/>
            <a:ext cx="774560" cy="358331"/>
          </a:xfrm>
          <a:prstGeom prst="rect">
            <a:avLst/>
          </a:prstGeom>
        </p:spPr>
      </p:pic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146BCDE-19D9-4D29-836E-4D36F9C93BD2}"/>
              </a:ext>
            </a:extLst>
          </p:cNvPr>
          <p:cNvCxnSpPr/>
          <p:nvPr/>
        </p:nvCxnSpPr>
        <p:spPr>
          <a:xfrm>
            <a:off x="4124131" y="2232333"/>
            <a:ext cx="1138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5B10DF9-6D94-4CF6-BE86-A6AC067C4729}"/>
              </a:ext>
            </a:extLst>
          </p:cNvPr>
          <p:cNvSpPr txBox="1"/>
          <p:nvPr/>
        </p:nvSpPr>
        <p:spPr>
          <a:xfrm>
            <a:off x="5803641" y="2007366"/>
            <a:ext cx="1117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1, 2, …, </a:t>
            </a:r>
            <a:r>
              <a:rPr lang="en-US" sz="2000" i="1" dirty="0"/>
              <a:t>n</a:t>
            </a:r>
            <a:endParaRPr lang="ru-RU" sz="2000" i="1" dirty="0"/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3FA44C33-8157-4091-9F31-D8C5DFC8575B}"/>
              </a:ext>
            </a:extLst>
          </p:cNvPr>
          <p:cNvCxnSpPr/>
          <p:nvPr/>
        </p:nvCxnSpPr>
        <p:spPr>
          <a:xfrm>
            <a:off x="4124131" y="2727307"/>
            <a:ext cx="11383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8E463B5-0863-470E-BAC3-9D5A374C3728}"/>
              </a:ext>
            </a:extLst>
          </p:cNvPr>
          <p:cNvSpPr txBox="1"/>
          <p:nvPr/>
        </p:nvSpPr>
        <p:spPr>
          <a:xfrm>
            <a:off x="5803641" y="2511863"/>
            <a:ext cx="9220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1, 2, … </a:t>
            </a:r>
            <a:endParaRPr lang="ru-RU" sz="2000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1FC83F-1C4D-4450-94CA-960BF522CAC0}"/>
              </a:ext>
            </a:extLst>
          </p:cNvPr>
          <p:cNvSpPr txBox="1"/>
          <p:nvPr/>
        </p:nvSpPr>
        <p:spPr>
          <a:xfrm>
            <a:off x="627618" y="3262248"/>
            <a:ext cx="106478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chemeClr val="accent2"/>
                </a:solidFill>
              </a:rPr>
              <a:t>Свойство марковости</a:t>
            </a:r>
            <a:r>
              <a:rPr lang="en-US" sz="2000" b="1" dirty="0">
                <a:solidFill>
                  <a:schemeClr val="accent2"/>
                </a:solidFill>
              </a:rPr>
              <a:t>:</a:t>
            </a:r>
            <a:r>
              <a:rPr lang="en-US" sz="2000" dirty="0"/>
              <a:t> </a:t>
            </a:r>
            <a:r>
              <a:rPr lang="ru-RU" sz="2000" dirty="0"/>
              <a:t>распределение условных вероятностей будущего состояния процесса зависит только от его текущего состояния и не зависит от прошлых состояний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48F2F09-58F4-40FB-817F-7F37A406F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133" y="4766384"/>
            <a:ext cx="3065240" cy="4138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1AF718B-100D-401B-8F24-0AECE1BB5A6B}"/>
              </a:ext>
            </a:extLst>
          </p:cNvPr>
          <p:cNvSpPr txBox="1"/>
          <p:nvPr/>
        </p:nvSpPr>
        <p:spPr>
          <a:xfrm>
            <a:off x="1097280" y="4754275"/>
            <a:ext cx="2711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Вероятности перехода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9071EC2-45A7-4FE0-98E1-C3E82C4122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90" y="4352928"/>
            <a:ext cx="2101395" cy="120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4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1" grpId="0"/>
      <p:bldP spid="13" grpId="0"/>
      <p:bldP spid="14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62EC66-2C0F-4B8B-82DB-5068F4FD0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417058" cy="1450757"/>
          </a:xfrm>
        </p:spPr>
        <p:txBody>
          <a:bodyPr/>
          <a:lstStyle/>
          <a:p>
            <a:r>
              <a:rPr lang="ru-RU" dirty="0"/>
              <a:t>Цепь Маркова с дискретным временем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3219C1B-023D-4E5B-BE22-17BF8469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374" y="3161350"/>
            <a:ext cx="3962400" cy="1076325"/>
          </a:xfrm>
          <a:prstGeom prst="rect">
            <a:avLst/>
          </a:prstGeom>
        </p:spPr>
      </p:pic>
      <p:pic>
        <p:nvPicPr>
          <p:cNvPr id="1026" name="Picture 2" descr="Ð¦ÐµÐ¿Ñ ÐÐ°ÑÐºÐ¾Ð²Ð° â ÑÑÐ¾ Ð¿ÑÐ¾ÑÑÐ¾: Ð¾Ð±ÑÑÑÐ½ÑÐµÐ¼ Ð½Ð° Ð¿Ð°Ð»ÑÑÐ°Ñ">
            <a:extLst>
              <a:ext uri="{FF2B5EF4-FFF2-40B4-BE49-F238E27FC236}">
                <a16:creationId xmlns:a16="http://schemas.microsoft.com/office/drawing/2014/main" id="{97244E6F-8DF6-45B3-B6B5-AE6BDC33D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134" y="1990220"/>
            <a:ext cx="4406692" cy="3260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4gophers.ru/img/markovchain/markovchain.png">
            <a:extLst>
              <a:ext uri="{FF2B5EF4-FFF2-40B4-BE49-F238E27FC236}">
                <a16:creationId xmlns:a16="http://schemas.microsoft.com/office/drawing/2014/main" id="{7BD20A45-41A7-46EE-ADB9-9867D5CB5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0984" y="2322013"/>
            <a:ext cx="6550991" cy="259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5F3B7D-E8C3-4824-AA48-23A24EAD9FEE}"/>
              </a:ext>
            </a:extLst>
          </p:cNvPr>
          <p:cNvSpPr txBox="1"/>
          <p:nvPr/>
        </p:nvSpPr>
        <p:spPr>
          <a:xfrm>
            <a:off x="3646170" y="4112621"/>
            <a:ext cx="16873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Twitter botnet</a:t>
            </a:r>
            <a:endParaRPr lang="ru-RU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248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1.85185E-6 L -0.325 -0.45903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50" y="-2296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2.59259E-6 L 0.325 -0.32292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250" y="-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C102E-31DA-4DB6-A14B-28D3E5BF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373" y="286603"/>
            <a:ext cx="5415377" cy="2412209"/>
          </a:xfrm>
        </p:spPr>
        <p:txBody>
          <a:bodyPr>
            <a:normAutofit/>
          </a:bodyPr>
          <a:lstStyle/>
          <a:p>
            <a:r>
              <a:rPr lang="ru-RU" sz="4000" dirty="0"/>
              <a:t>Имитационное моделирование цепи Маркова с дискретным временем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1EDAAC7-FE2E-B7DC-FE96-9C69F0B74C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433" r="22538"/>
          <a:stretch/>
        </p:blipFill>
        <p:spPr>
          <a:xfrm>
            <a:off x="6368250" y="0"/>
            <a:ext cx="5415377" cy="633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24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E62B2-E16C-4759-A659-A865290C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692266" cy="1450757"/>
          </a:xfrm>
        </p:spPr>
        <p:txBody>
          <a:bodyPr/>
          <a:lstStyle/>
          <a:p>
            <a:r>
              <a:rPr lang="ru-RU" dirty="0"/>
              <a:t>Цепь Маркова с непрерывным временем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2E1E98-31B0-4CCA-8028-A35A404241CD}"/>
              </a:ext>
            </a:extLst>
          </p:cNvPr>
          <p:cNvSpPr txBox="1"/>
          <p:nvPr/>
        </p:nvSpPr>
        <p:spPr>
          <a:xfrm>
            <a:off x="602978" y="2014158"/>
            <a:ext cx="13840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Состояния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1821135-87CA-4D50-BD9A-6A672D481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011" y="2053168"/>
            <a:ext cx="1432248" cy="35833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034E293-C104-423C-8A72-F48195DC609A}"/>
              </a:ext>
            </a:extLst>
          </p:cNvPr>
          <p:cNvSpPr txBox="1"/>
          <p:nvPr/>
        </p:nvSpPr>
        <p:spPr>
          <a:xfrm>
            <a:off x="602200" y="2483593"/>
            <a:ext cx="406944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Интенсивности переходов</a:t>
            </a:r>
            <a:br>
              <a:rPr lang="ru-RU" sz="2000" dirty="0"/>
            </a:br>
            <a:r>
              <a:rPr lang="ru-RU" dirty="0"/>
              <a:t>(инфинитезимальные характеристики)</a:t>
            </a:r>
            <a:r>
              <a:rPr lang="en-US" sz="2000" dirty="0"/>
              <a:t>:</a:t>
            </a:r>
            <a:endParaRPr lang="ru-RU" sz="200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2A9A0B-F88C-4504-9047-13FB92D9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9498" y="2634264"/>
            <a:ext cx="2087645" cy="41538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A752B5E-C26E-46B6-B77D-14236C907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153" y="3335792"/>
            <a:ext cx="4159248" cy="81708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37D6C76-C819-42C1-BBB2-6E939FA90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571220"/>
            <a:ext cx="1588077" cy="401696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F845573-2435-4AD5-BB3E-A6619AD8E2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5115327"/>
            <a:ext cx="1317668" cy="588849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E1921B3D-E8BD-43BB-B2E5-D1A80C36AA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46897" y="4717637"/>
            <a:ext cx="2060145" cy="120280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CEAB732-A54C-4682-AB88-FEA7071EFC76}"/>
              </a:ext>
            </a:extLst>
          </p:cNvPr>
          <p:cNvSpPr txBox="1"/>
          <p:nvPr/>
        </p:nvSpPr>
        <p:spPr>
          <a:xfrm>
            <a:off x="4052758" y="4742849"/>
            <a:ext cx="41864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Матрица интенсивностей переходов</a:t>
            </a:r>
            <a:br>
              <a:rPr lang="ru-RU" sz="2000" dirty="0"/>
            </a:br>
            <a:r>
              <a:rPr lang="ru-RU" dirty="0"/>
              <a:t>(инфинитезимальная матрица, </a:t>
            </a:r>
            <a:br>
              <a:rPr lang="ru-RU" dirty="0"/>
            </a:br>
            <a:r>
              <a:rPr lang="ru-RU" dirty="0"/>
              <a:t>генератор цепи)</a:t>
            </a:r>
            <a:r>
              <a:rPr lang="en-US" sz="2000" dirty="0"/>
              <a:t>: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826844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9E62B2-E16C-4759-A659-A865290C8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286603"/>
            <a:ext cx="10747213" cy="1450757"/>
          </a:xfrm>
        </p:spPr>
        <p:txBody>
          <a:bodyPr/>
          <a:lstStyle/>
          <a:p>
            <a:r>
              <a:rPr lang="ru-RU" dirty="0"/>
              <a:t>Цепь Маркова с непрерывным временем</a:t>
            </a:r>
          </a:p>
        </p:txBody>
      </p:sp>
      <p:pic>
        <p:nvPicPr>
          <p:cNvPr id="4" name="Picture 6" descr="https://studfiles.net/html/2706/180/html_Jn032iDFHz.UJnq/img-SieTuE.png">
            <a:extLst>
              <a:ext uri="{FF2B5EF4-FFF2-40B4-BE49-F238E27FC236}">
                <a16:creationId xmlns:a16="http://schemas.microsoft.com/office/drawing/2014/main" id="{C2AE8EA0-47D3-4581-800D-C62D9F4562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459" y="2794268"/>
            <a:ext cx="6332011" cy="1669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22826FD-BBB6-40FC-A535-1A038CAD4FEB}"/>
              </a:ext>
            </a:extLst>
          </p:cNvPr>
          <p:cNvSpPr txBox="1"/>
          <p:nvPr/>
        </p:nvSpPr>
        <p:spPr>
          <a:xfrm>
            <a:off x="7903124" y="3228944"/>
            <a:ext cx="367068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Процесс гибели и размножения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C688B389-FE6F-4D4A-8108-A3E894EB7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1" y="1845734"/>
            <a:ext cx="1571274" cy="412501"/>
          </a:xfrm>
        </p:spPr>
        <p:txBody>
          <a:bodyPr>
            <a:normAutofit lnSpcReduction="10000"/>
          </a:bodyPr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Пример</a:t>
            </a:r>
            <a:endParaRPr lang="en-US" sz="2400" cap="all" spc="200" dirty="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1027B16-8FD5-492D-9EDA-6F7CCDFBE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2440" y="4330676"/>
            <a:ext cx="4212052" cy="1706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91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4BBAA4-C62B-4146-B49F-FE4CC4655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C102E-31DA-4DB6-A14B-28D3E5BF4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703" y="286604"/>
            <a:ext cx="6241002" cy="2536496"/>
          </a:xfrm>
        </p:spPr>
        <p:txBody>
          <a:bodyPr>
            <a:normAutofit/>
          </a:bodyPr>
          <a:lstStyle/>
          <a:p>
            <a:r>
              <a:rPr lang="ru-RU" sz="4000" dirty="0"/>
              <a:t>Имитационное моделирование </a:t>
            </a:r>
            <a:br>
              <a:rPr lang="ru-RU" sz="4000" dirty="0"/>
            </a:br>
            <a:r>
              <a:rPr lang="ru-RU" sz="4000" dirty="0"/>
              <a:t>цепи Маркова </a:t>
            </a:r>
            <a:br>
              <a:rPr lang="ru-RU" sz="4000" dirty="0"/>
            </a:br>
            <a:r>
              <a:rPr lang="ru-RU" sz="4000" dirty="0"/>
              <a:t>с непрерывным временем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C34054-98F8-4229-885E-04C525969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2AAB964-B835-4B93-A1F3-4A30D1F38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BEBE9B8-AC75-4B5D-6EC9-CCE89652D54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339" r="23304"/>
          <a:stretch/>
        </p:blipFill>
        <p:spPr>
          <a:xfrm>
            <a:off x="6708710" y="51099"/>
            <a:ext cx="5271795" cy="6317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3445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E1AFA09-4F37-4782-B171-00EA75546EDA}"/>
              </a:ext>
            </a:extLst>
          </p:cNvPr>
          <p:cNvSpPr/>
          <p:nvPr/>
        </p:nvSpPr>
        <p:spPr>
          <a:xfrm>
            <a:off x="7637417" y="69669"/>
            <a:ext cx="4241074" cy="669511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02EABC-6E8D-4EA6-8F07-7AEF01FC6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41" y="286603"/>
            <a:ext cx="7142588" cy="2048224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Статистическая обработка для случайных процессов</a:t>
            </a:r>
            <a:br>
              <a:rPr lang="ru-RU" dirty="0"/>
            </a:br>
            <a:r>
              <a:rPr lang="ru-RU" sz="4000" dirty="0"/>
              <a:t>(с дискретными состояниями)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5CDDA9-046D-414A-856E-0DA7D5520C08}"/>
              </a:ext>
            </a:extLst>
          </p:cNvPr>
          <p:cNvSpPr txBox="1"/>
          <p:nvPr/>
        </p:nvSpPr>
        <p:spPr>
          <a:xfrm>
            <a:off x="4060392" y="2949525"/>
            <a:ext cx="132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Алгоритм</a:t>
            </a:r>
            <a:r>
              <a:rPr lang="en-US" b="1" dirty="0">
                <a:solidFill>
                  <a:schemeClr val="accent2"/>
                </a:solidFill>
              </a:rPr>
              <a:t> 1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A4F7B-42E7-4F35-87F9-35942A479DBA}"/>
              </a:ext>
            </a:extLst>
          </p:cNvPr>
          <p:cNvSpPr txBox="1"/>
          <p:nvPr/>
        </p:nvSpPr>
        <p:spPr>
          <a:xfrm>
            <a:off x="9096437" y="642649"/>
            <a:ext cx="11769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Дано</a:t>
            </a:r>
            <a:r>
              <a:rPr lang="en-US" dirty="0"/>
              <a:t>: N, 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A8CDC-5ED7-470E-A613-AA0FC62E3EEE}"/>
              </a:ext>
            </a:extLst>
          </p:cNvPr>
          <p:cNvSpPr txBox="1"/>
          <p:nvPr/>
        </p:nvSpPr>
        <p:spPr>
          <a:xfrm>
            <a:off x="9347906" y="1388012"/>
            <a:ext cx="6896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k := 0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C9636-50A9-429F-A0C7-ABF278B1F74A}"/>
              </a:ext>
            </a:extLst>
          </p:cNvPr>
          <p:cNvSpPr txBox="1"/>
          <p:nvPr/>
        </p:nvSpPr>
        <p:spPr>
          <a:xfrm>
            <a:off x="8196943" y="2131815"/>
            <a:ext cx="3008964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Выполняем ИМ процесса </a:t>
            </a:r>
            <a:br>
              <a:rPr lang="ru-RU" dirty="0"/>
            </a:br>
            <a:r>
              <a:rPr lang="ru-RU" dirty="0"/>
              <a:t>на интервале времени </a:t>
            </a:r>
            <a:r>
              <a:rPr lang="en-US" dirty="0"/>
              <a:t>[0; T] </a:t>
            </a:r>
            <a:br>
              <a:rPr lang="en-US" dirty="0"/>
            </a:br>
            <a:r>
              <a:rPr lang="en-US" dirty="0"/>
              <a:t>-&gt; </a:t>
            </a:r>
            <a:r>
              <a:rPr lang="ru-RU" dirty="0"/>
              <a:t>конечное состояние</a:t>
            </a:r>
            <a:r>
              <a:rPr lang="en-US" dirty="0"/>
              <a:t> i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E2CF7-56DE-4222-BA06-BBB68C04DA7A}"/>
              </a:ext>
            </a:extLst>
          </p:cNvPr>
          <p:cNvSpPr txBox="1"/>
          <p:nvPr/>
        </p:nvSpPr>
        <p:spPr>
          <a:xfrm>
            <a:off x="8740496" y="3410127"/>
            <a:ext cx="20349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Freq[i] := Freq[i] + 1</a:t>
            </a:r>
          </a:p>
          <a:p>
            <a:r>
              <a:rPr lang="en-US" dirty="0"/>
              <a:t>k := k + 1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2BBA3-B0AD-4F42-AD9B-82606E6F61D6}"/>
              </a:ext>
            </a:extLst>
          </p:cNvPr>
          <p:cNvSpPr txBox="1"/>
          <p:nvPr/>
        </p:nvSpPr>
        <p:spPr>
          <a:xfrm>
            <a:off x="8631492" y="5634332"/>
            <a:ext cx="225292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for each i</a:t>
            </a:r>
            <a:br>
              <a:rPr lang="en-US" dirty="0"/>
            </a:br>
            <a:r>
              <a:rPr lang="en-US" dirty="0"/>
              <a:t>    Freq[i] := Freq[i] / N</a:t>
            </a:r>
            <a:endParaRPr lang="ru-RU" dirty="0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FB273D70-9492-4E27-864B-A606E9091751}"/>
              </a:ext>
            </a:extLst>
          </p:cNvPr>
          <p:cNvSpPr/>
          <p:nvPr/>
        </p:nvSpPr>
        <p:spPr>
          <a:xfrm>
            <a:off x="8888591" y="4305324"/>
            <a:ext cx="1625636" cy="6463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 &lt; N</a:t>
            </a:r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82092A5-CAE3-4AB9-B7EF-E75E5DB55C68}"/>
              </a:ext>
            </a:extLst>
          </p:cNvPr>
          <p:cNvCxnSpPr>
            <a:cxnSpLocks/>
          </p:cNvCxnSpPr>
          <p:nvPr/>
        </p:nvCxnSpPr>
        <p:spPr>
          <a:xfrm flipH="1">
            <a:off x="7830500" y="4628489"/>
            <a:ext cx="1058091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80FB220-06FB-4A02-AA6F-536001F951CB}"/>
              </a:ext>
            </a:extLst>
          </p:cNvPr>
          <p:cNvCxnSpPr>
            <a:cxnSpLocks/>
          </p:cNvCxnSpPr>
          <p:nvPr/>
        </p:nvCxnSpPr>
        <p:spPr>
          <a:xfrm>
            <a:off x="7830500" y="1936818"/>
            <a:ext cx="0" cy="269167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E801EDB-4221-4F01-846A-12622916DE29}"/>
              </a:ext>
            </a:extLst>
          </p:cNvPr>
          <p:cNvCxnSpPr>
            <a:cxnSpLocks/>
          </p:cNvCxnSpPr>
          <p:nvPr/>
        </p:nvCxnSpPr>
        <p:spPr>
          <a:xfrm flipH="1">
            <a:off x="10514227" y="4628489"/>
            <a:ext cx="8839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62CDC50-EF95-472C-8189-33BE29D3DE2C}"/>
              </a:ext>
            </a:extLst>
          </p:cNvPr>
          <p:cNvCxnSpPr>
            <a:cxnSpLocks/>
          </p:cNvCxnSpPr>
          <p:nvPr/>
        </p:nvCxnSpPr>
        <p:spPr>
          <a:xfrm>
            <a:off x="11398147" y="4628489"/>
            <a:ext cx="0" cy="60072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98AFF05-CDAB-4D8A-8E11-703DB236335F}"/>
              </a:ext>
            </a:extLst>
          </p:cNvPr>
          <p:cNvCxnSpPr>
            <a:cxnSpLocks/>
          </p:cNvCxnSpPr>
          <p:nvPr/>
        </p:nvCxnSpPr>
        <p:spPr>
          <a:xfrm flipH="1">
            <a:off x="9692712" y="5225026"/>
            <a:ext cx="170543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DA53425-5533-429C-9CA2-B29F696CA626}"/>
              </a:ext>
            </a:extLst>
          </p:cNvPr>
          <p:cNvCxnSpPr/>
          <p:nvPr/>
        </p:nvCxnSpPr>
        <p:spPr>
          <a:xfrm>
            <a:off x="9701409" y="1011981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8F0D9D8-A802-4C6B-9D50-C9AFE19931B7}"/>
              </a:ext>
            </a:extLst>
          </p:cNvPr>
          <p:cNvCxnSpPr/>
          <p:nvPr/>
        </p:nvCxnSpPr>
        <p:spPr>
          <a:xfrm>
            <a:off x="9697115" y="1775770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493E40A-B465-460A-8D6A-E8F4C9CE1D6B}"/>
              </a:ext>
            </a:extLst>
          </p:cNvPr>
          <p:cNvCxnSpPr>
            <a:cxnSpLocks/>
          </p:cNvCxnSpPr>
          <p:nvPr/>
        </p:nvCxnSpPr>
        <p:spPr>
          <a:xfrm>
            <a:off x="7830500" y="1929255"/>
            <a:ext cx="186661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F3568D9-37BE-46DE-8F25-96A9E25E58E8}"/>
              </a:ext>
            </a:extLst>
          </p:cNvPr>
          <p:cNvCxnSpPr/>
          <p:nvPr/>
        </p:nvCxnSpPr>
        <p:spPr>
          <a:xfrm>
            <a:off x="9697115" y="286604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682E063-B368-47D1-8FE6-20FE09971C2D}"/>
              </a:ext>
            </a:extLst>
          </p:cNvPr>
          <p:cNvCxnSpPr/>
          <p:nvPr/>
        </p:nvCxnSpPr>
        <p:spPr>
          <a:xfrm>
            <a:off x="9697176" y="6280663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99E2777-791A-472B-9959-534B6A0B9E88}"/>
              </a:ext>
            </a:extLst>
          </p:cNvPr>
          <p:cNvCxnSpPr/>
          <p:nvPr/>
        </p:nvCxnSpPr>
        <p:spPr>
          <a:xfrm>
            <a:off x="9697115" y="3044479"/>
            <a:ext cx="0" cy="3560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45F3F4B-8D5E-48D1-B58A-C023121922C7}"/>
              </a:ext>
            </a:extLst>
          </p:cNvPr>
          <p:cNvCxnSpPr>
            <a:cxnSpLocks/>
          </p:cNvCxnSpPr>
          <p:nvPr/>
        </p:nvCxnSpPr>
        <p:spPr>
          <a:xfrm>
            <a:off x="9692712" y="5225026"/>
            <a:ext cx="0" cy="4093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8DADC7E9-EDE6-4306-9E58-C59B3A80FB5A}"/>
              </a:ext>
            </a:extLst>
          </p:cNvPr>
          <p:cNvCxnSpPr>
            <a:cxnSpLocks/>
          </p:cNvCxnSpPr>
          <p:nvPr/>
        </p:nvCxnSpPr>
        <p:spPr>
          <a:xfrm>
            <a:off x="9701409" y="4066061"/>
            <a:ext cx="0" cy="2392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Таблица 41">
            <a:extLst>
              <a:ext uri="{FF2B5EF4-FFF2-40B4-BE49-F238E27FC236}">
                <a16:creationId xmlns:a16="http://schemas.microsoft.com/office/drawing/2014/main" id="{D41B68DC-39E6-4F53-90A6-6EB6A4C62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442184"/>
              </p:ext>
            </p:extLst>
          </p:nvPr>
        </p:nvGraphicFramePr>
        <p:xfrm>
          <a:off x="2965934" y="4389856"/>
          <a:ext cx="3177300" cy="59093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7297">
                  <a:extLst>
                    <a:ext uri="{9D8B030D-6E8A-4147-A177-3AD203B41FA5}">
                      <a16:colId xmlns:a16="http://schemas.microsoft.com/office/drawing/2014/main" val="3797507335"/>
                    </a:ext>
                  </a:extLst>
                </a:gridCol>
                <a:gridCol w="572460">
                  <a:extLst>
                    <a:ext uri="{9D8B030D-6E8A-4147-A177-3AD203B41FA5}">
                      <a16:colId xmlns:a16="http://schemas.microsoft.com/office/drawing/2014/main" val="3366538516"/>
                    </a:ext>
                  </a:extLst>
                </a:gridCol>
                <a:gridCol w="469181">
                  <a:extLst>
                    <a:ext uri="{9D8B030D-6E8A-4147-A177-3AD203B41FA5}">
                      <a16:colId xmlns:a16="http://schemas.microsoft.com/office/drawing/2014/main" val="2237106949"/>
                    </a:ext>
                  </a:extLst>
                </a:gridCol>
                <a:gridCol w="469181">
                  <a:extLst>
                    <a:ext uri="{9D8B030D-6E8A-4147-A177-3AD203B41FA5}">
                      <a16:colId xmlns:a16="http://schemas.microsoft.com/office/drawing/2014/main" val="2116021016"/>
                    </a:ext>
                  </a:extLst>
                </a:gridCol>
                <a:gridCol w="469181">
                  <a:extLst>
                    <a:ext uri="{9D8B030D-6E8A-4147-A177-3AD203B41FA5}">
                      <a16:colId xmlns:a16="http://schemas.microsoft.com/office/drawing/2014/main" val="259287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Состояние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…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97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Частота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112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83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…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71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6851084"/>
                  </a:ext>
                </a:extLst>
              </a:tr>
            </a:tbl>
          </a:graphicData>
        </a:graphic>
      </p:graphicFrame>
      <p:sp>
        <p:nvSpPr>
          <p:cNvPr id="43" name="TextBox 42">
            <a:extLst>
              <a:ext uri="{FF2B5EF4-FFF2-40B4-BE49-F238E27FC236}">
                <a16:creationId xmlns:a16="http://schemas.microsoft.com/office/drawing/2014/main" id="{0D7AFC8A-35EB-459B-9A12-8036F99A34F8}"/>
              </a:ext>
            </a:extLst>
          </p:cNvPr>
          <p:cNvSpPr txBox="1"/>
          <p:nvPr/>
        </p:nvSpPr>
        <p:spPr>
          <a:xfrm>
            <a:off x="8435812" y="4286857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30EBEF-3685-4946-8871-DD0D2D093D01}"/>
              </a:ext>
            </a:extLst>
          </p:cNvPr>
          <p:cNvSpPr txBox="1"/>
          <p:nvPr/>
        </p:nvSpPr>
        <p:spPr>
          <a:xfrm>
            <a:off x="10492313" y="4286857"/>
            <a:ext cx="51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</p:spTree>
    <p:extLst>
      <p:ext uri="{BB962C8B-B14F-4D97-AF65-F5344CB8AC3E}">
        <p14:creationId xmlns:p14="http://schemas.microsoft.com/office/powerpoint/2010/main" val="3830960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DE1AFA09-4F37-4782-B171-00EA75546EDA}"/>
              </a:ext>
            </a:extLst>
          </p:cNvPr>
          <p:cNvSpPr/>
          <p:nvPr/>
        </p:nvSpPr>
        <p:spPr>
          <a:xfrm>
            <a:off x="7452664" y="-855"/>
            <a:ext cx="4528457" cy="685441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A4F7B-42E7-4F35-87F9-35942A479DBA}"/>
              </a:ext>
            </a:extLst>
          </p:cNvPr>
          <p:cNvSpPr txBox="1"/>
          <p:nvPr/>
        </p:nvSpPr>
        <p:spPr>
          <a:xfrm>
            <a:off x="9135679" y="272790"/>
            <a:ext cx="117692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ru-RU" dirty="0"/>
              <a:t>Дано</a:t>
            </a:r>
            <a:r>
              <a:rPr lang="en-US" dirty="0"/>
              <a:t>: N, T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4A8CDC-5ED7-470E-A613-AA0FC62E3EEE}"/>
              </a:ext>
            </a:extLst>
          </p:cNvPr>
          <p:cNvSpPr txBox="1"/>
          <p:nvPr/>
        </p:nvSpPr>
        <p:spPr>
          <a:xfrm>
            <a:off x="9372086" y="1945617"/>
            <a:ext cx="6896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k := 0</a:t>
            </a: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3C9636-50A9-429F-A0C7-ABF278B1F74A}"/>
              </a:ext>
            </a:extLst>
          </p:cNvPr>
          <p:cNvSpPr txBox="1"/>
          <p:nvPr/>
        </p:nvSpPr>
        <p:spPr>
          <a:xfrm>
            <a:off x="7613237" y="2563297"/>
            <a:ext cx="4220258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Выполняем ИМ процесса до следующей </a:t>
            </a:r>
            <a:br>
              <a:rPr lang="ru-RU" dirty="0"/>
            </a:br>
            <a:r>
              <a:rPr lang="ru-RU" dirty="0"/>
              <a:t>смены его состояния </a:t>
            </a:r>
            <a:br>
              <a:rPr lang="en-US" dirty="0"/>
            </a:br>
            <a:r>
              <a:rPr lang="en-US" dirty="0"/>
              <a:t>-&gt; state </a:t>
            </a:r>
            <a:r>
              <a:rPr lang="en-US" dirty="0" err="1"/>
              <a:t>i_new</a:t>
            </a:r>
            <a:r>
              <a:rPr lang="en-US" dirty="0"/>
              <a:t> </a:t>
            </a:r>
            <a:r>
              <a:rPr lang="ru-RU" dirty="0"/>
              <a:t>в момент</a:t>
            </a:r>
            <a:r>
              <a:rPr lang="en-US" dirty="0"/>
              <a:t> </a:t>
            </a:r>
            <a:r>
              <a:rPr lang="en-US" dirty="0" err="1"/>
              <a:t>t_new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0E2CF7-56DE-4222-BA06-BBB68C04DA7A}"/>
              </a:ext>
            </a:extLst>
          </p:cNvPr>
          <p:cNvSpPr txBox="1"/>
          <p:nvPr/>
        </p:nvSpPr>
        <p:spPr>
          <a:xfrm>
            <a:off x="8394880" y="3728562"/>
            <a:ext cx="279961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Dur[i] := Dur[i] + (</a:t>
            </a:r>
            <a:r>
              <a:rPr lang="en-US" dirty="0" err="1"/>
              <a:t>t_new</a:t>
            </a:r>
            <a:r>
              <a:rPr lang="en-US" dirty="0"/>
              <a:t> – t)</a:t>
            </a:r>
            <a:br>
              <a:rPr lang="en-US" dirty="0"/>
            </a:br>
            <a:r>
              <a:rPr lang="en-US" dirty="0"/>
              <a:t>i := </a:t>
            </a:r>
            <a:r>
              <a:rPr lang="en-US" dirty="0" err="1"/>
              <a:t>i_new</a:t>
            </a:r>
            <a:r>
              <a:rPr lang="en-US" dirty="0"/>
              <a:t>; t := </a:t>
            </a:r>
            <a:r>
              <a:rPr lang="en-US" dirty="0" err="1"/>
              <a:t>t_new</a:t>
            </a:r>
            <a:endParaRPr lang="en-US" dirty="0"/>
          </a:p>
          <a:p>
            <a:r>
              <a:rPr lang="en-US" dirty="0"/>
              <a:t>k := k + 1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52BBA3-B0AD-4F42-AD9B-82606E6F61D6}"/>
              </a:ext>
            </a:extLst>
          </p:cNvPr>
          <p:cNvSpPr txBox="1"/>
          <p:nvPr/>
        </p:nvSpPr>
        <p:spPr>
          <a:xfrm>
            <a:off x="8343712" y="5921879"/>
            <a:ext cx="290194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for each i</a:t>
            </a:r>
            <a:br>
              <a:rPr lang="en-US" dirty="0"/>
            </a:br>
            <a:r>
              <a:rPr lang="en-US" dirty="0"/>
              <a:t>    Freq[i]:=Dur[i] / </a:t>
            </a:r>
            <a:r>
              <a:rPr lang="en-US" dirty="0" err="1"/>
              <a:t>SumOfDur</a:t>
            </a:r>
            <a:endParaRPr lang="ru-RU" dirty="0"/>
          </a:p>
        </p:txBody>
      </p:sp>
      <p:sp>
        <p:nvSpPr>
          <p:cNvPr id="9" name="Ромб 8">
            <a:extLst>
              <a:ext uri="{FF2B5EF4-FFF2-40B4-BE49-F238E27FC236}">
                <a16:creationId xmlns:a16="http://schemas.microsoft.com/office/drawing/2014/main" id="{FB273D70-9492-4E27-864B-A606E9091751}"/>
              </a:ext>
            </a:extLst>
          </p:cNvPr>
          <p:cNvSpPr/>
          <p:nvPr/>
        </p:nvSpPr>
        <p:spPr>
          <a:xfrm>
            <a:off x="8901723" y="4882823"/>
            <a:ext cx="1625636" cy="646331"/>
          </a:xfrm>
          <a:prstGeom prst="diamond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k &lt; N</a:t>
            </a:r>
            <a:endParaRPr lang="ru-RU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382092A5-CAE3-4AB9-B7EF-E75E5DB55C68}"/>
              </a:ext>
            </a:extLst>
          </p:cNvPr>
          <p:cNvCxnSpPr>
            <a:cxnSpLocks/>
          </p:cNvCxnSpPr>
          <p:nvPr/>
        </p:nvCxnSpPr>
        <p:spPr>
          <a:xfrm flipH="1">
            <a:off x="7524329" y="5205988"/>
            <a:ext cx="1377394" cy="7433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280FB220-06FB-4A02-AA6F-536001F951CB}"/>
              </a:ext>
            </a:extLst>
          </p:cNvPr>
          <p:cNvCxnSpPr>
            <a:cxnSpLocks/>
          </p:cNvCxnSpPr>
          <p:nvPr/>
        </p:nvCxnSpPr>
        <p:spPr>
          <a:xfrm>
            <a:off x="7515509" y="2398137"/>
            <a:ext cx="0" cy="2815284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7E801EDB-4221-4F01-846A-12622916DE29}"/>
              </a:ext>
            </a:extLst>
          </p:cNvPr>
          <p:cNvCxnSpPr>
            <a:cxnSpLocks/>
          </p:cNvCxnSpPr>
          <p:nvPr/>
        </p:nvCxnSpPr>
        <p:spPr>
          <a:xfrm flipH="1">
            <a:off x="10527359" y="5205988"/>
            <a:ext cx="883920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A62CDC50-EF95-472C-8189-33BE29D3DE2C}"/>
              </a:ext>
            </a:extLst>
          </p:cNvPr>
          <p:cNvCxnSpPr>
            <a:cxnSpLocks/>
          </p:cNvCxnSpPr>
          <p:nvPr/>
        </p:nvCxnSpPr>
        <p:spPr>
          <a:xfrm>
            <a:off x="11411279" y="5205988"/>
            <a:ext cx="0" cy="469098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B98AFF05-CDAB-4D8A-8E11-703DB236335F}"/>
              </a:ext>
            </a:extLst>
          </p:cNvPr>
          <p:cNvCxnSpPr>
            <a:cxnSpLocks/>
          </p:cNvCxnSpPr>
          <p:nvPr/>
        </p:nvCxnSpPr>
        <p:spPr>
          <a:xfrm flipH="1">
            <a:off x="9697257" y="5675086"/>
            <a:ext cx="1705435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DDA53425-5533-429C-9CA2-B29F696CA626}"/>
              </a:ext>
            </a:extLst>
          </p:cNvPr>
          <p:cNvCxnSpPr>
            <a:cxnSpLocks/>
          </p:cNvCxnSpPr>
          <p:nvPr/>
        </p:nvCxnSpPr>
        <p:spPr>
          <a:xfrm>
            <a:off x="9723369" y="1744359"/>
            <a:ext cx="0" cy="2095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8F0D9D8-A802-4C6B-9D50-C9AFE19931B7}"/>
              </a:ext>
            </a:extLst>
          </p:cNvPr>
          <p:cNvCxnSpPr>
            <a:cxnSpLocks/>
          </p:cNvCxnSpPr>
          <p:nvPr/>
        </p:nvCxnSpPr>
        <p:spPr>
          <a:xfrm>
            <a:off x="9723369" y="2314949"/>
            <a:ext cx="0" cy="2398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:a16="http://schemas.microsoft.com/office/drawing/2014/main" id="{0493E40A-B465-460A-8D6A-E8F4C9CE1D6B}"/>
              </a:ext>
            </a:extLst>
          </p:cNvPr>
          <p:cNvCxnSpPr>
            <a:cxnSpLocks/>
          </p:cNvCxnSpPr>
          <p:nvPr/>
        </p:nvCxnSpPr>
        <p:spPr>
          <a:xfrm>
            <a:off x="7515509" y="2398137"/>
            <a:ext cx="220786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3F3568D9-37BE-46DE-8F25-96A9E25E58E8}"/>
              </a:ext>
            </a:extLst>
          </p:cNvPr>
          <p:cNvCxnSpPr>
            <a:cxnSpLocks/>
          </p:cNvCxnSpPr>
          <p:nvPr/>
        </p:nvCxnSpPr>
        <p:spPr>
          <a:xfrm>
            <a:off x="9723369" y="60779"/>
            <a:ext cx="0" cy="20364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9682E063-B368-47D1-8FE6-20FE09971C2D}"/>
              </a:ext>
            </a:extLst>
          </p:cNvPr>
          <p:cNvCxnSpPr>
            <a:cxnSpLocks/>
          </p:cNvCxnSpPr>
          <p:nvPr/>
        </p:nvCxnSpPr>
        <p:spPr>
          <a:xfrm>
            <a:off x="9731959" y="6568210"/>
            <a:ext cx="0" cy="26721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499E2777-791A-472B-9959-534B6A0B9E88}"/>
              </a:ext>
            </a:extLst>
          </p:cNvPr>
          <p:cNvCxnSpPr>
            <a:cxnSpLocks/>
          </p:cNvCxnSpPr>
          <p:nvPr/>
        </p:nvCxnSpPr>
        <p:spPr>
          <a:xfrm flipH="1">
            <a:off x="9714541" y="3476138"/>
            <a:ext cx="1" cy="2455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B45F3F4B-8D5E-48D1-B58A-C023121922C7}"/>
              </a:ext>
            </a:extLst>
          </p:cNvPr>
          <p:cNvCxnSpPr>
            <a:cxnSpLocks/>
          </p:cNvCxnSpPr>
          <p:nvPr/>
        </p:nvCxnSpPr>
        <p:spPr>
          <a:xfrm>
            <a:off x="9705847" y="5675086"/>
            <a:ext cx="0" cy="25255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8DADC7E9-EDE6-4306-9E58-C59B3A80FB5A}"/>
              </a:ext>
            </a:extLst>
          </p:cNvPr>
          <p:cNvCxnSpPr>
            <a:cxnSpLocks/>
          </p:cNvCxnSpPr>
          <p:nvPr/>
        </p:nvCxnSpPr>
        <p:spPr>
          <a:xfrm>
            <a:off x="9714541" y="4643560"/>
            <a:ext cx="0" cy="2392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Таблица 41">
            <a:extLst>
              <a:ext uri="{FF2B5EF4-FFF2-40B4-BE49-F238E27FC236}">
                <a16:creationId xmlns:a16="http://schemas.microsoft.com/office/drawing/2014/main" id="{D41B68DC-39E6-4F53-90A6-6EB6A4C62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710133"/>
              </p:ext>
            </p:extLst>
          </p:nvPr>
        </p:nvGraphicFramePr>
        <p:xfrm>
          <a:off x="1171852" y="4528249"/>
          <a:ext cx="5773236" cy="7383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35332">
                  <a:extLst>
                    <a:ext uri="{9D8B030D-6E8A-4147-A177-3AD203B41FA5}">
                      <a16:colId xmlns:a16="http://schemas.microsoft.com/office/drawing/2014/main" val="3797507335"/>
                    </a:ext>
                  </a:extLst>
                </a:gridCol>
                <a:gridCol w="949911">
                  <a:extLst>
                    <a:ext uri="{9D8B030D-6E8A-4147-A177-3AD203B41FA5}">
                      <a16:colId xmlns:a16="http://schemas.microsoft.com/office/drawing/2014/main" val="3366538516"/>
                    </a:ext>
                  </a:extLst>
                </a:gridCol>
                <a:gridCol w="923278">
                  <a:extLst>
                    <a:ext uri="{9D8B030D-6E8A-4147-A177-3AD203B41FA5}">
                      <a16:colId xmlns:a16="http://schemas.microsoft.com/office/drawing/2014/main" val="2237106949"/>
                    </a:ext>
                  </a:extLst>
                </a:gridCol>
                <a:gridCol w="967666">
                  <a:extLst>
                    <a:ext uri="{9D8B030D-6E8A-4147-A177-3AD203B41FA5}">
                      <a16:colId xmlns:a16="http://schemas.microsoft.com/office/drawing/2014/main" val="2116021016"/>
                    </a:ext>
                  </a:extLst>
                </a:gridCol>
                <a:gridCol w="997049">
                  <a:extLst>
                    <a:ext uri="{9D8B030D-6E8A-4147-A177-3AD203B41FA5}">
                      <a16:colId xmlns:a16="http://schemas.microsoft.com/office/drawing/2014/main" val="259287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Состояние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1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2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…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n</a:t>
                      </a:r>
                      <a:endParaRPr lang="ru-RU" sz="18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97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80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Общее время пребывания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12.087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7.449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…</a:t>
                      </a:r>
                      <a:endParaRPr lang="ru-RU" sz="1800" dirty="0">
                        <a:solidFill>
                          <a:srgbClr val="000000"/>
                        </a:solidFill>
                        <a:effectLst/>
                        <a:latin typeface="+mn-lt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rial" panose="020B0604020202020204" pitchFamily="34" charset="0"/>
                          <a:cs typeface="Arial" panose="020B0604020202020204" pitchFamily="34" charset="0"/>
                        </a:rPr>
                        <a:t>16.328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685108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DE9F2EEC-5840-4FB8-AE53-D317156DED5A}"/>
              </a:ext>
            </a:extLst>
          </p:cNvPr>
          <p:cNvSpPr txBox="1"/>
          <p:nvPr/>
        </p:nvSpPr>
        <p:spPr>
          <a:xfrm>
            <a:off x="4104154" y="2755064"/>
            <a:ext cx="1324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Алгоритм</a:t>
            </a:r>
            <a:r>
              <a:rPr lang="en-US" b="1" dirty="0">
                <a:solidFill>
                  <a:schemeClr val="accent2"/>
                </a:solidFill>
              </a:rPr>
              <a:t> 2</a:t>
            </a:r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5FFD277-F1D0-4B60-B6E7-15777B0A9925}"/>
              </a:ext>
            </a:extLst>
          </p:cNvPr>
          <p:cNvSpPr txBox="1"/>
          <p:nvPr/>
        </p:nvSpPr>
        <p:spPr>
          <a:xfrm>
            <a:off x="7654407" y="821029"/>
            <a:ext cx="415511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ru-RU" dirty="0"/>
              <a:t>Выполняем ИМ процесса на интервале</a:t>
            </a:r>
            <a:br>
              <a:rPr lang="ru-RU" dirty="0"/>
            </a:br>
            <a:r>
              <a:rPr lang="en-US" dirty="0"/>
              <a:t>[0; T] </a:t>
            </a:r>
            <a:r>
              <a:rPr lang="ru-RU" dirty="0"/>
              <a:t>и потом до следующей смены </a:t>
            </a:r>
            <a:br>
              <a:rPr lang="ru-RU" dirty="0"/>
            </a:br>
            <a:r>
              <a:rPr lang="ru-RU" dirty="0"/>
              <a:t>его состояния </a:t>
            </a:r>
            <a:r>
              <a:rPr lang="en-US" dirty="0"/>
              <a:t>-&gt; </a:t>
            </a:r>
            <a:r>
              <a:rPr lang="ru-RU" dirty="0"/>
              <a:t>состояние</a:t>
            </a:r>
            <a:r>
              <a:rPr lang="en-US" dirty="0"/>
              <a:t> i </a:t>
            </a:r>
            <a:r>
              <a:rPr lang="ru-RU" dirty="0"/>
              <a:t>в момент</a:t>
            </a:r>
            <a:r>
              <a:rPr lang="en-US" dirty="0"/>
              <a:t> t</a:t>
            </a:r>
            <a:endParaRPr lang="ru-RU" dirty="0"/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146DDF01-49AA-4BD9-BDF8-2A19A1D72070}"/>
              </a:ext>
            </a:extLst>
          </p:cNvPr>
          <p:cNvCxnSpPr>
            <a:cxnSpLocks/>
          </p:cNvCxnSpPr>
          <p:nvPr/>
        </p:nvCxnSpPr>
        <p:spPr>
          <a:xfrm>
            <a:off x="9723369" y="642122"/>
            <a:ext cx="0" cy="18835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C4BAC33-0A48-418B-AB24-6C0536A37F20}"/>
              </a:ext>
            </a:extLst>
          </p:cNvPr>
          <p:cNvSpPr txBox="1"/>
          <p:nvPr/>
        </p:nvSpPr>
        <p:spPr>
          <a:xfrm>
            <a:off x="8410498" y="4844089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да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F1023AB-962F-4602-A990-580125A1EABF}"/>
              </a:ext>
            </a:extLst>
          </p:cNvPr>
          <p:cNvSpPr txBox="1"/>
          <p:nvPr/>
        </p:nvSpPr>
        <p:spPr>
          <a:xfrm>
            <a:off x="10467049" y="4887061"/>
            <a:ext cx="512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нет</a:t>
            </a:r>
          </a:p>
        </p:txBody>
      </p:sp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7F965D96-1228-00C0-6B19-5B7234093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741" y="286603"/>
            <a:ext cx="7142588" cy="2048224"/>
          </a:xfrm>
        </p:spPr>
        <p:txBody>
          <a:bodyPr>
            <a:normAutofit/>
          </a:bodyPr>
          <a:lstStyle/>
          <a:p>
            <a:r>
              <a:rPr lang="ru-RU" dirty="0"/>
              <a:t>Статистическая обработка для случайных процессов</a:t>
            </a:r>
            <a:br>
              <a:rPr lang="ru-RU" dirty="0"/>
            </a:br>
            <a:r>
              <a:rPr lang="ru-RU" sz="4000" dirty="0"/>
              <a:t>(с дискретными состояниями)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679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ÐÐ¾Ð³Ð¾Ð´Ð° Ð´Ð»Ñ ÑÑÑÐ¸ÑÑÐ¾Ð²">
            <a:extLst>
              <a:ext uri="{FF2B5EF4-FFF2-40B4-BE49-F238E27FC236}">
                <a16:creationId xmlns:a16="http://schemas.microsoft.com/office/drawing/2014/main" id="{AB9EDC5E-38A1-4C26-809A-590E200EE8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200" y="1749935"/>
            <a:ext cx="6846484" cy="420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7D7634-33E3-48C4-8227-7FF84F680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Лабораторная</a:t>
            </a:r>
            <a:r>
              <a:rPr lang="en-US" dirty="0"/>
              <a:t> 7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22663E-5E5D-4074-A86D-CD04E3BC6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6431" y="1845734"/>
            <a:ext cx="4715769" cy="4454398"/>
          </a:xfrm>
        </p:spPr>
        <p:txBody>
          <a:bodyPr/>
          <a:lstStyle/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Задание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  <a:p>
            <a:pPr indent="91440">
              <a:buFont typeface="Arial" panose="020B0604020202020204" pitchFamily="34" charset="0"/>
              <a:buChar char="•"/>
            </a:pPr>
            <a:r>
              <a:rPr lang="ru-RU" b="1" dirty="0"/>
              <a:t>Имитационное моделирование погоды</a:t>
            </a:r>
            <a:endParaRPr lang="en-US" b="1" dirty="0"/>
          </a:p>
          <a:p>
            <a:pPr indent="0">
              <a:buNone/>
            </a:pPr>
            <a:r>
              <a:rPr lang="ru-RU" dirty="0"/>
              <a:t>Например: </a:t>
            </a:r>
            <a:br>
              <a:rPr lang="ru-RU" dirty="0"/>
            </a:br>
            <a:r>
              <a:rPr lang="ru-RU" dirty="0"/>
              <a:t>пусть состояние</a:t>
            </a:r>
            <a:r>
              <a:rPr lang="en-US" dirty="0"/>
              <a:t> 1</a:t>
            </a:r>
            <a:r>
              <a:rPr lang="ru-RU" dirty="0"/>
              <a:t> означает ясно, </a:t>
            </a:r>
            <a:br>
              <a:rPr lang="ru-RU" dirty="0"/>
            </a:br>
            <a:r>
              <a:rPr lang="en-US" dirty="0"/>
              <a:t>2 </a:t>
            </a:r>
            <a:r>
              <a:rPr lang="ru-RU" dirty="0"/>
              <a:t>– облачно,</a:t>
            </a:r>
            <a:r>
              <a:rPr lang="en-US" dirty="0"/>
              <a:t> 3</a:t>
            </a:r>
            <a:r>
              <a:rPr lang="ru-RU" dirty="0"/>
              <a:t> – пасмурно</a:t>
            </a:r>
            <a:r>
              <a:rPr lang="en-US" dirty="0"/>
              <a:t>. </a:t>
            </a:r>
          </a:p>
          <a:p>
            <a:pPr indent="0">
              <a:buNone/>
            </a:pPr>
            <a:r>
              <a:rPr lang="ru-RU" dirty="0"/>
              <a:t>Можете использовать, например, следующую матрицу интенсивностей переходов</a:t>
            </a:r>
            <a:r>
              <a:rPr lang="en-US" dirty="0"/>
              <a:t> (</a:t>
            </a:r>
            <a:r>
              <a:rPr lang="ru-RU" dirty="0"/>
              <a:t>единица времени</a:t>
            </a:r>
            <a:r>
              <a:rPr lang="en-US" dirty="0"/>
              <a:t> = 1 </a:t>
            </a:r>
            <a:r>
              <a:rPr lang="ru-RU" dirty="0"/>
              <a:t>день</a:t>
            </a:r>
            <a:r>
              <a:rPr lang="en-US" dirty="0"/>
              <a:t>):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797DD3F-1181-43CA-897E-E0AFBB5D5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5166" y="4758793"/>
            <a:ext cx="1970162" cy="10305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CD0CAC-7AEB-4F14-98DE-16023DEF1C00}"/>
              </a:ext>
            </a:extLst>
          </p:cNvPr>
          <p:cNvSpPr txBox="1"/>
          <p:nvPr/>
        </p:nvSpPr>
        <p:spPr>
          <a:xfrm>
            <a:off x="186431" y="5829018"/>
            <a:ext cx="11637825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Задача</a:t>
            </a:r>
            <a:r>
              <a:rPr lang="en-US" sz="2000" b="1" dirty="0">
                <a:solidFill>
                  <a:srgbClr val="C00000"/>
                </a:solidFill>
              </a:rPr>
              <a:t>: </a:t>
            </a:r>
            <a:r>
              <a:rPr lang="ru-RU" sz="2000" dirty="0">
                <a:solidFill>
                  <a:srgbClr val="C00000"/>
                </a:solidFill>
              </a:rPr>
              <a:t>Выполнить имитационное моделирование смены погоды во времени с использованием визуализации. Выполните статистическую обработку результатов, выведите эмпирическую оценку стационарного распределения вероятностей</a:t>
            </a:r>
          </a:p>
        </p:txBody>
      </p:sp>
    </p:spTree>
    <p:extLst>
      <p:ext uri="{BB962C8B-B14F-4D97-AF65-F5344CB8AC3E}">
        <p14:creationId xmlns:p14="http://schemas.microsoft.com/office/powerpoint/2010/main" val="26417298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CDF9B-8F92-44AA-B196-CFA93DBA4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Винеровский процесс</a:t>
            </a:r>
            <a:r>
              <a:rPr lang="en-US" dirty="0"/>
              <a:t> </a:t>
            </a:r>
            <a:br>
              <a:rPr lang="ru-RU" dirty="0"/>
            </a:br>
            <a:r>
              <a:rPr lang="en-US" dirty="0"/>
              <a:t>(</a:t>
            </a:r>
            <a:r>
              <a:rPr lang="ru-RU" dirty="0"/>
              <a:t>Броуновское движение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7E19AE8-738D-48AC-BAA1-3BAA70EDFFC7}"/>
              </a:ext>
            </a:extLst>
          </p:cNvPr>
          <p:cNvSpPr txBox="1">
            <a:spLocks/>
          </p:cNvSpPr>
          <p:nvPr/>
        </p:nvSpPr>
        <p:spPr>
          <a:xfrm>
            <a:off x="1097280" y="5147866"/>
            <a:ext cx="3001992" cy="5522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Моделирование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453B1B8-2618-4198-973C-B87FECA8B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9271" y="5138535"/>
            <a:ext cx="3001992" cy="43136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6C632C5-0587-4523-8077-A1DDEBF6B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4345" y="5736721"/>
            <a:ext cx="1173297" cy="344637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9FA48E7-D88D-5A71-44AC-AE8AC25ED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879" y="1904179"/>
            <a:ext cx="8945488" cy="2741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6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CDF9B-8F92-44AA-B196-CFA93DBA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585734" cy="1450757"/>
          </a:xfrm>
        </p:spPr>
        <p:txBody>
          <a:bodyPr/>
          <a:lstStyle/>
          <a:p>
            <a:r>
              <a:rPr lang="ru-RU" dirty="0"/>
              <a:t>Арифметическое броуновское движение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7E19AE8-738D-48AC-BAA1-3BAA70EDFFC7}"/>
              </a:ext>
            </a:extLst>
          </p:cNvPr>
          <p:cNvSpPr txBox="1">
            <a:spLocks/>
          </p:cNvSpPr>
          <p:nvPr/>
        </p:nvSpPr>
        <p:spPr>
          <a:xfrm>
            <a:off x="1097279" y="4822200"/>
            <a:ext cx="3128492" cy="5522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Моделирование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52E66-D66B-4119-9A66-076521EA6B1D}"/>
              </a:ext>
            </a:extLst>
          </p:cNvPr>
          <p:cNvSpPr txBox="1"/>
          <p:nvPr/>
        </p:nvSpPr>
        <p:spPr>
          <a:xfrm>
            <a:off x="1175657" y="2920482"/>
            <a:ext cx="108408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μ</a:t>
            </a:r>
            <a:r>
              <a:rPr lang="en-US" sz="2000" dirty="0"/>
              <a:t> </a:t>
            </a:r>
            <a:r>
              <a:rPr lang="ru-RU" sz="2000" dirty="0"/>
              <a:t>называется коэффициентом сноса, </a:t>
            </a:r>
            <a:r>
              <a:rPr lang="el-GR" sz="2000" dirty="0"/>
              <a:t>σ</a:t>
            </a:r>
            <a:r>
              <a:rPr lang="en-US" sz="2000" dirty="0"/>
              <a:t> </a:t>
            </a:r>
            <a:r>
              <a:rPr lang="ru-RU" sz="2000" dirty="0"/>
              <a:t>– параметром волатильности</a:t>
            </a:r>
            <a:r>
              <a:rPr lang="en-US" sz="2000" dirty="0"/>
              <a:t> (</a:t>
            </a:r>
            <a:r>
              <a:rPr lang="ru-RU" sz="2000" dirty="0"/>
              <a:t>стандартным отклонением</a:t>
            </a:r>
            <a:r>
              <a:rPr lang="en-US" sz="2000" dirty="0"/>
              <a:t>)</a:t>
            </a:r>
            <a:endParaRPr lang="ru-RU" sz="20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6D00731-2EFE-46A9-A6F0-493C5943C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264" y="4822200"/>
            <a:ext cx="4388408" cy="43136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F7DE7AE-B45A-4B31-A371-8C1500E6E4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3367" y="2128073"/>
            <a:ext cx="4945266" cy="40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20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9CDF9B-8F92-44AA-B196-CFA93DBA4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798798" cy="1450757"/>
          </a:xfrm>
        </p:spPr>
        <p:txBody>
          <a:bodyPr/>
          <a:lstStyle/>
          <a:p>
            <a:r>
              <a:rPr lang="ru-RU" dirty="0"/>
              <a:t>Геометрическое броуновское движение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57E19AE8-738D-48AC-BAA1-3BAA70EDFFC7}"/>
              </a:ext>
            </a:extLst>
          </p:cNvPr>
          <p:cNvSpPr txBox="1">
            <a:spLocks/>
          </p:cNvSpPr>
          <p:nvPr/>
        </p:nvSpPr>
        <p:spPr>
          <a:xfrm>
            <a:off x="1097279" y="4822200"/>
            <a:ext cx="3137370" cy="552233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400" cap="all" spc="200" dirty="0">
                <a:solidFill>
                  <a:schemeClr val="tx2"/>
                </a:solidFill>
                <a:latin typeface="+mj-lt"/>
              </a:rPr>
              <a:t>Моделирование</a:t>
            </a:r>
            <a:r>
              <a:rPr lang="en-US" sz="2400" cap="all" spc="200" dirty="0">
                <a:solidFill>
                  <a:schemeClr val="tx2"/>
                </a:solidFill>
                <a:latin typeface="+mj-lt"/>
              </a:rPr>
              <a:t>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352E66-D66B-4119-9A66-076521EA6B1D}"/>
              </a:ext>
            </a:extLst>
          </p:cNvPr>
          <p:cNvSpPr txBox="1"/>
          <p:nvPr/>
        </p:nvSpPr>
        <p:spPr>
          <a:xfrm>
            <a:off x="1175657" y="2920482"/>
            <a:ext cx="51098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2000" dirty="0"/>
              <a:t>μ</a:t>
            </a:r>
            <a:r>
              <a:rPr lang="en-US" sz="2000" dirty="0"/>
              <a:t> </a:t>
            </a:r>
            <a:r>
              <a:rPr lang="ru-RU" sz="2000" dirty="0"/>
              <a:t>– коэффициентом сноса, </a:t>
            </a:r>
            <a:r>
              <a:rPr lang="el-GR" sz="2000" dirty="0"/>
              <a:t>σ</a:t>
            </a:r>
            <a:r>
              <a:rPr lang="en-US" sz="2000" dirty="0"/>
              <a:t> </a:t>
            </a:r>
            <a:r>
              <a:rPr lang="ru-RU" sz="2000" dirty="0"/>
              <a:t>– волатильность</a:t>
            </a:r>
            <a:endParaRPr lang="ru-RU" sz="2000" dirty="0">
              <a:solidFill>
                <a:schemeClr val="accent2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ED589C-3CCB-4F2E-AA07-5288F2029D77}"/>
              </a:ext>
            </a:extLst>
          </p:cNvPr>
          <p:cNvSpPr txBox="1"/>
          <p:nvPr/>
        </p:nvSpPr>
        <p:spPr>
          <a:xfrm>
            <a:off x="4588984" y="4762764"/>
            <a:ext cx="2278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самостоятельно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BC0258-77BC-4916-AE91-3AD62816A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130" y="3508469"/>
            <a:ext cx="6767650" cy="106641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6F95EF-30DB-47EE-ACFF-F0DAB40B92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359" y="2140692"/>
            <a:ext cx="3469375" cy="400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048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drumroll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7" grpId="0"/>
    </p:bldLst>
  </p:timing>
</p:sld>
</file>

<file path=ppt/theme/theme1.xml><?xml version="1.0" encoding="utf-8"?>
<a:theme xmlns:a="http://schemas.openxmlformats.org/drawingml/2006/main" name="Ретро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452</Words>
  <Application>Microsoft Office PowerPoint</Application>
  <PresentationFormat>Широкоэкранный</PresentationFormat>
  <Paragraphs>88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Ретро</vt:lpstr>
      <vt:lpstr>Стохастическое моделирование</vt:lpstr>
      <vt:lpstr>Случайные объекты и базовый датчик</vt:lpstr>
      <vt:lpstr>Цепь Маркова с дискретным временем</vt:lpstr>
      <vt:lpstr>Цепь Маркова с дискретным временем</vt:lpstr>
      <vt:lpstr>Имитационное моделирование цепи Маркова с дискретным временем </vt:lpstr>
      <vt:lpstr>Цепь Маркова с непрерывным временем</vt:lpstr>
      <vt:lpstr>Цепь Маркова с непрерывным временем</vt:lpstr>
      <vt:lpstr>Имитационное моделирование  цепи Маркова  с непрерывным временем</vt:lpstr>
      <vt:lpstr>Статистическая обработка для случайных процессов (с дискретными состояниями)</vt:lpstr>
      <vt:lpstr>Статистическая обработка для случайных процессов (с дискретными состояниями)</vt:lpstr>
      <vt:lpstr>Лабораторная 7</vt:lpstr>
      <vt:lpstr>Винеровский процесс  (Броуновское движение)</vt:lpstr>
      <vt:lpstr>Арифметическое броуновское движение</vt:lpstr>
      <vt:lpstr>Геометрическое броуновское движение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</dc:title>
  <dc:creator>Моисеева Светлана</dc:creator>
  <cp:lastModifiedBy>Alexander Moiseev</cp:lastModifiedBy>
  <cp:revision>69</cp:revision>
  <dcterms:created xsi:type="dcterms:W3CDTF">2019-03-07T03:18:42Z</dcterms:created>
  <dcterms:modified xsi:type="dcterms:W3CDTF">2026-02-24T05:11:26Z</dcterms:modified>
</cp:coreProperties>
</file>