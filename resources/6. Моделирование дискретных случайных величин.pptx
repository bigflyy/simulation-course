
<file path=[Content_Types].xml><?xml version="1.0" encoding="utf-8"?>
<Types xmlns="http://schemas.openxmlformats.org/package/2006/content-types">
  <Default Extension="bin" ContentType="application/vnd.openxmlformats-officedocument.oleObject"/>
  <Default Extension="docx" ContentType="application/vnd.openxmlformats-officedocument.wordprocessingml.documen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7" r:id="rId3"/>
    <p:sldId id="281" r:id="rId4"/>
    <p:sldId id="299" r:id="rId5"/>
    <p:sldId id="300" r:id="rId6"/>
    <p:sldId id="305" r:id="rId7"/>
    <p:sldId id="306" r:id="rId8"/>
    <p:sldId id="308" r:id="rId9"/>
    <p:sldId id="283" r:id="rId10"/>
    <p:sldId id="291" r:id="rId11"/>
    <p:sldId id="290" r:id="rId12"/>
    <p:sldId id="292" r:id="rId13"/>
    <p:sldId id="293" r:id="rId14"/>
    <p:sldId id="294" r:id="rId15"/>
    <p:sldId id="30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3" Type="http://schemas.openxmlformats.org/officeDocument/2006/relationships/image" Target="../media/image1.emf"/><Relationship Id="rId7" Type="http://schemas.openxmlformats.org/officeDocument/2006/relationships/image" Target="../media/image8.emf"/><Relationship Id="rId12" Type="http://schemas.openxmlformats.org/officeDocument/2006/relationships/image" Target="../media/image13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emf"/><Relationship Id="rId11" Type="http://schemas.openxmlformats.org/officeDocument/2006/relationships/image" Target="../media/image12.emf"/><Relationship Id="rId5" Type="http://schemas.openxmlformats.org/officeDocument/2006/relationships/image" Target="../media/image6.emf"/><Relationship Id="rId10" Type="http://schemas.openxmlformats.org/officeDocument/2006/relationships/image" Target="../media/image11.emf"/><Relationship Id="rId4" Type="http://schemas.openxmlformats.org/officeDocument/2006/relationships/image" Target="../media/image5.emf"/><Relationship Id="rId9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2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image" Target="../media/image32.emf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Стохастическое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Моделирование дискретных случайных величин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Случайные объекты и 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0F4AC-48CA-4C61-A163-9D04488283D9}"/>
              </a:ext>
            </a:extLst>
          </p:cNvPr>
          <p:cNvSpPr/>
          <p:nvPr/>
        </p:nvSpPr>
        <p:spPr>
          <a:xfrm>
            <a:off x="5551834" y="2899445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CA8AF0-29E5-462F-8D22-C685DCBDDA83}"/>
              </a:ext>
            </a:extLst>
          </p:cNvPr>
          <p:cNvSpPr/>
          <p:nvPr/>
        </p:nvSpPr>
        <p:spPr>
          <a:xfrm>
            <a:off x="7927315" y="2899445"/>
            <a:ext cx="2077819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DDF8A5-B9DA-48F8-9D23-AE9EFEFC5BD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85684" y="3429000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FA400E-A495-48C5-BA5E-2402ACA46FFA}"/>
              </a:ext>
            </a:extLst>
          </p:cNvPr>
          <p:cNvSpPr txBox="1"/>
          <p:nvPr/>
        </p:nvSpPr>
        <p:spPr>
          <a:xfrm>
            <a:off x="7236497" y="306993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40D2C55-6442-4D40-BC8C-334FAEA114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005134" y="3429000"/>
            <a:ext cx="1150546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EB8045-EB3C-413B-8626-F498FFB5362A}"/>
              </a:ext>
            </a:extLst>
          </p:cNvPr>
          <p:cNvSpPr txBox="1"/>
          <p:nvPr/>
        </p:nvSpPr>
        <p:spPr>
          <a:xfrm>
            <a:off x="10771183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6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D324A-6DA5-4AC6-BE19-5697CEC1D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Дискретная </a:t>
            </a:r>
            <a:r>
              <a:rPr lang="ru-RU"/>
              <a:t>случайная величина (ДСВ)</a:t>
            </a:r>
            <a:br>
              <a:rPr lang="ru-RU"/>
            </a:br>
            <a:r>
              <a:rPr lang="ru-RU"/>
              <a:t>с </a:t>
            </a:r>
            <a:r>
              <a:rPr lang="ru-RU" dirty="0"/>
              <a:t>заданным распределением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0FBEA9-BE3F-41CB-B3C2-EE2B8EAE1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219" y="3955054"/>
            <a:ext cx="485418" cy="458326"/>
          </a:xfrm>
        </p:spPr>
        <p:txBody>
          <a:bodyPr>
            <a:normAutofit/>
          </a:bodyPr>
          <a:lstStyle/>
          <a:p>
            <a:r>
              <a:rPr lang="en-US" sz="2400" i="1" dirty="0">
                <a:solidFill>
                  <a:schemeClr val="accent2"/>
                </a:solidFill>
              </a:rPr>
              <a:t>A</a:t>
            </a:r>
            <a:r>
              <a:rPr lang="en-US" sz="2400" i="1" baseline="-25000" dirty="0">
                <a:solidFill>
                  <a:schemeClr val="accent2"/>
                </a:solidFill>
              </a:rPr>
              <a:t>1</a:t>
            </a:r>
            <a:endParaRPr lang="ru-RU" sz="2400" i="1" dirty="0">
              <a:solidFill>
                <a:schemeClr val="accent2"/>
              </a:solidFill>
            </a:endParaRPr>
          </a:p>
        </p:txBody>
      </p:sp>
      <p:graphicFrame>
        <p:nvGraphicFramePr>
          <p:cNvPr id="27" name="Объект 26">
            <a:extLst>
              <a:ext uri="{FF2B5EF4-FFF2-40B4-BE49-F238E27FC236}">
                <a16:creationId xmlns:a16="http://schemas.microsoft.com/office/drawing/2014/main" id="{7C016655-C321-4F75-A392-A7AD2A787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7947305"/>
              </p:ext>
            </p:extLst>
          </p:nvPr>
        </p:nvGraphicFramePr>
        <p:xfrm>
          <a:off x="-2124887" y="2071219"/>
          <a:ext cx="11112126" cy="117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40053" imgH="636053" progId="Word.Document.12">
                  <p:embed/>
                </p:oleObj>
              </mc:Choice>
              <mc:Fallback>
                <p:oleObj name="Document" r:id="rId2" imgW="6040053" imgH="6360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124887" y="2071219"/>
                        <a:ext cx="11112126" cy="1171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8">
            <a:extLst>
              <a:ext uri="{FF2B5EF4-FFF2-40B4-BE49-F238E27FC236}">
                <a16:creationId xmlns:a16="http://schemas.microsoft.com/office/drawing/2014/main" id="{7825E46F-9709-4CCA-A410-933DFB60A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8B3C0D6-9362-406F-83E1-D01672CF7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391" y="2929840"/>
            <a:ext cx="960179" cy="74633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3DEAFF6-89A4-44B6-B7B5-E1A62DD96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471" y="3123841"/>
            <a:ext cx="1517037" cy="358331"/>
          </a:xfrm>
          <a:prstGeom prst="rect">
            <a:avLst/>
          </a:prstGeom>
        </p:spPr>
      </p:pic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A372DEE7-9EE4-47B7-8430-B269159EBA61}"/>
              </a:ext>
            </a:extLst>
          </p:cNvPr>
          <p:cNvCxnSpPr/>
          <p:nvPr/>
        </p:nvCxnSpPr>
        <p:spPr>
          <a:xfrm flipV="1">
            <a:off x="2080727" y="2789982"/>
            <a:ext cx="0" cy="120352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Объект 2">
            <a:extLst>
              <a:ext uri="{FF2B5EF4-FFF2-40B4-BE49-F238E27FC236}">
                <a16:creationId xmlns:a16="http://schemas.microsoft.com/office/drawing/2014/main" id="{07372E0A-E099-493B-A307-80F29A3BE534}"/>
              </a:ext>
            </a:extLst>
          </p:cNvPr>
          <p:cNvSpPr txBox="1">
            <a:spLocks/>
          </p:cNvSpPr>
          <p:nvPr/>
        </p:nvSpPr>
        <p:spPr>
          <a:xfrm>
            <a:off x="2566145" y="3956908"/>
            <a:ext cx="485418" cy="4583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schemeClr val="accent2"/>
                </a:solidFill>
              </a:rPr>
              <a:t>A</a:t>
            </a:r>
            <a:r>
              <a:rPr lang="en-US" sz="2400" i="1" baseline="-25000" dirty="0">
                <a:solidFill>
                  <a:schemeClr val="accent2"/>
                </a:solidFill>
              </a:rPr>
              <a:t>2</a:t>
            </a:r>
            <a:endParaRPr lang="ru-RU" sz="2400" i="1" dirty="0">
              <a:solidFill>
                <a:schemeClr val="accent2"/>
              </a:solidFill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6E20834D-FE8B-41CD-9B10-840582A44444}"/>
              </a:ext>
            </a:extLst>
          </p:cNvPr>
          <p:cNvCxnSpPr/>
          <p:nvPr/>
        </p:nvCxnSpPr>
        <p:spPr>
          <a:xfrm flipV="1">
            <a:off x="2743653" y="2791836"/>
            <a:ext cx="0" cy="120352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Объект 2">
            <a:extLst>
              <a:ext uri="{FF2B5EF4-FFF2-40B4-BE49-F238E27FC236}">
                <a16:creationId xmlns:a16="http://schemas.microsoft.com/office/drawing/2014/main" id="{B34FDC08-9CBE-46E4-93B6-F094DFB57987}"/>
              </a:ext>
            </a:extLst>
          </p:cNvPr>
          <p:cNvSpPr txBox="1">
            <a:spLocks/>
          </p:cNvSpPr>
          <p:nvPr/>
        </p:nvSpPr>
        <p:spPr>
          <a:xfrm>
            <a:off x="3291893" y="3993502"/>
            <a:ext cx="485418" cy="4583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schemeClr val="accent2"/>
                </a:solidFill>
              </a:rPr>
              <a:t>…</a:t>
            </a:r>
            <a:endParaRPr lang="ru-RU" sz="2400" i="1" dirty="0">
              <a:solidFill>
                <a:schemeClr val="accent2"/>
              </a:solidFill>
            </a:endParaRPr>
          </a:p>
        </p:txBody>
      </p:sp>
      <p:sp>
        <p:nvSpPr>
          <p:cNvPr id="37" name="Объект 2">
            <a:extLst>
              <a:ext uri="{FF2B5EF4-FFF2-40B4-BE49-F238E27FC236}">
                <a16:creationId xmlns:a16="http://schemas.microsoft.com/office/drawing/2014/main" id="{88AFFEA5-2A50-451E-A085-1590C469F8D3}"/>
              </a:ext>
            </a:extLst>
          </p:cNvPr>
          <p:cNvSpPr txBox="1">
            <a:spLocks/>
          </p:cNvSpPr>
          <p:nvPr/>
        </p:nvSpPr>
        <p:spPr>
          <a:xfrm>
            <a:off x="4026178" y="3955054"/>
            <a:ext cx="485418" cy="45832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i="1" dirty="0">
                <a:solidFill>
                  <a:schemeClr val="accent2"/>
                </a:solidFill>
              </a:rPr>
              <a:t>A</a:t>
            </a:r>
            <a:r>
              <a:rPr lang="en-US" sz="2400" i="1" baseline="-25000" dirty="0">
                <a:solidFill>
                  <a:schemeClr val="accent2"/>
                </a:solidFill>
              </a:rPr>
              <a:t>m</a:t>
            </a:r>
            <a:endParaRPr lang="ru-RU" sz="2400" i="1" dirty="0">
              <a:solidFill>
                <a:schemeClr val="accent2"/>
              </a:solidFill>
            </a:endParaRP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AA74842C-BA55-4EC6-9525-290916AF9DB2}"/>
              </a:ext>
            </a:extLst>
          </p:cNvPr>
          <p:cNvCxnSpPr/>
          <p:nvPr/>
        </p:nvCxnSpPr>
        <p:spPr>
          <a:xfrm flipV="1">
            <a:off x="4203686" y="2789982"/>
            <a:ext cx="0" cy="1203520"/>
          </a:xfrm>
          <a:prstGeom prst="straightConnector1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12FD91D-FCD6-4AE5-9B52-E0BC7C04978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46817"/>
          <a:stretch/>
        </p:blipFill>
        <p:spPr>
          <a:xfrm>
            <a:off x="6039380" y="1762998"/>
            <a:ext cx="5293808" cy="470107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57629588-4E6F-4A2F-831F-B91D19BCDDA8}"/>
              </a:ext>
            </a:extLst>
          </p:cNvPr>
          <p:cNvSpPr txBox="1"/>
          <p:nvPr/>
        </p:nvSpPr>
        <p:spPr>
          <a:xfrm>
            <a:off x="10288781" y="4069733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D39920-873E-4EE0-AC56-769EB30D5D05}"/>
              </a:ext>
            </a:extLst>
          </p:cNvPr>
          <p:cNvSpPr txBox="1"/>
          <p:nvPr/>
        </p:nvSpPr>
        <p:spPr>
          <a:xfrm>
            <a:off x="7459569" y="4084026"/>
            <a:ext cx="51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214589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4" grpId="0"/>
      <p:bldP spid="36" grpId="0"/>
      <p:bldP spid="37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40E8FF-C9F0-418D-9A9F-C95FCFFD49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0264" y="97772"/>
            <a:ext cx="6074557" cy="1449387"/>
          </a:xfrm>
        </p:spPr>
        <p:txBody>
          <a:bodyPr>
            <a:normAutofit fontScale="90000"/>
          </a:bodyPr>
          <a:lstStyle/>
          <a:p>
            <a:r>
              <a:rPr lang="ru-RU" dirty="0"/>
              <a:t>Статистическая обработка результатов для ДСВ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644078-074C-4E8B-8664-EC330B9DECB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90021" y="2978103"/>
            <a:ext cx="4196165" cy="398463"/>
          </a:xfrm>
        </p:spPr>
        <p:txBody>
          <a:bodyPr>
            <a:normAutofit fontScale="92500"/>
          </a:bodyPr>
          <a:lstStyle/>
          <a:p>
            <a:r>
              <a:rPr lang="ru-RU" dirty="0"/>
              <a:t>Математическое ожидание </a:t>
            </a:r>
            <a:r>
              <a:rPr lang="en-US" dirty="0"/>
              <a:t>(</a:t>
            </a:r>
            <a:r>
              <a:rPr lang="ru-RU" dirty="0"/>
              <a:t>среднее</a:t>
            </a:r>
            <a:r>
              <a:rPr lang="en-US" dirty="0"/>
              <a:t>):</a:t>
            </a:r>
            <a:endParaRPr lang="ru-RU" dirty="0"/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DA57EB0A-9ECC-4033-BE55-9BB8D9297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135173"/>
              </p:ext>
            </p:extLst>
          </p:nvPr>
        </p:nvGraphicFramePr>
        <p:xfrm>
          <a:off x="-2089374" y="1851381"/>
          <a:ext cx="11112126" cy="1171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6040053" imgH="636053" progId="Word.Document.12">
                  <p:embed/>
                </p:oleObj>
              </mc:Choice>
              <mc:Fallback>
                <p:oleObj name="Document" r:id="rId2" imgW="6040053" imgH="636053" progId="Word.Document.12">
                  <p:embed/>
                  <p:pic>
                    <p:nvPicPr>
                      <p:cNvPr id="27" name="Объект 26">
                        <a:extLst>
                          <a:ext uri="{FF2B5EF4-FFF2-40B4-BE49-F238E27FC236}">
                            <a16:creationId xmlns:a16="http://schemas.microsoft.com/office/drawing/2014/main" id="{7C016655-C321-4F75-A392-A7AD2A7877D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089374" y="1851381"/>
                        <a:ext cx="11112126" cy="1171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EB6EB0-1CCC-40FF-ADA3-B1DA4DA146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30" y="3234282"/>
            <a:ext cx="1506037" cy="758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F5F2CC-EFCD-4AE5-9F98-4ADECCF44518}"/>
              </a:ext>
            </a:extLst>
          </p:cNvPr>
          <p:cNvSpPr txBox="1"/>
          <p:nvPr/>
        </p:nvSpPr>
        <p:spPr>
          <a:xfrm>
            <a:off x="260272" y="3949128"/>
            <a:ext cx="14302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Дисперсия</a:t>
            </a:r>
            <a:r>
              <a:rPr lang="en-US" sz="2000" dirty="0"/>
              <a:t>:</a:t>
            </a:r>
            <a:endParaRPr lang="ru-RU" sz="2000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D15D088A-F58A-441D-8404-3DC8FB884A1F}"/>
              </a:ext>
            </a:extLst>
          </p:cNvPr>
          <p:cNvCxnSpPr>
            <a:cxnSpLocks/>
          </p:cNvCxnSpPr>
          <p:nvPr/>
        </p:nvCxnSpPr>
        <p:spPr>
          <a:xfrm>
            <a:off x="6117481" y="313529"/>
            <a:ext cx="0" cy="5841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D68D056-C6C7-442D-9BF0-C0BED1730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7875" y="517749"/>
            <a:ext cx="830178" cy="688774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3C42204-ADA2-480E-885D-8C0185634CAA}"/>
              </a:ext>
            </a:extLst>
          </p:cNvPr>
          <p:cNvSpPr/>
          <p:nvPr/>
        </p:nvSpPr>
        <p:spPr>
          <a:xfrm>
            <a:off x="6294288" y="1252116"/>
            <a:ext cx="58977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частота значения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сколько раз наблюдалось это значение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– объем выборки (общее число испытаний)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6FACB0C-9805-4B03-9D0B-4DD02DDF238B}"/>
              </a:ext>
            </a:extLst>
          </p:cNvPr>
          <p:cNvSpPr/>
          <p:nvPr/>
        </p:nvSpPr>
        <p:spPr>
          <a:xfrm>
            <a:off x="6290460" y="128863"/>
            <a:ext cx="27989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Относительные частоты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бъект 2">
            <a:extLst>
              <a:ext uri="{FF2B5EF4-FFF2-40B4-BE49-F238E27FC236}">
                <a16:creationId xmlns:a16="http://schemas.microsoft.com/office/drawing/2014/main" id="{91B52837-819F-47D7-B278-8ACEDE86FA9D}"/>
              </a:ext>
            </a:extLst>
          </p:cNvPr>
          <p:cNvSpPr txBox="1">
            <a:spLocks/>
          </p:cNvSpPr>
          <p:nvPr/>
        </p:nvSpPr>
        <p:spPr>
          <a:xfrm>
            <a:off x="6290460" y="2499510"/>
            <a:ext cx="3488714" cy="3981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(Эмпирическое)</a:t>
            </a:r>
            <a:r>
              <a:rPr lang="en-US" dirty="0"/>
              <a:t> </a:t>
            </a:r>
            <a:r>
              <a:rPr lang="ru-RU" dirty="0"/>
              <a:t>среднее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5182FB7-1696-460B-BD27-0A2EEA3D5D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6937" y="2726419"/>
            <a:ext cx="1411583" cy="7351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E15D371-1DB7-490F-8D21-03609E41CB63}"/>
              </a:ext>
            </a:extLst>
          </p:cNvPr>
          <p:cNvSpPr txBox="1"/>
          <p:nvPr/>
        </p:nvSpPr>
        <p:spPr>
          <a:xfrm>
            <a:off x="6290460" y="3321499"/>
            <a:ext cx="30406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Эмпирическая дисперсия</a:t>
            </a:r>
            <a:r>
              <a:rPr lang="en-US" sz="2000" dirty="0"/>
              <a:t>:</a:t>
            </a:r>
            <a:endParaRPr lang="ru-RU" sz="2000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9A4FE8F5-077D-4898-A432-423E155E07BC}"/>
              </a:ext>
            </a:extLst>
          </p:cNvPr>
          <p:cNvCxnSpPr>
            <a:cxnSpLocks/>
          </p:cNvCxnSpPr>
          <p:nvPr/>
        </p:nvCxnSpPr>
        <p:spPr>
          <a:xfrm flipV="1">
            <a:off x="1296140" y="1653178"/>
            <a:ext cx="4799860" cy="15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4019C89-AB5F-4730-B6E3-7C0384C763EE}"/>
              </a:ext>
            </a:extLst>
          </p:cNvPr>
          <p:cNvSpPr txBox="1"/>
          <p:nvPr/>
        </p:nvSpPr>
        <p:spPr>
          <a:xfrm>
            <a:off x="6290460" y="4249622"/>
            <a:ext cx="2819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Абсолютные погрешности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2A7230E-8121-47FA-BCF3-189E35DA841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5436" y="4515602"/>
            <a:ext cx="1566167" cy="501351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8C024CDC-7123-452E-AC20-E392433BA1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8428" y="4976059"/>
            <a:ext cx="1650466" cy="50135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B9BBBC1-CFFF-4C29-8BD9-E56B4E26574D}"/>
              </a:ext>
            </a:extLst>
          </p:cNvPr>
          <p:cNvSpPr txBox="1"/>
          <p:nvPr/>
        </p:nvSpPr>
        <p:spPr>
          <a:xfrm>
            <a:off x="6307914" y="5383173"/>
            <a:ext cx="3113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Относительные погрешности</a:t>
            </a:r>
            <a:r>
              <a:rPr lang="en-US" dirty="0"/>
              <a:t>:</a:t>
            </a:r>
            <a:endParaRPr lang="ru-RU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1439EBC-A8F4-4090-9C4C-DDE3358DA9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6686" y="5614356"/>
            <a:ext cx="1011450" cy="73319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262F241A-89FE-48B3-AF3C-D27044A199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3706" y="5608344"/>
            <a:ext cx="1051201" cy="7331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D328600-FB8A-4965-B605-CA8700AC87A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964" y="3619791"/>
            <a:ext cx="2268453" cy="73510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6B42A39-ED29-4298-923D-01C0EA66533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278" y="4204357"/>
            <a:ext cx="4996290" cy="7417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731CC9-C091-0046-7482-3B0F5BA20CE7}"/>
              </a:ext>
            </a:extLst>
          </p:cNvPr>
          <p:cNvSpPr txBox="1"/>
          <p:nvPr/>
        </p:nvSpPr>
        <p:spPr>
          <a:xfrm>
            <a:off x="8392140" y="656876"/>
            <a:ext cx="361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эмпирический ряд распределения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167261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9968B6-221C-487F-A4B3-D85A0166580C}"/>
              </a:ext>
            </a:extLst>
          </p:cNvPr>
          <p:cNvSpPr txBox="1">
            <a:spLocks/>
          </p:cNvSpPr>
          <p:nvPr/>
        </p:nvSpPr>
        <p:spPr>
          <a:xfrm>
            <a:off x="278298" y="128863"/>
            <a:ext cx="6611389" cy="14493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Статистическая обработка результатов для ДСВ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46046-AFAC-42F2-AFAC-3CCCDC6DA6EC}"/>
              </a:ext>
            </a:extLst>
          </p:cNvPr>
          <p:cNvSpPr txBox="1"/>
          <p:nvPr/>
        </p:nvSpPr>
        <p:spPr>
          <a:xfrm>
            <a:off x="1107731" y="1879247"/>
            <a:ext cx="29446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Критерий хи-квадрат</a:t>
            </a:r>
            <a:endParaRPr lang="en-US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7D09CC0-628B-486E-9DEF-FF77E4FDC3DC}"/>
              </a:ext>
            </a:extLst>
          </p:cNvPr>
          <p:cNvSpPr/>
          <p:nvPr/>
        </p:nvSpPr>
        <p:spPr>
          <a:xfrm>
            <a:off x="278299" y="3924844"/>
            <a:ext cx="6348838" cy="1570265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849CC9-BBE9-46DD-A00C-6235D96F8A63}"/>
              </a:ext>
            </a:extLst>
          </p:cNvPr>
          <p:cNvSpPr txBox="1"/>
          <p:nvPr/>
        </p:nvSpPr>
        <p:spPr>
          <a:xfrm>
            <a:off x="278298" y="3924844"/>
            <a:ext cx="63488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Гипотеза о соответствии эмпирического распределения теоретическому распределению вероятностей неверна тогда и только тогда, когда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1A841F5-5BCD-4BC0-B81E-3CA5B1966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523" y="4874523"/>
            <a:ext cx="1718966" cy="5434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92BF6F-55A4-4AEB-B65F-4B017C6FB0A1}"/>
              </a:ext>
            </a:extLst>
          </p:cNvPr>
          <p:cNvSpPr txBox="1"/>
          <p:nvPr/>
        </p:nvSpPr>
        <p:spPr>
          <a:xfrm>
            <a:off x="4081980" y="5611440"/>
            <a:ext cx="2552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r>
              <a:rPr lang="en-US" dirty="0"/>
              <a:t> </a:t>
            </a:r>
            <a:r>
              <a:rPr lang="ru-RU" dirty="0"/>
              <a:t>– уровень значимости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92EF7D2-60FB-4F8E-BEDD-327C38542831}"/>
              </a:ext>
            </a:extLst>
          </p:cNvPr>
          <p:cNvGrpSpPr/>
          <p:nvPr/>
        </p:nvGrpSpPr>
        <p:grpSpPr>
          <a:xfrm>
            <a:off x="6761795" y="1236617"/>
            <a:ext cx="5408709" cy="4864560"/>
            <a:chOff x="6761795" y="1236617"/>
            <a:chExt cx="5408709" cy="4864560"/>
          </a:xfrm>
        </p:grpSpPr>
        <p:pic>
          <p:nvPicPr>
            <p:cNvPr id="10" name="Рисунок 9" descr="Изображение выглядит как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D6376201-3951-4987-8796-9F7499B5E7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5778"/>
            <a:stretch/>
          </p:blipFill>
          <p:spPr>
            <a:xfrm>
              <a:off x="6761795" y="1236617"/>
              <a:ext cx="5408709" cy="4864560"/>
            </a:xfrm>
            <a:prstGeom prst="rect">
              <a:avLst/>
            </a:prstGeom>
          </p:spPr>
        </p:pic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342FCED-73A2-4A2D-8436-72C3C99662AB}"/>
                </a:ext>
              </a:extLst>
            </p:cNvPr>
            <p:cNvSpPr/>
            <p:nvPr/>
          </p:nvSpPr>
          <p:spPr>
            <a:xfrm>
              <a:off x="6761795" y="2340912"/>
              <a:ext cx="354056" cy="2786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ru-RU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8670AC9-D970-4528-9CAC-EEFF701E5526}"/>
                </a:ext>
              </a:extLst>
            </p:cNvPr>
            <p:cNvSpPr/>
            <p:nvPr/>
          </p:nvSpPr>
          <p:spPr>
            <a:xfrm>
              <a:off x="9646527" y="2340912"/>
              <a:ext cx="354056" cy="27867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ru-RU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94DDA64-E1BD-4D51-84ED-8A32429C2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741" y="2721114"/>
            <a:ext cx="1732239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043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6.1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0017"/>
            <a:ext cx="9165306" cy="4801380"/>
          </a:xfrm>
        </p:spPr>
        <p:txBody>
          <a:bodyPr>
            <a:norm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0">
              <a:buNone/>
            </a:pPr>
            <a:r>
              <a:rPr lang="ru-RU" dirty="0">
                <a:solidFill>
                  <a:schemeClr val="accent2"/>
                </a:solidFill>
              </a:rPr>
              <a:t>Имитационное моделирование дискретных случайных величин</a:t>
            </a:r>
            <a:endParaRPr lang="en-US" dirty="0">
              <a:solidFill>
                <a:schemeClr val="accent2"/>
              </a:solidFill>
            </a:endParaRPr>
          </a:p>
          <a:p>
            <a:pPr indent="9144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Реализовать алгоритм проведения серии экспериментов по генерации дискретной случайной величины, заданной рядом распределения</a:t>
            </a:r>
            <a:endParaRPr lang="en-US" dirty="0"/>
          </a:p>
          <a:p>
            <a:pPr indent="9144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ru-RU" dirty="0"/>
              <a:t>Вычислить эмпирические вероятности, выборочные среднее и дисперсию, их относительные погрешности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 Вычислить статистику хи-квадрат и применить критерий хи-квадрат при разных объемах выборки </a:t>
            </a:r>
            <a:r>
              <a:rPr lang="ru-RU" i="1" dirty="0"/>
              <a:t>N</a:t>
            </a:r>
            <a:r>
              <a:rPr lang="ru-RU" dirty="0"/>
              <a:t>  (</a:t>
            </a:r>
            <a:r>
              <a:rPr lang="ru-RU" i="1" dirty="0"/>
              <a:t>N</a:t>
            </a:r>
            <a:r>
              <a:rPr lang="ru-RU" dirty="0"/>
              <a:t> = 10, 100, 1 000, 10 000)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dirty="0"/>
              <a:t> Сделать вывод</a:t>
            </a:r>
            <a:br>
              <a:rPr lang="ru-RU" dirty="0"/>
            </a:br>
            <a:br>
              <a:rPr lang="ru-RU" i="1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58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6.1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70017"/>
            <a:ext cx="4867277" cy="1134227"/>
          </a:xfrm>
        </p:spPr>
        <p:txBody>
          <a:bodyPr>
            <a:normAutofit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Прототип 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UI</a:t>
            </a:r>
            <a:br>
              <a:rPr lang="ru-RU" i="1" dirty="0"/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7AFE487-C440-4266-B543-6ED38CD5D2B5}"/>
              </a:ext>
            </a:extLst>
          </p:cNvPr>
          <p:cNvSpPr/>
          <p:nvPr/>
        </p:nvSpPr>
        <p:spPr>
          <a:xfrm>
            <a:off x="1517771" y="3118797"/>
            <a:ext cx="3326674" cy="3091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DA834-3F7C-4DAD-985C-744505339DC8}"/>
              </a:ext>
            </a:extLst>
          </p:cNvPr>
          <p:cNvSpPr txBox="1"/>
          <p:nvPr/>
        </p:nvSpPr>
        <p:spPr>
          <a:xfrm>
            <a:off x="1578731" y="3201920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 1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8A60E4-BCAB-44C4-A39D-95378AAE9857}"/>
              </a:ext>
            </a:extLst>
          </p:cNvPr>
          <p:cNvSpPr txBox="1"/>
          <p:nvPr/>
        </p:nvSpPr>
        <p:spPr>
          <a:xfrm>
            <a:off x="1578731" y="3603909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 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2F20C-89A0-48BC-813D-9339CCAC477F}"/>
              </a:ext>
            </a:extLst>
          </p:cNvPr>
          <p:cNvSpPr txBox="1"/>
          <p:nvPr/>
        </p:nvSpPr>
        <p:spPr>
          <a:xfrm>
            <a:off x="1578731" y="4020263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 3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CDF15-71D8-4795-9BCE-E3680F18CC5E}"/>
              </a:ext>
            </a:extLst>
          </p:cNvPr>
          <p:cNvSpPr txBox="1"/>
          <p:nvPr/>
        </p:nvSpPr>
        <p:spPr>
          <a:xfrm>
            <a:off x="1579545" y="4436617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 4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7E777-4F84-4C93-9F17-F976536E56F6}"/>
              </a:ext>
            </a:extLst>
          </p:cNvPr>
          <p:cNvSpPr txBox="1"/>
          <p:nvPr/>
        </p:nvSpPr>
        <p:spPr>
          <a:xfrm>
            <a:off x="1578731" y="4838606"/>
            <a:ext cx="793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 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5F9E13-87CC-42DD-8890-92EBCA45F4DC}"/>
              </a:ext>
            </a:extLst>
          </p:cNvPr>
          <p:cNvSpPr txBox="1"/>
          <p:nvPr/>
        </p:nvSpPr>
        <p:spPr>
          <a:xfrm>
            <a:off x="1578731" y="5306888"/>
            <a:ext cx="2423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experiments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49A5B0A-0B02-4ED4-A8B6-7FECC781E5E8}"/>
              </a:ext>
            </a:extLst>
          </p:cNvPr>
          <p:cNvSpPr/>
          <p:nvPr/>
        </p:nvSpPr>
        <p:spPr>
          <a:xfrm>
            <a:off x="2554091" y="3273374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3279F5-2480-4F41-94F9-DBC0B32F1C64}"/>
              </a:ext>
            </a:extLst>
          </p:cNvPr>
          <p:cNvSpPr/>
          <p:nvPr/>
        </p:nvSpPr>
        <p:spPr>
          <a:xfrm>
            <a:off x="2554091" y="3674244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42F57F8-753C-4F3E-AF55-CAB993A4B0F1}"/>
              </a:ext>
            </a:extLst>
          </p:cNvPr>
          <p:cNvSpPr/>
          <p:nvPr/>
        </p:nvSpPr>
        <p:spPr>
          <a:xfrm>
            <a:off x="2554091" y="4077352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FBB374-5BAA-4F1A-BF39-E01F0D14329A}"/>
              </a:ext>
            </a:extLst>
          </p:cNvPr>
          <p:cNvSpPr/>
          <p:nvPr/>
        </p:nvSpPr>
        <p:spPr>
          <a:xfrm>
            <a:off x="2554091" y="4518327"/>
            <a:ext cx="609600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574AE12-8A42-44E7-A40E-6894D5AD6FB1}"/>
              </a:ext>
            </a:extLst>
          </p:cNvPr>
          <p:cNvSpPr/>
          <p:nvPr/>
        </p:nvSpPr>
        <p:spPr>
          <a:xfrm>
            <a:off x="2554091" y="4916724"/>
            <a:ext cx="609600" cy="2264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auto</a:t>
            </a:r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3D95FD2-09DF-4D7E-BD83-8060D8A4B926}"/>
              </a:ext>
            </a:extLst>
          </p:cNvPr>
          <p:cNvSpPr/>
          <p:nvPr/>
        </p:nvSpPr>
        <p:spPr>
          <a:xfrm>
            <a:off x="3941561" y="5378342"/>
            <a:ext cx="687479" cy="2264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Стрелка: вправо 16">
            <a:extLst>
              <a:ext uri="{FF2B5EF4-FFF2-40B4-BE49-F238E27FC236}">
                <a16:creationId xmlns:a16="http://schemas.microsoft.com/office/drawing/2014/main" id="{CD9634B4-5CFD-49A7-8B66-424D3DDF1C70}"/>
              </a:ext>
            </a:extLst>
          </p:cNvPr>
          <p:cNvSpPr/>
          <p:nvPr/>
        </p:nvSpPr>
        <p:spPr>
          <a:xfrm>
            <a:off x="5030013" y="4271859"/>
            <a:ext cx="1045029" cy="4696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8F44E44-291E-47A9-93D6-F3155BA1E7C6}"/>
              </a:ext>
            </a:extLst>
          </p:cNvPr>
          <p:cNvSpPr/>
          <p:nvPr/>
        </p:nvSpPr>
        <p:spPr>
          <a:xfrm>
            <a:off x="6227443" y="2455817"/>
            <a:ext cx="4867277" cy="37882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1115D38-3194-46E4-A9C0-04F3AF340AE3}"/>
              </a:ext>
            </a:extLst>
          </p:cNvPr>
          <p:cNvSpPr/>
          <p:nvPr/>
        </p:nvSpPr>
        <p:spPr>
          <a:xfrm>
            <a:off x="6582052" y="2550235"/>
            <a:ext cx="4162697" cy="25102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1E7A53E-7BA6-4DE2-918E-06ED4F8C2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052" y="2562212"/>
            <a:ext cx="4162697" cy="2506291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31BC1F4-37E5-4C09-9F61-9C99AC140847}"/>
              </a:ext>
            </a:extLst>
          </p:cNvPr>
          <p:cNvSpPr/>
          <p:nvPr/>
        </p:nvSpPr>
        <p:spPr>
          <a:xfrm>
            <a:off x="2667302" y="5785956"/>
            <a:ext cx="1027611" cy="3249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4215B3-B159-41E7-B431-45F4820F4162}"/>
              </a:ext>
            </a:extLst>
          </p:cNvPr>
          <p:cNvSpPr txBox="1"/>
          <p:nvPr/>
        </p:nvSpPr>
        <p:spPr>
          <a:xfrm>
            <a:off x="6336468" y="5160972"/>
            <a:ext cx="2805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Average: 2.897 (error = 8%)</a:t>
            </a:r>
          </a:p>
          <a:p>
            <a:r>
              <a:rPr lang="en-US" dirty="0"/>
              <a:t>Variance: 2.072 (error = 9%)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37DA7D-8E43-4150-9419-AC6A9B163062}"/>
              </a:ext>
            </a:extLst>
          </p:cNvPr>
          <p:cNvSpPr txBox="1"/>
          <p:nvPr/>
        </p:nvSpPr>
        <p:spPr>
          <a:xfrm>
            <a:off x="6336468" y="5841008"/>
            <a:ext cx="2752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Chi-squared: 13.51 &gt; 9.488 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552523-ABB2-4CAE-B532-B0F1E1E89EEB}"/>
              </a:ext>
            </a:extLst>
          </p:cNvPr>
          <p:cNvSpPr txBox="1"/>
          <p:nvPr/>
        </p:nvSpPr>
        <p:spPr>
          <a:xfrm>
            <a:off x="8995954" y="5841008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true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74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D002782-F708-BCD7-52E2-E1DF5B494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Моделирование дискретных случайных величин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F518F5-0A81-6AB9-866D-7B6BAD3064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Специальные методы</a:t>
            </a:r>
          </a:p>
        </p:txBody>
      </p:sp>
    </p:spTree>
    <p:extLst>
      <p:ext uri="{BB962C8B-B14F-4D97-AF65-F5344CB8AC3E}">
        <p14:creationId xmlns:p14="http://schemas.microsoft.com/office/powerpoint/2010/main" val="397886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Равномерное дискретное распределение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6A364F-D6A5-4CC4-AAE7-817F82E81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7656" y="4473264"/>
            <a:ext cx="4445104" cy="494149"/>
          </a:xfrm>
        </p:spPr>
        <p:txBody>
          <a:bodyPr>
            <a:normAutofit/>
          </a:bodyPr>
          <a:lstStyle/>
          <a:p>
            <a:r>
              <a:rPr lang="en-US" dirty="0"/>
              <a:t>Int </a:t>
            </a:r>
            <a:r>
              <a:rPr lang="ru-RU" dirty="0"/>
              <a:t>– целая часть (без округления)</a:t>
            </a:r>
            <a:endParaRPr lang="ru-RU" i="1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D6AD26-2273-4977-BC61-5219E31233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80" r="35896" b="19989"/>
          <a:stretch/>
        </p:blipFill>
        <p:spPr>
          <a:xfrm>
            <a:off x="1188533" y="2420714"/>
            <a:ext cx="3209544" cy="9301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60A7A26-4EC2-4C1A-B732-673D57B2A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656" y="3892357"/>
            <a:ext cx="1945566" cy="344637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08A3A47F-E747-465C-9812-BF4AC27F3EAD}"/>
              </a:ext>
            </a:extLst>
          </p:cNvPr>
          <p:cNvSpPr txBox="1">
            <a:spLocks/>
          </p:cNvSpPr>
          <p:nvPr/>
        </p:nvSpPr>
        <p:spPr>
          <a:xfrm>
            <a:off x="1097279" y="1813596"/>
            <a:ext cx="3456059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от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0 </a:t>
            </a: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до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spc="200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6362856" y="1813595"/>
            <a:ext cx="2245942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от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spc="200" dirty="0">
                <a:solidFill>
                  <a:schemeClr val="tx2"/>
                </a:solidFill>
                <a:latin typeface="+mj-lt"/>
              </a:rPr>
              <a:t>a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до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US" sz="2400" spc="200" dirty="0">
                <a:solidFill>
                  <a:schemeClr val="tx2"/>
                </a:solidFill>
                <a:latin typeface="+mj-lt"/>
              </a:rPr>
              <a:t>b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17" name="Рисунок 16" descr="Discrete uniform probability mass function for n=5">
            <a:extLst>
              <a:ext uri="{FF2B5EF4-FFF2-40B4-BE49-F238E27FC236}">
                <a16:creationId xmlns:a16="http://schemas.microsoft.com/office/drawing/2014/main" id="{69B23241-D899-4195-ADF0-933D281D961C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8798" y="1900900"/>
            <a:ext cx="2865707" cy="212514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Объект 2">
            <a:extLst>
              <a:ext uri="{FF2B5EF4-FFF2-40B4-BE49-F238E27FC236}">
                <a16:creationId xmlns:a16="http://schemas.microsoft.com/office/drawing/2014/main" id="{2CE6E378-C5E8-493E-A326-A917703DF165}"/>
              </a:ext>
            </a:extLst>
          </p:cNvPr>
          <p:cNvSpPr txBox="1">
            <a:spLocks/>
          </p:cNvSpPr>
          <p:nvPr/>
        </p:nvSpPr>
        <p:spPr>
          <a:xfrm>
            <a:off x="6710575" y="4264463"/>
            <a:ext cx="4763929" cy="1343235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i="1" dirty="0"/>
              <a:t>n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dirty="0"/>
              <a:t> - </a:t>
            </a:r>
            <a:r>
              <a:rPr lang="en-US" i="1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i="1" dirty="0"/>
              <a:t>x</a:t>
            </a:r>
            <a:r>
              <a:rPr lang="en-US" dirty="0"/>
              <a:t> + </a:t>
            </a:r>
            <a:r>
              <a:rPr lang="en-US" i="1" dirty="0"/>
              <a:t>a</a:t>
            </a:r>
            <a:endParaRPr lang="ru-RU" i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1F2E5EE-9C7A-4B77-9E63-E136902A7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973" y="4763761"/>
            <a:ext cx="1945566" cy="344637"/>
          </a:xfrm>
          <a:prstGeom prst="rect">
            <a:avLst/>
          </a:prstGeom>
        </p:spPr>
      </p:pic>
      <p:sp>
        <p:nvSpPr>
          <p:cNvPr id="25" name="Объект 2">
            <a:extLst>
              <a:ext uri="{FF2B5EF4-FFF2-40B4-BE49-F238E27FC236}">
                <a16:creationId xmlns:a16="http://schemas.microsoft.com/office/drawing/2014/main" id="{8EC935F8-60E3-48E6-8A77-A9372068C80C}"/>
              </a:ext>
            </a:extLst>
          </p:cNvPr>
          <p:cNvSpPr txBox="1">
            <a:spLocks/>
          </p:cNvSpPr>
          <p:nvPr/>
        </p:nvSpPr>
        <p:spPr>
          <a:xfrm>
            <a:off x="1810138" y="5821607"/>
            <a:ext cx="5926449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Например</a:t>
            </a:r>
            <a:r>
              <a:rPr lang="en-US" dirty="0"/>
              <a:t>, </a:t>
            </a:r>
            <a:r>
              <a:rPr lang="ru-RU" dirty="0"/>
              <a:t>для</a:t>
            </a:r>
            <a:r>
              <a:rPr lang="en-US" dirty="0"/>
              <a:t> x </a:t>
            </a:r>
            <a:r>
              <a:rPr lang="ru-RU" dirty="0"/>
              <a:t>из</a:t>
            </a:r>
            <a:r>
              <a:rPr lang="en-US" dirty="0"/>
              <a:t> {1, 2, .., n} </a:t>
            </a:r>
            <a:r>
              <a:rPr lang="ru-RU" dirty="0"/>
              <a:t>используется формула</a:t>
            </a:r>
            <a:r>
              <a:rPr lang="en-US" dirty="0"/>
              <a:t>:</a:t>
            </a:r>
            <a:endParaRPr lang="ru-RU" i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ABCBB1D-348F-4BDE-97B1-C8FF833BF7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3720" y="5846115"/>
            <a:ext cx="1730156" cy="344637"/>
          </a:xfrm>
          <a:prstGeom prst="rect">
            <a:avLst/>
          </a:prstGeom>
        </p:spPr>
      </p:pic>
      <p:sp>
        <p:nvSpPr>
          <p:cNvPr id="13" name="Объект 2">
            <a:extLst>
              <a:ext uri="{FF2B5EF4-FFF2-40B4-BE49-F238E27FC236}">
                <a16:creationId xmlns:a16="http://schemas.microsoft.com/office/drawing/2014/main" id="{149D6D0C-E3D8-4242-882B-1935071F5F73}"/>
              </a:ext>
            </a:extLst>
          </p:cNvPr>
          <p:cNvSpPr txBox="1">
            <a:spLocks/>
          </p:cNvSpPr>
          <p:nvPr/>
        </p:nvSpPr>
        <p:spPr>
          <a:xfrm>
            <a:off x="1163828" y="3323452"/>
            <a:ext cx="2245942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14038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18" grpId="0" uiExpand="1" build="p"/>
      <p:bldP spid="25" grpId="0" uiExpand="1" build="p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Геометрическое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705" y="1900901"/>
                <a:ext cx="5168128" cy="2129924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Это распределение вероятностей</a:t>
                </a:r>
                <a:br>
                  <a:rPr lang="en-US" dirty="0"/>
                </a:b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числа неудач до первого успеха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3,…}</m:t>
                    </m:r>
                  </m:oMath>
                </a14:m>
                <a:endParaRPr lang="en-US" i="1" dirty="0"/>
              </a:p>
              <a:p>
                <a:r>
                  <a:rPr lang="en-US" i="1" dirty="0"/>
                  <a:t>p</a:t>
                </a:r>
                <a:r>
                  <a:rPr lang="en-US" dirty="0"/>
                  <a:t> </a:t>
                </a:r>
                <a:r>
                  <a:rPr lang="ru-RU" dirty="0"/>
                  <a:t>– вероятность успеха в одном испытании</a:t>
                </a:r>
                <a:endParaRPr lang="ru-RU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705" y="1900901"/>
                <a:ext cx="5168128" cy="2129924"/>
              </a:xfrm>
              <a:blipFill>
                <a:blip r:embed="rId2"/>
                <a:stretch>
                  <a:fillRect l="-1297" t="-31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1243484" y="5153955"/>
            <a:ext cx="1667667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151D477-1FD0-491A-B173-B6E31E12A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947" y="3587367"/>
            <a:ext cx="2538822" cy="443458"/>
          </a:xfrm>
          <a:prstGeom prst="rect">
            <a:avLst/>
          </a:prstGeom>
        </p:spPr>
      </p:pic>
      <p:pic>
        <p:nvPicPr>
          <p:cNvPr id="12" name="Рисунок 11" descr="Geometricpdf.jpg">
            <a:extLst>
              <a:ext uri="{FF2B5EF4-FFF2-40B4-BE49-F238E27FC236}">
                <a16:creationId xmlns:a16="http://schemas.microsoft.com/office/drawing/2014/main" id="{631DEDFE-70A9-4E18-8C10-8859D1917EA1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442" y="1900900"/>
            <a:ext cx="4225736" cy="2550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EBA5F1-D8E0-4CDF-8E42-00318AA8C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8280" y="5014169"/>
            <a:ext cx="1973066" cy="77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9995603" cy="1450757"/>
          </a:xfrm>
        </p:spPr>
        <p:txBody>
          <a:bodyPr/>
          <a:lstStyle/>
          <a:p>
            <a:r>
              <a:rPr lang="ru-RU" dirty="0"/>
              <a:t>Отрицательное биномиальное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704" y="1900900"/>
                <a:ext cx="5382733" cy="1784692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Это распределение вероятностей</a:t>
                </a:r>
                <a:br>
                  <a:rPr lang="en-US" dirty="0"/>
                </a:b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числа неудач до </a:t>
                </a:r>
                <a:r>
                  <a:rPr lang="en-US" b="1" i="1" dirty="0">
                    <a:solidFill>
                      <a:schemeClr val="accent1">
                        <a:lumMod val="75000"/>
                      </a:schemeClr>
                    </a:solidFill>
                  </a:rPr>
                  <a:t>r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-</a:t>
                </a: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го успеха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3,…}</m:t>
                    </m:r>
                  </m:oMath>
                </a14:m>
                <a:endParaRPr lang="en-US" i="1" dirty="0"/>
              </a:p>
              <a:p>
                <a:r>
                  <a:rPr lang="en-US" i="1" dirty="0"/>
                  <a:t>p</a:t>
                </a:r>
                <a:r>
                  <a:rPr lang="en-US" dirty="0"/>
                  <a:t> </a:t>
                </a:r>
                <a:r>
                  <a:rPr lang="ru-RU" dirty="0"/>
                  <a:t>– вероятность успеха в одном испытании</a:t>
                </a:r>
                <a:endParaRPr lang="ru-RU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704" y="1900900"/>
                <a:ext cx="5382733" cy="1784692"/>
              </a:xfrm>
              <a:blipFill>
                <a:blip r:embed="rId2"/>
                <a:stretch>
                  <a:fillRect l="-1246" t="-3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1243484" y="5153955"/>
            <a:ext cx="1668392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611163-15CD-4B21-B8AD-857F5ADEF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704" y="3688392"/>
            <a:ext cx="3252533" cy="431374"/>
          </a:xfrm>
          <a:prstGeom prst="rect">
            <a:avLst/>
          </a:prstGeom>
        </p:spPr>
      </p:pic>
      <p:pic>
        <p:nvPicPr>
          <p:cNvPr id="20" name="Рисунок 19" descr="https://upload.wikimedia.org/wikipedia/commons/8/83/Negbinomial.gif">
            <a:extLst>
              <a:ext uri="{FF2B5EF4-FFF2-40B4-BE49-F238E27FC236}">
                <a16:creationId xmlns:a16="http://schemas.microsoft.com/office/drawing/2014/main" id="{7A509074-625C-4FDC-B9AE-0CB4E00D5948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679" y="1737360"/>
            <a:ext cx="2380615" cy="141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5F8E385-4DD2-4D33-86FC-FA68C6FE456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378" y="4823037"/>
            <a:ext cx="2355215" cy="1388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175E06FD-F0CA-4891-A5FA-05E3FB985E74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378" y="3188117"/>
            <a:ext cx="2389505" cy="143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D399222-87EE-48A0-84AB-92360FE85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7821" y="4912587"/>
            <a:ext cx="2303055" cy="81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9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Биномиальное распределение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704" y="1900900"/>
                <a:ext cx="5382733" cy="1784692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Это распределение вероятностей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числа успехов в </a:t>
                </a:r>
                <a:r>
                  <a:rPr lang="en-US" b="1" i="1" dirty="0">
                    <a:solidFill>
                      <a:schemeClr val="accent1">
                        <a:lumMod val="75000"/>
                      </a:schemeClr>
                    </a:solidFill>
                  </a:rPr>
                  <a:t>n</a:t>
                </a:r>
                <a:r>
                  <a:rPr 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испытаниях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2,…,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i="1" dirty="0"/>
              </a:p>
              <a:p>
                <a:r>
                  <a:rPr lang="en-US" i="1" dirty="0"/>
                  <a:t>p</a:t>
                </a:r>
                <a:r>
                  <a:rPr lang="en-US" dirty="0"/>
                  <a:t> </a:t>
                </a:r>
                <a:r>
                  <a:rPr lang="ru-RU" dirty="0"/>
                  <a:t>– вероятность успеха в одном испытании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704" y="1900900"/>
                <a:ext cx="5382733" cy="1784692"/>
              </a:xfrm>
              <a:blipFill>
                <a:blip r:embed="rId2"/>
                <a:stretch>
                  <a:fillRect l="-1246" t="-375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Объект 2">
            <a:extLst>
              <a:ext uri="{FF2B5EF4-FFF2-40B4-BE49-F238E27FC236}">
                <a16:creationId xmlns:a16="http://schemas.microsoft.com/office/drawing/2014/main" id="{570475F6-0886-4E58-AD7A-1E46F7F593F1}"/>
              </a:ext>
            </a:extLst>
          </p:cNvPr>
          <p:cNvSpPr txBox="1">
            <a:spLocks/>
          </p:cNvSpPr>
          <p:nvPr/>
        </p:nvSpPr>
        <p:spPr>
          <a:xfrm>
            <a:off x="1243484" y="5153955"/>
            <a:ext cx="1787336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62E7D7E-224A-4FE1-9A26-EFDB20203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705" y="3857472"/>
            <a:ext cx="3238232" cy="45823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AA15E32-FACF-43C3-A65F-09A4561EAC95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004050" y="1802675"/>
            <a:ext cx="4090670" cy="2727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823B8A-26DE-4FAE-AB70-91F411141D55}"/>
              </a:ext>
            </a:extLst>
          </p:cNvPr>
          <p:cNvSpPr txBox="1"/>
          <p:nvPr/>
        </p:nvSpPr>
        <p:spPr>
          <a:xfrm>
            <a:off x="5709337" y="5153955"/>
            <a:ext cx="495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где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1B2A3E7-D60B-4011-B747-7F9763674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820" y="4951761"/>
            <a:ext cx="1716407" cy="7737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30BBC7-0903-4CB4-A788-59817D60A47A}"/>
              </a:ext>
            </a:extLst>
          </p:cNvPr>
          <p:cNvSpPr txBox="1"/>
          <p:nvPr/>
        </p:nvSpPr>
        <p:spPr>
          <a:xfrm>
            <a:off x="8567898" y="5153955"/>
            <a:ext cx="3486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(ступенчатая функция </a:t>
            </a:r>
            <a:r>
              <a:rPr lang="ru-RU" dirty="0" err="1"/>
              <a:t>Хевисайда</a:t>
            </a:r>
            <a:r>
              <a:rPr lang="ru-RU" dirty="0"/>
              <a:t>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CCE4257-C1C3-465A-AD67-7997789A0E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5038" y="4951762"/>
            <a:ext cx="1843953" cy="77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6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6" grpId="0"/>
      <p:bldP spid="8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C6B8A-4B6B-4ECB-97D3-B0CF6FCA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Распределение Пуассона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20705" y="1900900"/>
                <a:ext cx="5345409" cy="2694311"/>
              </a:xfrm>
            </p:spPr>
            <p:txBody>
              <a:bodyPr>
                <a:normAutofit/>
              </a:bodyPr>
              <a:lstStyle/>
              <a:p>
                <a:r>
                  <a:rPr lang="ru-RU" dirty="0"/>
                  <a:t>Это распределение вероятностей</a:t>
                </a:r>
                <a:r>
                  <a:rPr lang="en-US" dirty="0"/>
                  <a:t> </a:t>
                </a:r>
                <a:br>
                  <a:rPr lang="en-US" dirty="0"/>
                </a:b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числа однородных событий, наступающих на интервале времени фиксированной  длины, если моменты их наступления независимы и происходят с постоянной интенсивностью </a:t>
                </a:r>
                <a:r>
                  <a:rPr lang="el-GR" b="1" dirty="0">
                    <a:solidFill>
                      <a:schemeClr val="accent1">
                        <a:lumMod val="75000"/>
                      </a:schemeClr>
                    </a:solidFill>
                  </a:rPr>
                  <a:t>λ</a:t>
                </a:r>
                <a:r>
                  <a:rPr lang="ru-RU" b="1" dirty="0">
                    <a:solidFill>
                      <a:schemeClr val="accent1">
                        <a:lumMod val="75000"/>
                      </a:schemeClr>
                    </a:solidFill>
                  </a:rPr>
                  <a:t> </a:t>
                </a:r>
                <a:r>
                  <a:rPr lang="ru-RU" dirty="0">
                    <a:solidFill>
                      <a:schemeClr val="accent1">
                        <a:lumMod val="75000"/>
                      </a:schemeClr>
                    </a:solidFill>
                  </a:rPr>
                  <a:t>(событий за интервал)</a:t>
                </a:r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∈{0, 1, 2, 3,…}</m:t>
                    </m:r>
                  </m:oMath>
                </a14:m>
                <a:endParaRPr lang="en-US" i="1" dirty="0"/>
              </a:p>
              <a:p>
                <a:endParaRPr lang="ru-RU" i="1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E96A364F-D6A5-4CC4-AAE7-817F82E81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20705" y="1900900"/>
                <a:ext cx="5345409" cy="2694311"/>
              </a:xfrm>
              <a:blipFill>
                <a:blip r:embed="rId2"/>
                <a:stretch>
                  <a:fillRect l="-1254" t="-248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46714B-7097-443F-9024-90B0124AF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577" y="4429958"/>
            <a:ext cx="2166686" cy="795186"/>
          </a:xfrm>
          <a:prstGeom prst="rect">
            <a:avLst/>
          </a:prstGeom>
        </p:spPr>
      </p:pic>
      <p:pic>
        <p:nvPicPr>
          <p:cNvPr id="9" name="Рисунок 8" descr="Plot of the Poisson PMF">
            <a:extLst>
              <a:ext uri="{FF2B5EF4-FFF2-40B4-BE49-F238E27FC236}">
                <a16:creationId xmlns:a16="http://schemas.microsoft.com/office/drawing/2014/main" id="{7F0341FF-B504-40B8-8D8A-7BEB5E76930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990" y="1900901"/>
            <a:ext cx="3462655" cy="25971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B6D21341-6D50-4334-A1A5-F3C18FCE1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DF1313DF-5D86-4F47-88E7-CAC6ACE247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2834954"/>
              </p:ext>
            </p:extLst>
          </p:nvPr>
        </p:nvGraphicFramePr>
        <p:xfrm>
          <a:off x="4663946" y="5182675"/>
          <a:ext cx="2332756" cy="733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500" imgH="419100" progId="Equation.DSMT4">
                  <p:embed/>
                </p:oleObj>
              </mc:Choice>
              <mc:Fallback>
                <p:oleObj name="Equation" r:id="rId5" imgW="1333500" imgH="4191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3946" y="5182675"/>
                        <a:ext cx="2332756" cy="7331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2812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D2702-03FC-46B7-9332-2B2A8006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4034013" cy="2111477"/>
          </a:xfrm>
        </p:spPr>
        <p:txBody>
          <a:bodyPr>
            <a:normAutofit/>
          </a:bodyPr>
          <a:lstStyle/>
          <a:p>
            <a:r>
              <a:rPr lang="ru-RU" sz="4000" dirty="0"/>
              <a:t>Распределение Пуассона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D440C716-2648-4B74-B8EA-BEEDDF90E890}"/>
              </a:ext>
            </a:extLst>
          </p:cNvPr>
          <p:cNvSpPr txBox="1">
            <a:spLocks/>
          </p:cNvSpPr>
          <p:nvPr/>
        </p:nvSpPr>
        <p:spPr>
          <a:xfrm>
            <a:off x="1097280" y="3181925"/>
            <a:ext cx="2245942" cy="49414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Датчик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44F3EF-5739-450A-A21A-C3D106946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565" y="4086430"/>
            <a:ext cx="2891676" cy="746978"/>
          </a:xfrm>
          <a:prstGeom prst="rect">
            <a:avLst/>
          </a:prstGeom>
        </p:spPr>
      </p:pic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A920890C-CF1C-4671-A4EB-1CFA422EA682}"/>
              </a:ext>
            </a:extLst>
          </p:cNvPr>
          <p:cNvGrpSpPr/>
          <p:nvPr/>
        </p:nvGrpSpPr>
        <p:grpSpPr>
          <a:xfrm>
            <a:off x="7410995" y="626287"/>
            <a:ext cx="4155708" cy="4890273"/>
            <a:chOff x="6844938" y="234401"/>
            <a:chExt cx="4155708" cy="4890273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0653DB-6593-4108-BA6C-0B7603D09DBA}"/>
                </a:ext>
              </a:extLst>
            </p:cNvPr>
            <p:cNvSpPr txBox="1"/>
            <p:nvPr/>
          </p:nvSpPr>
          <p:spPr>
            <a:xfrm>
              <a:off x="10071091" y="3244333"/>
              <a:ext cx="4912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yes</a:t>
              </a:r>
              <a:endParaRPr lang="ru-RU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D777BF2-4438-44C6-9C06-83F3D8A592C0}"/>
                </a:ext>
              </a:extLst>
            </p:cNvPr>
            <p:cNvSpPr txBox="1"/>
            <p:nvPr/>
          </p:nvSpPr>
          <p:spPr>
            <a:xfrm>
              <a:off x="7858297" y="3244333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</a:t>
              </a:r>
              <a:endParaRPr lang="ru-RU" dirty="0"/>
            </a:p>
          </p:txBody>
        </p:sp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E390250F-847F-4F85-925F-810634863B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5184"/>
            <a:stretch/>
          </p:blipFill>
          <p:spPr>
            <a:xfrm>
              <a:off x="6844938" y="234401"/>
              <a:ext cx="4155708" cy="4890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124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F987F-9571-4B11-863A-172C9167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Статистическая обработка результатов для ДСВ с неограниченным числом значений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B98DB-A46E-4D17-83DA-6988291CA1C6}"/>
              </a:ext>
            </a:extLst>
          </p:cNvPr>
          <p:cNvSpPr txBox="1"/>
          <p:nvPr/>
        </p:nvSpPr>
        <p:spPr>
          <a:xfrm>
            <a:off x="1158240" y="2394857"/>
            <a:ext cx="386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/>
              <a:t>X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B315A2-5297-47E1-9353-2DA70686F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190" y="2188766"/>
            <a:ext cx="1684385" cy="8122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49D95E-3A3B-4A28-9173-DBCED2B6632C}"/>
              </a:ext>
            </a:extLst>
          </p:cNvPr>
          <p:cNvSpPr txBox="1"/>
          <p:nvPr/>
        </p:nvSpPr>
        <p:spPr>
          <a:xfrm>
            <a:off x="1097280" y="3282394"/>
            <a:ext cx="7374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Например</a:t>
            </a:r>
            <a:r>
              <a:rPr lang="en-US" sz="2000" dirty="0"/>
              <a:t> (</a:t>
            </a:r>
            <a:r>
              <a:rPr lang="ru-RU" sz="2000" dirty="0"/>
              <a:t>геометрическое распределение с параметром</a:t>
            </a:r>
            <a:r>
              <a:rPr lang="en-US" sz="2000" dirty="0"/>
              <a:t> </a:t>
            </a:r>
            <a:r>
              <a:rPr lang="en-US" sz="2000" i="1" dirty="0"/>
              <a:t>p</a:t>
            </a:r>
            <a:r>
              <a:rPr lang="en-US" sz="2000" dirty="0"/>
              <a:t>=0.8):</a:t>
            </a:r>
            <a:endParaRPr lang="ru-RU" sz="20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5BA49B-F025-4ADC-9527-9B52D5CD5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914" y="3682504"/>
            <a:ext cx="8858745" cy="7598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EE842D7-9D8F-47BD-9B39-E93472163E9E}"/>
              </a:ext>
            </a:extLst>
          </p:cNvPr>
          <p:cNvSpPr txBox="1"/>
          <p:nvPr/>
        </p:nvSpPr>
        <p:spPr>
          <a:xfrm>
            <a:off x="1097280" y="4542253"/>
            <a:ext cx="38790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“</a:t>
            </a:r>
            <a:r>
              <a:rPr lang="ru-RU" sz="2000" dirty="0"/>
              <a:t>Эквивалентное</a:t>
            </a:r>
            <a:r>
              <a:rPr lang="en-US" sz="2000" dirty="0"/>
              <a:t>” </a:t>
            </a:r>
            <a:r>
              <a:rPr lang="ru-RU" sz="2000" dirty="0"/>
              <a:t>распределение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C3FE824-BD3D-40E0-A353-DB0DAC26C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6888" y="3310130"/>
            <a:ext cx="1973066" cy="344637"/>
          </a:xfrm>
          <a:prstGeom prst="rect">
            <a:avLst/>
          </a:prstGeom>
        </p:spPr>
      </p:pic>
      <p:graphicFrame>
        <p:nvGraphicFramePr>
          <p:cNvPr id="14" name="Таблица 13">
            <a:extLst>
              <a:ext uri="{FF2B5EF4-FFF2-40B4-BE49-F238E27FC236}">
                <a16:creationId xmlns:a16="http://schemas.microsoft.com/office/drawing/2014/main" id="{3F8CD633-8C41-4AD5-BEF4-0D8FA9914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370187"/>
              </p:ext>
            </p:extLst>
          </p:nvPr>
        </p:nvGraphicFramePr>
        <p:xfrm>
          <a:off x="1637211" y="5059680"/>
          <a:ext cx="3466012" cy="731520"/>
        </p:xfrm>
        <a:graphic>
          <a:graphicData uri="http://schemas.openxmlformats.org/drawingml/2006/table">
            <a:tbl>
              <a:tblPr/>
              <a:tblGrid>
                <a:gridCol w="866503">
                  <a:extLst>
                    <a:ext uri="{9D8B030D-6E8A-4147-A177-3AD203B41FA5}">
                      <a16:colId xmlns:a16="http://schemas.microsoft.com/office/drawing/2014/main" val="751550056"/>
                    </a:ext>
                  </a:extLst>
                </a:gridCol>
                <a:gridCol w="866503">
                  <a:extLst>
                    <a:ext uri="{9D8B030D-6E8A-4147-A177-3AD203B41FA5}">
                      <a16:colId xmlns:a16="http://schemas.microsoft.com/office/drawing/2014/main" val="2360470783"/>
                    </a:ext>
                  </a:extLst>
                </a:gridCol>
                <a:gridCol w="866503">
                  <a:extLst>
                    <a:ext uri="{9D8B030D-6E8A-4147-A177-3AD203B41FA5}">
                      <a16:colId xmlns:a16="http://schemas.microsoft.com/office/drawing/2014/main" val="348678476"/>
                    </a:ext>
                  </a:extLst>
                </a:gridCol>
                <a:gridCol w="866503">
                  <a:extLst>
                    <a:ext uri="{9D8B030D-6E8A-4147-A177-3AD203B41FA5}">
                      <a16:colId xmlns:a16="http://schemas.microsoft.com/office/drawing/2014/main" val="1649377027"/>
                    </a:ext>
                  </a:extLst>
                </a:gridCol>
              </a:tblGrid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&gt;2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656385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  <a:endParaRPr lang="ru-RU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0.032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0.008</a:t>
                      </a:r>
                      <a:endParaRPr lang="ru-R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2256458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F7C2835F-4657-46A4-9203-70A36E54E4F9}"/>
              </a:ext>
            </a:extLst>
          </p:cNvPr>
          <p:cNvSpPr txBox="1"/>
          <p:nvPr/>
        </p:nvSpPr>
        <p:spPr>
          <a:xfrm>
            <a:off x="4075612" y="1765097"/>
            <a:ext cx="44860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только для критерия хи-квадрат</a:t>
            </a:r>
            <a:r>
              <a:rPr lang="en-US" sz="2400" dirty="0">
                <a:solidFill>
                  <a:srgbClr val="C00000"/>
                </a:solidFill>
              </a:rPr>
              <a:t>!</a:t>
            </a:r>
            <a:endParaRPr lang="ru-RU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09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483</Words>
  <Application>Microsoft Office PowerPoint</Application>
  <PresentationFormat>Широкоэкранный</PresentationFormat>
  <Paragraphs>104</Paragraphs>
  <Slides>15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Times New Roman</vt:lpstr>
      <vt:lpstr>Ретро</vt:lpstr>
      <vt:lpstr>Document</vt:lpstr>
      <vt:lpstr>Equation</vt:lpstr>
      <vt:lpstr>Стохастическое моделирование</vt:lpstr>
      <vt:lpstr>Случайные объекты и базовый датчик</vt:lpstr>
      <vt:lpstr>Дискретная случайная величина (ДСВ) с заданным распределением</vt:lpstr>
      <vt:lpstr>Статистическая обработка результатов для ДСВ</vt:lpstr>
      <vt:lpstr>Презентация PowerPoint</vt:lpstr>
      <vt:lpstr>Лабораторная 6.1</vt:lpstr>
      <vt:lpstr>Лабораторная 6.1</vt:lpstr>
      <vt:lpstr>Моделирование дискретных случайных величин</vt:lpstr>
      <vt:lpstr>Равномерное дискретное распределение</vt:lpstr>
      <vt:lpstr>Геометрическое распределение</vt:lpstr>
      <vt:lpstr>Отрицательное биномиальное распределение</vt:lpstr>
      <vt:lpstr>Биномиальное распределение</vt:lpstr>
      <vt:lpstr>Распределение Пуассона</vt:lpstr>
      <vt:lpstr>Распределение Пуассона</vt:lpstr>
      <vt:lpstr>Статистическая обработка результатов для ДСВ с неограниченным числом значений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60</cp:revision>
  <dcterms:created xsi:type="dcterms:W3CDTF">2019-02-22T04:17:08Z</dcterms:created>
  <dcterms:modified xsi:type="dcterms:W3CDTF">2026-02-19T06:56:15Z</dcterms:modified>
</cp:coreProperties>
</file>