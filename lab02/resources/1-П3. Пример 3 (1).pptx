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76" r:id="rId5"/>
    <p:sldId id="272" r:id="rId6"/>
    <p:sldId id="27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ED3D9F-D541-4EB4-AF52-3B5CAC57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  <a:r>
              <a:rPr lang="en-US" dirty="0"/>
              <a:t> 3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ru-RU" dirty="0"/>
              <a:t>Динамика изменения температуры тела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BAF208-6E49-43D0-B959-D51D4387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Детерминированная модель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126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Математическая модель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465C194-440E-40EE-AB80-FB3758C67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103370" cy="859366"/>
          </a:xfrm>
        </p:spPr>
        <p:txBody>
          <a:bodyPr/>
          <a:lstStyle/>
          <a:p>
            <a:r>
              <a:rPr lang="ru-RU" dirty="0"/>
              <a:t>Уравнение теплопроводности</a:t>
            </a:r>
          </a:p>
        </p:txBody>
      </p:sp>
      <p:pic>
        <p:nvPicPr>
          <p:cNvPr id="3" name="Рисунок 2" descr="Изображение выглядит как Шрифт, рукописный текст, типография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E9817B-86E9-E752-8FEA-8393C169D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350" y="2320317"/>
            <a:ext cx="2792997" cy="677439"/>
          </a:xfrm>
          <a:prstGeom prst="rect">
            <a:avLst/>
          </a:prstGeom>
        </p:spPr>
      </p:pic>
      <p:pic>
        <p:nvPicPr>
          <p:cNvPr id="4" name="Рисунок 3" descr="Изображение выглядит как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FFE1F2-BB2C-D7A8-B9C3-3EFDF0702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33" y="2275417"/>
            <a:ext cx="1760220" cy="2231873"/>
          </a:xfrm>
          <a:prstGeom prst="rect">
            <a:avLst/>
          </a:prstGeom>
        </p:spPr>
      </p:pic>
      <p:pic>
        <p:nvPicPr>
          <p:cNvPr id="6" name="Рисунок 5" descr="Изображение выглядит как линия, Шрифт, текс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2DE917-0212-9D1C-D0DD-31FE5E3B6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8" y="5083949"/>
            <a:ext cx="3465718" cy="756047"/>
          </a:xfrm>
          <a:prstGeom prst="rect">
            <a:avLst/>
          </a:prstGeom>
        </p:spPr>
      </p:pic>
      <p:sp>
        <p:nvSpPr>
          <p:cNvPr id="7" name="Правая фигурная скобка 6">
            <a:extLst>
              <a:ext uri="{FF2B5EF4-FFF2-40B4-BE49-F238E27FC236}">
                <a16:creationId xmlns:a16="http://schemas.microsoft.com/office/drawing/2014/main" id="{C768DF99-020A-B230-2CE5-29F285F5F449}"/>
              </a:ext>
            </a:extLst>
          </p:cNvPr>
          <p:cNvSpPr/>
          <p:nvPr/>
        </p:nvSpPr>
        <p:spPr>
          <a:xfrm rot="5400000">
            <a:off x="1270390" y="3358356"/>
            <a:ext cx="137650" cy="483870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авая фигурная скобка 8">
            <a:extLst>
              <a:ext uri="{FF2B5EF4-FFF2-40B4-BE49-F238E27FC236}">
                <a16:creationId xmlns:a16="http://schemas.microsoft.com/office/drawing/2014/main" id="{7154C9E5-E2B1-A967-9A5F-7FEFF3F263A8}"/>
              </a:ext>
            </a:extLst>
          </p:cNvPr>
          <p:cNvSpPr/>
          <p:nvPr/>
        </p:nvSpPr>
        <p:spPr>
          <a:xfrm rot="5400000">
            <a:off x="2549441" y="3597195"/>
            <a:ext cx="151297" cy="3055620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F664A87-F5A3-419E-B08A-88ECE20C47BC}"/>
              </a:ext>
            </a:extLst>
          </p:cNvPr>
          <p:cNvCxnSpPr/>
          <p:nvPr/>
        </p:nvCxnSpPr>
        <p:spPr>
          <a:xfrm>
            <a:off x="1097280" y="3669116"/>
            <a:ext cx="0" cy="1293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402FC58-8F54-F5D4-78A4-BFB1FC4097F6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581150" y="3600291"/>
            <a:ext cx="2571750" cy="1449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 descr="Изображение выглядит как Шрифт, рукописный текст, типограф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C5FFBB-ADEB-D537-5590-A2A72D3AA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350" y="3032348"/>
            <a:ext cx="2079419" cy="9412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980FC3F-3F22-734D-D607-2DED684CB9C5}"/>
              </a:ext>
            </a:extLst>
          </p:cNvPr>
          <p:cNvSpPr txBox="1"/>
          <p:nvPr/>
        </p:nvSpPr>
        <p:spPr>
          <a:xfrm>
            <a:off x="6841655" y="1950985"/>
            <a:ext cx="426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Метод конечных разностей (метод сеток)</a:t>
            </a:r>
          </a:p>
        </p:txBody>
      </p:sp>
      <p:pic>
        <p:nvPicPr>
          <p:cNvPr id="22" name="Рисунок 21" descr="Изображение выглядит как Шрифт, диаграмма, рукописный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B3CAC4-E9DE-22B2-5C2B-AF05E2929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233" y="2275417"/>
            <a:ext cx="2736900" cy="125604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1A159E6-9340-2D3C-CB44-85E4F0A229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5958" y="3669116"/>
            <a:ext cx="5917888" cy="646704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линия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FF7074-B8A9-2437-286C-CDBBD5BFA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9958" y="4764465"/>
            <a:ext cx="5584816" cy="116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8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84E9-D3B9-C350-C2FC-62328B41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5937E-59E3-F413-F0B3-01FEF7DA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Математическая модель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675FF4-F789-4C9A-0F1A-BA2BDCAFA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91" y="3615213"/>
            <a:ext cx="2316655" cy="485458"/>
          </a:xfrm>
          <a:prstGeom prst="rect">
            <a:avLst/>
          </a:prstGeom>
        </p:spPr>
      </p:pic>
      <p:pic>
        <p:nvPicPr>
          <p:cNvPr id="4" name="Рисунок 3" descr="Изображение выглядит как Шрифт, линия, диаграмм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9D4016-FF7D-F3B6-56C5-8574A31B84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73"/>
          <a:stretch>
            <a:fillRect/>
          </a:stretch>
        </p:blipFill>
        <p:spPr>
          <a:xfrm>
            <a:off x="905191" y="4387532"/>
            <a:ext cx="4571684" cy="83216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4A5E9E-0E68-EC4F-59A8-8908EF355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997" y="4603591"/>
            <a:ext cx="2676525" cy="400050"/>
          </a:xfrm>
          <a:prstGeom prst="rect">
            <a:avLst/>
          </a:prstGeom>
        </p:spPr>
      </p:pic>
      <p:pic>
        <p:nvPicPr>
          <p:cNvPr id="7" name="Рисунок 6" descr="Изображение выглядит как линия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41D1F6-06B6-45BB-5900-1E3D2E3B4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191" y="1795546"/>
            <a:ext cx="6179069" cy="1290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F36B0B-F06A-7F7C-1AEA-E072C931A272}"/>
              </a:ext>
            </a:extLst>
          </p:cNvPr>
          <p:cNvSpPr txBox="1"/>
          <p:nvPr/>
        </p:nvSpPr>
        <p:spPr>
          <a:xfrm>
            <a:off x="9755122" y="4603591"/>
            <a:ext cx="1865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прямая прогонка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82CB5B0F-D667-92D5-8AE7-D7618500F911}"/>
              </a:ext>
            </a:extLst>
          </p:cNvPr>
          <p:cNvCxnSpPr/>
          <p:nvPr/>
        </p:nvCxnSpPr>
        <p:spPr>
          <a:xfrm flipH="1">
            <a:off x="8839200" y="4803616"/>
            <a:ext cx="704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687EBA-CC26-5D4F-E360-0AFF4BD5DF49}"/>
              </a:ext>
            </a:extLst>
          </p:cNvPr>
          <p:cNvSpPr txBox="1"/>
          <p:nvPr/>
        </p:nvSpPr>
        <p:spPr>
          <a:xfrm>
            <a:off x="5745997" y="3660179"/>
            <a:ext cx="2048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обратная прогонка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6EEBFE65-98E0-6521-C686-4D7A6FB0D4A1}"/>
              </a:ext>
            </a:extLst>
          </p:cNvPr>
          <p:cNvCxnSpPr/>
          <p:nvPr/>
        </p:nvCxnSpPr>
        <p:spPr>
          <a:xfrm flipH="1">
            <a:off x="4830075" y="3860204"/>
            <a:ext cx="704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756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5207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Прототип приложения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B1E9E3F-8844-0DA1-F4C9-82D184AA7823}"/>
              </a:ext>
            </a:extLst>
          </p:cNvPr>
          <p:cNvGrpSpPr/>
          <p:nvPr/>
        </p:nvGrpSpPr>
        <p:grpSpPr>
          <a:xfrm>
            <a:off x="2782728" y="2000250"/>
            <a:ext cx="6619876" cy="3829050"/>
            <a:chOff x="2782728" y="2000250"/>
            <a:chExt cx="6619876" cy="3829050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D2472830-E946-9286-6FE2-F7248636CE27}"/>
                </a:ext>
              </a:extLst>
            </p:cNvPr>
            <p:cNvSpPr/>
            <p:nvPr/>
          </p:nvSpPr>
          <p:spPr>
            <a:xfrm>
              <a:off x="2782728" y="2000250"/>
              <a:ext cx="6619875" cy="38290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3E0631FF-280E-68EA-7AEC-FE29A9A7524C}"/>
                </a:ext>
              </a:extLst>
            </p:cNvPr>
            <p:cNvSpPr/>
            <p:nvPr/>
          </p:nvSpPr>
          <p:spPr>
            <a:xfrm>
              <a:off x="2789396" y="2000250"/>
              <a:ext cx="6613208" cy="11811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147DBD0-BFC0-0B8B-58AA-8136E755CA15}"/>
                </a:ext>
              </a:extLst>
            </p:cNvPr>
            <p:cNvSpPr txBox="1"/>
            <p:nvPr/>
          </p:nvSpPr>
          <p:spPr>
            <a:xfrm>
              <a:off x="2935128" y="2129135"/>
              <a:ext cx="197002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Исходные данные</a:t>
              </a:r>
            </a:p>
            <a:p>
              <a:r>
                <a:rPr lang="ru-RU" dirty="0"/>
                <a:t>…..</a:t>
              </a:r>
            </a:p>
            <a:p>
              <a:r>
                <a:rPr lang="ru-RU" dirty="0"/>
                <a:t>……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44AE35-3701-7AC1-EE6F-9516A8D565E3}"/>
                </a:ext>
              </a:extLst>
            </p:cNvPr>
            <p:cNvSpPr txBox="1"/>
            <p:nvPr/>
          </p:nvSpPr>
          <p:spPr>
            <a:xfrm>
              <a:off x="6472246" y="2267634"/>
              <a:ext cx="28255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Температура в центре: Х 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⁰</a:t>
              </a:r>
              <a:r>
                <a:rPr lang="ru-RU" dirty="0"/>
                <a:t>С</a:t>
              </a:r>
            </a:p>
            <a:p>
              <a:r>
                <a:rPr lang="ru-RU" dirty="0"/>
                <a:t>Время симуляции: Х,ХХХ с</a:t>
              </a:r>
            </a:p>
          </p:txBody>
        </p: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DDE64D45-F1E2-7BE1-6027-B8029164E627}"/>
                </a:ext>
              </a:extLst>
            </p:cNvPr>
            <p:cNvCxnSpPr/>
            <p:nvPr/>
          </p:nvCxnSpPr>
          <p:spPr>
            <a:xfrm flipV="1">
              <a:off x="3335178" y="3352800"/>
              <a:ext cx="0" cy="21145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22C5A100-CCC9-C398-3147-53ECD4F27785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3225640" y="4666907"/>
              <a:ext cx="58595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709AB6CC-533D-75C3-51DD-96494276514F}"/>
                </a:ext>
              </a:extLst>
            </p:cNvPr>
            <p:cNvCxnSpPr>
              <a:cxnSpLocks/>
            </p:cNvCxnSpPr>
            <p:nvPr/>
          </p:nvCxnSpPr>
          <p:spPr>
            <a:xfrm>
              <a:off x="8783478" y="3419475"/>
              <a:ext cx="0" cy="19526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6A3E17-5EA3-EC34-B57A-F2E8A1BFDF49}"/>
                </a:ext>
              </a:extLst>
            </p:cNvPr>
            <p:cNvSpPr txBox="1"/>
            <p:nvPr/>
          </p:nvSpPr>
          <p:spPr>
            <a:xfrm>
              <a:off x="8534365" y="4602375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chemeClr val="accent2"/>
                  </a:solidFill>
                </a:rPr>
                <a:t>L</a:t>
              </a:r>
              <a:endParaRPr lang="ru-RU" i="1" dirty="0">
                <a:solidFill>
                  <a:schemeClr val="accent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B9196F-07DB-23FE-6AFE-5C7D617F112E}"/>
                </a:ext>
              </a:extLst>
            </p:cNvPr>
            <p:cNvSpPr txBox="1"/>
            <p:nvPr/>
          </p:nvSpPr>
          <p:spPr>
            <a:xfrm>
              <a:off x="9085213" y="4482241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x</a:t>
              </a:r>
              <a:endParaRPr lang="ru-RU" i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4EFC2C5-C1E3-FFFC-28A8-7D496E008D55}"/>
                </a:ext>
              </a:extLst>
            </p:cNvPr>
            <p:cNvSpPr txBox="1"/>
            <p:nvPr/>
          </p:nvSpPr>
          <p:spPr>
            <a:xfrm>
              <a:off x="3014490" y="3168134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T</a:t>
              </a:r>
              <a:endParaRPr lang="ru-RU" i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8ACAC8-C7DA-5FB1-8F51-F33F97FA7C5E}"/>
                </a:ext>
              </a:extLst>
            </p:cNvPr>
            <p:cNvSpPr txBox="1"/>
            <p:nvPr/>
          </p:nvSpPr>
          <p:spPr>
            <a:xfrm>
              <a:off x="3046221" y="461044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20EB440F-8943-3117-3139-7C0699612BB8}"/>
                </a:ext>
              </a:extLst>
            </p:cNvPr>
            <p:cNvSpPr/>
            <p:nvPr/>
          </p:nvSpPr>
          <p:spPr>
            <a:xfrm>
              <a:off x="3344703" y="3676650"/>
              <a:ext cx="5438775" cy="1438961"/>
            </a:xfrm>
            <a:custGeom>
              <a:avLst/>
              <a:gdLst>
                <a:gd name="csX0" fmla="*/ 0 w 5438775"/>
                <a:gd name="csY0" fmla="*/ 1095375 h 1095375"/>
                <a:gd name="csX1" fmla="*/ 1438275 w 5438775"/>
                <a:gd name="csY1" fmla="*/ 857250 h 1095375"/>
                <a:gd name="csX2" fmla="*/ 3543300 w 5438775"/>
                <a:gd name="csY2" fmla="*/ 1038225 h 1095375"/>
                <a:gd name="csX3" fmla="*/ 5438775 w 5438775"/>
                <a:gd name="csY3" fmla="*/ 0 h 1095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38775" h="1095375">
                  <a:moveTo>
                    <a:pt x="0" y="1095375"/>
                  </a:moveTo>
                  <a:cubicBezTo>
                    <a:pt x="423862" y="981075"/>
                    <a:pt x="847725" y="866775"/>
                    <a:pt x="1438275" y="857250"/>
                  </a:cubicBezTo>
                  <a:cubicBezTo>
                    <a:pt x="2028825" y="847725"/>
                    <a:pt x="2876550" y="1181100"/>
                    <a:pt x="3543300" y="1038225"/>
                  </a:cubicBezTo>
                  <a:cubicBezTo>
                    <a:pt x="4210050" y="895350"/>
                    <a:pt x="5122863" y="163512"/>
                    <a:pt x="5438775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75FB453-3235-11C4-AC65-B0F00E1B4498}"/>
              </a:ext>
            </a:extLst>
          </p:cNvPr>
          <p:cNvSpPr/>
          <p:nvPr/>
        </p:nvSpPr>
        <p:spPr>
          <a:xfrm>
            <a:off x="5117200" y="2409481"/>
            <a:ext cx="1143000" cy="36263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Запуск</a:t>
            </a:r>
          </a:p>
        </p:txBody>
      </p:sp>
    </p:spTree>
    <p:extLst>
      <p:ext uri="{BB962C8B-B14F-4D97-AF65-F5344CB8AC3E}">
        <p14:creationId xmlns:p14="http://schemas.microsoft.com/office/powerpoint/2010/main" val="355994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</a:t>
            </a:r>
            <a:r>
              <a:rPr lang="ru-RU" dirty="0"/>
              <a:t>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45734"/>
            <a:ext cx="11106150" cy="4459816"/>
          </a:xfrm>
        </p:spPr>
        <p:txBody>
          <a:bodyPr>
            <a:normAutofit lnSpcReduction="10000"/>
          </a:bodyPr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Реализовать моделирование изменения температуры в пластине на основе одномерного уравнения теплопроводности с применением метода конечных разностей. 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Выводить распределение значений температур по толщине, например, используя предложенный графический интерфейс. 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Выполнить моделирование с разным шагом по времени и по пространству, заполнить таблицу(ы) значением температуры тела в центральной точке после 2 c модельного времени и реальным временем моделирования:</a:t>
            </a:r>
          </a:p>
          <a:p>
            <a:pPr indent="91440">
              <a:buFont typeface="Arial" panose="020B0604020202020204" pitchFamily="34" charset="0"/>
              <a:buChar char="•"/>
            </a:pPr>
            <a:endParaRPr lang="ru-RU" dirty="0"/>
          </a:p>
          <a:p>
            <a:pPr indent="91440">
              <a:buFont typeface="Arial" panose="020B0604020202020204" pitchFamily="34" charset="0"/>
              <a:buChar char="•"/>
            </a:pPr>
            <a:endParaRPr lang="ru-RU" dirty="0"/>
          </a:p>
          <a:p>
            <a:pPr indent="91440">
              <a:buFont typeface="Arial" panose="020B0604020202020204" pitchFamily="34" charset="0"/>
              <a:buChar char="•"/>
            </a:pPr>
            <a:endParaRPr lang="ru-RU" dirty="0"/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Сделать выводы.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0BED711-8102-2711-6EA4-896A089CA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47710"/>
              </p:ext>
            </p:extLst>
          </p:nvPr>
        </p:nvGraphicFramePr>
        <p:xfrm>
          <a:off x="4152265" y="4428171"/>
          <a:ext cx="4763134" cy="14721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6601">
                  <a:extLst>
                    <a:ext uri="{9D8B030D-6E8A-4147-A177-3AD203B41FA5}">
                      <a16:colId xmlns:a16="http://schemas.microsoft.com/office/drawing/2014/main" val="1932881656"/>
                    </a:ext>
                  </a:extLst>
                </a:gridCol>
                <a:gridCol w="658357">
                  <a:extLst>
                    <a:ext uri="{9D8B030D-6E8A-4147-A177-3AD203B41FA5}">
                      <a16:colId xmlns:a16="http://schemas.microsoft.com/office/drawing/2014/main" val="1053779459"/>
                    </a:ext>
                  </a:extLst>
                </a:gridCol>
                <a:gridCol w="659021">
                  <a:extLst>
                    <a:ext uri="{9D8B030D-6E8A-4147-A177-3AD203B41FA5}">
                      <a16:colId xmlns:a16="http://schemas.microsoft.com/office/drawing/2014/main" val="3240233293"/>
                    </a:ext>
                  </a:extLst>
                </a:gridCol>
                <a:gridCol w="564780">
                  <a:extLst>
                    <a:ext uri="{9D8B030D-6E8A-4147-A177-3AD203B41FA5}">
                      <a16:colId xmlns:a16="http://schemas.microsoft.com/office/drawing/2014/main" val="118962283"/>
                    </a:ext>
                  </a:extLst>
                </a:gridCol>
                <a:gridCol w="654375">
                  <a:extLst>
                    <a:ext uri="{9D8B030D-6E8A-4147-A177-3AD203B41FA5}">
                      <a16:colId xmlns:a16="http://schemas.microsoft.com/office/drawing/2014/main" val="39475050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Шаг по времени, с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0,01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0,001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0,0001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8341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Шаг по пространству, м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521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0531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0,01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5669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0,001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802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0,0001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9834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55318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814</TotalTime>
  <Words>133</Words>
  <Application>Microsoft Office PowerPoint</Application>
  <PresentationFormat>Широкоэкранный</PresentationFormat>
  <Paragraphs>56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Ретро</vt:lpstr>
      <vt:lpstr>Имитационное моделирование</vt:lpstr>
      <vt:lpstr>Пример 3   Динамика изменения температуры тела</vt:lpstr>
      <vt:lpstr>Математическая модель</vt:lpstr>
      <vt:lpstr>Математическая модель</vt:lpstr>
      <vt:lpstr>Прототип приложения</vt:lpstr>
      <vt:lpstr>Лабораторная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Пользователь</cp:lastModifiedBy>
  <cp:revision>53</cp:revision>
  <dcterms:created xsi:type="dcterms:W3CDTF">2019-01-25T03:35:28Z</dcterms:created>
  <dcterms:modified xsi:type="dcterms:W3CDTF">2026-02-24T15:53:14Z</dcterms:modified>
</cp:coreProperties>
</file>